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801600" cy="7315200"/>
  <p:notesSz cx="6858000" cy="9144000"/>
  <p:defaultTextStyle>
    <a:defPPr>
      <a:defRPr lang="en-US"/>
    </a:defPPr>
    <a:lvl1pPr marL="0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>
      <a:defRPr sz="23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BC89EF96-8CEA-46FF-86C4-4CE0E7609802}">
  <a:tblStyle styleId="{BC89EF96-8CEA-46FF-86C4-4CE0E7609802}" styleName="Light Style 3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  <a:fill>
          <a:solidFill>
            <a:schemeClr val="accent1">
              <a:tint val="2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accent1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38100">
              <a:solidFill>
                <a:schemeClr val="accent1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0" d="100"/>
          <a:sy n="70" d="100"/>
        </p:scale>
        <p:origin x="931" y="53"/>
      </p:cViewPr>
      <p:guideLst>
        <p:guide pos="2304" orient="horz"/>
        <p:guide pos="4032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51469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498735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4CD7A36-15CF-4B40-B7C9-B299C824610E}" type="datetimeFigureOut">
              <a:rPr lang="en-US"/>
              <a:t>3/30/2026</a:t>
            </a:fld>
            <a:endParaRPr lang="en-US"/>
          </a:p>
        </p:txBody>
      </p:sp>
      <p:sp>
        <p:nvSpPr>
          <p:cNvPr id="151914573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865561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6127812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761077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3DE4103-D868-498D-BB7B-ABDA25F9744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>
      <a:defRPr sz="15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069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370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614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E819DD-E5D4-2244-6BF1-A7AFB35225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06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1227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271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F55A42-DD25-3E75-8FA9-D3E1E78716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187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0511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534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A4BB52-0283-1E6D-7A93-8A0996B50C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16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8359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619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6B2F2B-F34D-1313-8443-056E57EB21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736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3077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19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B52408-516B-E337-0452-D2586978ED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544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7368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949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1544FD-C016-AD10-86AB-FDE1698741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335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727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794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35CED8-A5A8-53FA-47C1-6188BAB552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51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5523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885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B5B687-57B9-A98F-40AE-07D8933B18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000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919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4911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7D7857-3EE0-1A71-0646-B4BECD6063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158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8664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17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DEBB81-19D9-5D00-7B03-B892036FD5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545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6341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84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42811-4FD8-7BE7-DADF-BAD66B3B1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9113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9742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441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7081D-081A-943B-DCE7-9F8BBE9425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33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4839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831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2C93D7-D891-113E-7E51-15DDFD7BE4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986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747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166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04D227-F2E2-077E-327E-E0B784FBFE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931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9939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0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FAAED3-1899-DC2C-170F-6F4A383AD5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129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3706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90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A57C8C-9EC7-BFEB-CECC-C73193D8BD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043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032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41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0F89F3-3566-CC82-6270-44C8638C8F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685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156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47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7BE539-7463-2FBD-841E-A5D4591CE0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306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6565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158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2C02B9-BDD4-FAB3-6214-94E0258891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774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295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711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13D9F3-6826-F609-BBA0-8E16D3B8ED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070826" name="Title 1"/>
          <p:cNvSpPr>
            <a:spLocks noGrp="1"/>
          </p:cNvSpPr>
          <p:nvPr>
            <p:ph type="ctrTitle"/>
          </p:nvPr>
        </p:nvSpPr>
        <p:spPr bwMode="auto">
          <a:xfrm>
            <a:off x="960120" y="2272456"/>
            <a:ext cx="10881360" cy="156802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59539412" name="Subtitle 2"/>
          <p:cNvSpPr>
            <a:spLocks noGrp="1"/>
          </p:cNvSpPr>
          <p:nvPr>
            <p:ph type="subTitle" idx="1"/>
          </p:nvPr>
        </p:nvSpPr>
        <p:spPr bwMode="auto"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3100672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2E1E87-9C15-4984-91E0-215221CAF7F6}" type="datetime1">
              <a:rPr lang="en-US"/>
              <a:t>3/30/2026</a:t>
            </a:fld>
            <a:endParaRPr lang="en-US"/>
          </a:p>
        </p:txBody>
      </p:sp>
      <p:sp>
        <p:nvSpPr>
          <p:cNvPr id="4981295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1017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3269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915039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56496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1116BE9-D6CB-4D14-A12D-7F5512E1435B}" type="datetime1">
              <a:rPr lang="en-US"/>
              <a:t>3/30/2026</a:t>
            </a:fld>
            <a:endParaRPr lang="en-US"/>
          </a:p>
        </p:txBody>
      </p:sp>
      <p:sp>
        <p:nvSpPr>
          <p:cNvPr id="2466016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71911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522481" name="Title 1"/>
          <p:cNvSpPr>
            <a:spLocks noGrp="1"/>
          </p:cNvSpPr>
          <p:nvPr>
            <p:ph type="title"/>
          </p:nvPr>
        </p:nvSpPr>
        <p:spPr bwMode="auto"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81112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02510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12A9D04-24B9-408C-A000-3B78FDBD0AEB}" type="datetime1">
              <a:rPr lang="en-US"/>
              <a:t>3/30/2026</a:t>
            </a:fld>
            <a:endParaRPr lang="en-US"/>
          </a:p>
        </p:txBody>
      </p:sp>
      <p:sp>
        <p:nvSpPr>
          <p:cNvPr id="10854385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3668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0348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083605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736531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120692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2B91B48-F2B5-44C0-A324-732125246729}" type="datetime1">
              <a:rPr lang="en-US"/>
              <a:t>3/30/2026</a:t>
            </a:fld>
            <a:endParaRPr lang="en-US"/>
          </a:p>
        </p:txBody>
      </p:sp>
      <p:sp>
        <p:nvSpPr>
          <p:cNvPr id="14461937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10541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9737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4275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193961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724354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914067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304854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8337E91-F602-4F18-92CA-FB1A231376B0}" type="datetime1">
              <a:rPr lang="en-US"/>
              <a:t>3/30/2026</a:t>
            </a:fld>
            <a:endParaRPr lang="en-US"/>
          </a:p>
        </p:txBody>
      </p:sp>
      <p:sp>
        <p:nvSpPr>
          <p:cNvPr id="19058729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168771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734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68279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0818EFE-411D-495F-AE32-482368671348}" type="datetime1">
              <a:rPr lang="en-US"/>
              <a:t>3/30/2026</a:t>
            </a:fld>
            <a:endParaRPr lang="en-US"/>
          </a:p>
        </p:txBody>
      </p:sp>
      <p:sp>
        <p:nvSpPr>
          <p:cNvPr id="68554770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801131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0895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6129DD-E279-4A67-BA32-75987FE76FB7}" type="datetime1">
              <a:rPr lang="en-US"/>
              <a:t>3/30/2026</a:t>
            </a:fld>
            <a:endParaRPr lang="en-US"/>
          </a:p>
        </p:txBody>
      </p:sp>
      <p:sp>
        <p:nvSpPr>
          <p:cNvPr id="154259015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264681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60328" name="Title 1"/>
          <p:cNvSpPr>
            <a:spLocks noGrp="1"/>
          </p:cNvSpPr>
          <p:nvPr>
            <p:ph type="title"/>
          </p:nvPr>
        </p:nvSpPr>
        <p:spPr bwMode="auto"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46328410" name="Content Placeholder 2"/>
          <p:cNvSpPr>
            <a:spLocks noGrp="1"/>
          </p:cNvSpPr>
          <p:nvPr>
            <p:ph idx="1"/>
          </p:nvPr>
        </p:nvSpPr>
        <p:spPr bwMode="auto"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9411786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58987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97BA02B-9B73-458F-B848-E99C8FA83242}" type="datetime1">
              <a:rPr lang="en-US"/>
              <a:t>3/30/2026</a:t>
            </a:fld>
            <a:endParaRPr lang="en-US"/>
          </a:p>
        </p:txBody>
      </p:sp>
      <p:sp>
        <p:nvSpPr>
          <p:cNvPr id="19451188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53995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38869" name="Title 1"/>
          <p:cNvSpPr>
            <a:spLocks noGrp="1"/>
          </p:cNvSpPr>
          <p:nvPr>
            <p:ph type="title"/>
          </p:nvPr>
        </p:nvSpPr>
        <p:spPr bwMode="auto"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9366680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333878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32868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3752997-1B9E-4EF2-B260-9EB38D81F553}" type="datetime1">
              <a:rPr lang="en-US"/>
              <a:t>3/30/2026</a:t>
            </a:fld>
            <a:endParaRPr lang="en-US"/>
          </a:p>
        </p:txBody>
      </p:sp>
      <p:sp>
        <p:nvSpPr>
          <p:cNvPr id="14366236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66995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2597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3128908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540941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41370E5-7D69-44CE-AE73-71BFC3B68EE4}" type="datetime1">
              <a:rPr lang="en-US"/>
              <a:t>3/30/2026</a:t>
            </a:fld>
            <a:endParaRPr lang="en-US"/>
          </a:p>
        </p:txBody>
      </p:sp>
      <p:sp>
        <p:nvSpPr>
          <p:cNvPr id="1696199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276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43419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281160" y="292948"/>
            <a:ext cx="2880360" cy="6241627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229570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40080" y="292948"/>
            <a:ext cx="8427720" cy="624162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872322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FF8B80-F83C-48AA-AA3F-63D37C1606D6}" type="datetime1">
              <a:rPr lang="en-US"/>
              <a:t>3/30/2026</a:t>
            </a:fld>
            <a:endParaRPr lang="en-US"/>
          </a:p>
        </p:txBody>
      </p:sp>
      <p:sp>
        <p:nvSpPr>
          <p:cNvPr id="8975677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11632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03298" name="Title Placeholder 1"/>
          <p:cNvSpPr>
            <a:spLocks noGrp="1"/>
          </p:cNvSpPr>
          <p:nvPr>
            <p:ph type="title"/>
          </p:nvPr>
        </p:nvSpPr>
        <p:spPr bwMode="auto"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37832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039062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5C8E2D-1657-4F9E-9BA7-8881C66FCBC2}" type="datetime1">
              <a:rPr lang="en-US"/>
              <a:t>3/30/2026</a:t>
            </a:fld>
            <a:endParaRPr lang="en-US"/>
          </a:p>
        </p:txBody>
      </p:sp>
      <p:sp>
        <p:nvSpPr>
          <p:cNvPr id="9111843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13922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02A2637-A5A3-49FA-B214-6E67543099E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ctr" defTabSz="1149448" rtl="0">
        <a:spcBef>
          <a:spcPts val="0"/>
        </a:spcBef>
        <a:buNone/>
        <a:defRPr sz="55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>
        <a:spcBef>
          <a:spcPts val="0"/>
        </a:spcBef>
        <a:buFont typeface="Arial"/>
        <a:buChar char="•"/>
        <a:defRPr sz="39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>
        <a:spcBef>
          <a:spcPts val="0"/>
        </a:spcBef>
        <a:buFont typeface="Arial"/>
        <a:buChar char="–"/>
        <a:defRPr sz="35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>
        <a:spcBef>
          <a:spcPts val="0"/>
        </a:spcBef>
        <a:buFont typeface="Arial"/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>
        <a:spcBef>
          <a:spcPts val="0"/>
        </a:spcBef>
        <a:buFont typeface="Arial"/>
        <a:buChar char="–"/>
        <a:defRPr sz="25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>
        <a:spcBef>
          <a:spcPts val="0"/>
        </a:spcBef>
        <a:buFont typeface="Arial"/>
        <a:buChar char="»"/>
        <a:defRPr sz="25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>
        <a:spcBef>
          <a:spcPts val="0"/>
        </a:spcBef>
        <a:buFont typeface="Arial"/>
        <a:buChar char="•"/>
        <a:defRPr sz="25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>
        <a:spcBef>
          <a:spcPts val="0"/>
        </a:spcBef>
        <a:buFont typeface="Arial"/>
        <a:buChar char="•"/>
        <a:defRPr sz="25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>
        <a:spcBef>
          <a:spcPts val="0"/>
        </a:spcBef>
        <a:buFont typeface="Arial"/>
        <a:buChar char="•"/>
        <a:defRPr sz="25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>
        <a:spcBef>
          <a:spcPts val="0"/>
        </a:spcBef>
        <a:buFont typeface="Arial"/>
        <a:buChar char="•"/>
        <a:defRPr sz="2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>
        <a:defRPr sz="23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expo.dev/" TargetMode="External"/><Relationship Id="rId4" Type="http://schemas.openxmlformats.org/officeDocument/2006/relationships/hyperlink" Target="https://developer.android.com/health-and-fitness/guides/health-connect" TargetMode="External"/><Relationship Id="rId5" Type="http://schemas.openxmlformats.org/officeDocument/2006/relationships/hyperlink" Target="https://fastapi.tiangolo.com/" TargetMode="Externa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46422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0" y="0"/>
            <a:ext cx="12801600" cy="145914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35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AN AI-POWERED SYSTEM FOR CORRELATING PHYSICAL ACTIVITY AND SUBJECTIVE MENTAL WELL-BEING</a:t>
            </a:r>
            <a:endParaRPr sz="35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139960716" name="Picture 2" descr="VIT Logo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23538" y="1459148"/>
            <a:ext cx="4154520" cy="1136001"/>
          </a:xfrm>
          <a:prstGeom prst="rect">
            <a:avLst/>
          </a:prstGeom>
          <a:noFill/>
        </p:spPr>
      </p:pic>
      <p:sp>
        <p:nvSpPr>
          <p:cNvPr id="1016778842" name=""/>
          <p:cNvSpPr txBox="1"/>
          <p:nvPr/>
        </p:nvSpPr>
        <p:spPr bwMode="auto">
          <a:xfrm rot="0" flipH="0" flipV="0">
            <a:off x="2854908" y="2654838"/>
            <a:ext cx="7091778" cy="4663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150000"/>
              </a:lnSpc>
              <a:defRPr/>
            </a:pPr>
            <a:r>
              <a:rPr lang="en-IN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PASET697 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Project Work Review-</a:t>
            </a:r>
            <a:r>
              <a:rPr lang="en-IN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 II</a:t>
            </a: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Presented by</a:t>
            </a: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Harsh Pratap Singh (25MCA1027)</a:t>
            </a: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IN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Masters of Computer Applications</a:t>
            </a: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Under the Guidance of</a:t>
            </a: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Dr. Saranya G</a:t>
            </a: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Assistant professor-Senior Grade</a:t>
            </a:r>
            <a:endParaRPr sz="2000">
              <a:solidFill>
                <a:schemeClr val="accent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School of Computer Science and Engineering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000" b="0" i="0" u="none" strike="noStrike" cap="none" spc="0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Vellore Institute of Technology, Chennai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11210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2</a:t>
            </a:fld>
            <a:endParaRPr lang="en-US"/>
          </a:p>
        </p:txBody>
      </p:sp>
      <p:sp>
        <p:nvSpPr>
          <p:cNvPr id="308644926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CONTENTS</a:t>
            </a:r>
            <a:endParaRPr/>
          </a:p>
        </p:txBody>
      </p:sp>
      <p:sp>
        <p:nvSpPr>
          <p:cNvPr id="1202950148" name="Content Placeholder 2"/>
          <p:cNvSpPr txBox="1"/>
          <p:nvPr/>
        </p:nvSpPr>
        <p:spPr bwMode="auto">
          <a:xfrm>
            <a:off x="640080" y="1706880"/>
            <a:ext cx="11521440" cy="4827694"/>
          </a:xfrm>
          <a:prstGeom prst="rect">
            <a:avLst/>
          </a:prstGeom>
        </p:spPr>
        <p:txBody>
          <a:bodyPr vertOverflow="overflow" horzOverflow="overflow" vert="horz" wrap="square" lIns="114944" tIns="57472" rIns="114944" bIns="57472" numCol="1" spcCol="0" rtlCol="0" fromWordArt="0" anchor="t" anchorCtr="0" forceAA="0" upright="0" compatLnSpc="0">
            <a:normAutofit fontScale="70000" lnSpcReduction="6000"/>
          </a:bodyPr>
          <a:lstStyle>
            <a:lvl1pPr marL="431044" indent="-431044" algn="l" defTabSz="1149448" rtl="0">
              <a:spcBef>
                <a:spcPts val="0"/>
              </a:spcBef>
              <a:buFont typeface="Arial"/>
              <a:buChar char="•"/>
              <a:defRPr sz="3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>
              <a:spcBef>
                <a:spcPts val="0"/>
              </a:spcBef>
              <a:buFont typeface="Arial"/>
              <a:buChar char="–"/>
              <a:defRPr sz="3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>
              <a:spcBef>
                <a:spcPts val="0"/>
              </a:spcBef>
              <a:buFont typeface="Arial"/>
              <a:buChar char="•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>
              <a:spcBef>
                <a:spcPts val="0"/>
              </a:spcBef>
              <a:buFont typeface="Arial"/>
              <a:buChar char="–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>
              <a:spcBef>
                <a:spcPts val="0"/>
              </a:spcBef>
              <a:buFont typeface="Arial"/>
              <a:buChar char="»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>
              <a:spcBef>
                <a:spcPts val="0"/>
              </a:spcBef>
              <a:buFont typeface="Arial"/>
              <a:buChar char="•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>
              <a:spcBef>
                <a:spcPts val="0"/>
              </a:spcBef>
              <a:buFont typeface="Arial"/>
              <a:buChar char="•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>
              <a:spcBef>
                <a:spcPts val="0"/>
              </a:spcBef>
              <a:buFont typeface="Arial"/>
              <a:buChar char="•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>
              <a:spcBef>
                <a:spcPts val="0"/>
              </a:spcBef>
              <a:buFont typeface="Arial"/>
              <a:buChar char="•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ABSTRACT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INTRODUCTION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LITERATURE SURVEY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RESEARCH GAPS 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OBJECTIVES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MODULE IDENTIFICATION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SYSTEM ARCHITECTURE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DEVELOPMENT &amp; INTEGRATION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PROTOTYPE / RESEARCH FRAMEWORK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OUTCOME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RESULTS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TIMELINE / GANTT CHART</a:t>
            </a:r>
            <a:endParaRPr/>
          </a:p>
          <a:p>
            <a:pPr marL="305908" indent="-305908">
              <a:lnSpc>
                <a:spcPct val="114999"/>
              </a:lnSpc>
              <a:buFont typeface="Arial"/>
              <a:buAutoNum type="arabicPeriod"/>
              <a:defRPr/>
            </a:pPr>
            <a:r>
              <a:rPr lang="en-US" sz="2800">
                <a:latin typeface="Times New Roman"/>
                <a:cs typeface="Times New Roman"/>
              </a:rPr>
              <a:t>REFERENCES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524978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1.ABSTRACT</a:t>
            </a:r>
            <a:endParaRPr/>
          </a:p>
        </p:txBody>
      </p:sp>
      <p:sp>
        <p:nvSpPr>
          <p:cNvPr id="18485352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57199" y="1706879"/>
            <a:ext cx="12150299" cy="5203811"/>
          </a:xfrm>
        </p:spPr>
        <p:txBody>
          <a:bodyPr vertOverflow="overflow" horzOverflow="overflow" vert="horz" wrap="square" lIns="114943" tIns="57471" rIns="114943" bIns="57471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project presents </a:t>
            </a:r>
            <a:r>
              <a:rPr sz="24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MindfulMomentum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 n-of-1 mobile health application designed to proactively correlate quantitative physiological data with qualitative psychological states. To shift from generic health tracking to highly personalized wellness, the system implements a closed-loop architecture featuring: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Acquisition: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Securely ingests objective physical metrics (step count, active calories, and sleep duration) via the Android Health Connect API, while simultaneously capturing subjective mental well-being through unstructured daily journal entries.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NLP Pipeline: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Utilizes an optimized NLTK VADER engine with sentence-level sentiment scoring to process text efficiently without the compute overhead of an LLM, actively preventing "sentiment dilution."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Machine Learning Engine: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Fuses these disparate data streams within a Python FastAPI backend to train a personalized Random Forest classifier for each unique user.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Defensive Architecture: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Employs Dynamic SMOTE to correct class imbalance and uses defensive programming to gracefully manage sparse datasets.</a:t>
            </a:r>
            <a:endParaRPr sz="240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Ultimately, the system transcends generic advice by delivering data-backed, individualized insights (e.g., identifying sleep as the #1 driver for a positive mood) directly to the user through a modern React Native interface.</a:t>
            </a:r>
            <a:endParaRPr sz="2400"/>
          </a:p>
        </p:txBody>
      </p:sp>
      <p:sp>
        <p:nvSpPr>
          <p:cNvPr id="96072307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825177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en-US" sz="3900" b="1">
                <a:solidFill>
                  <a:schemeClr val="bg1"/>
                </a:solidFill>
                <a:latin typeface="Times New Roman"/>
                <a:cs typeface="Times New Roman"/>
              </a:rPr>
              <a:t>2. INTRODUCTION</a:t>
            </a:r>
            <a:endParaRPr/>
          </a:p>
        </p:txBody>
      </p:sp>
      <p:sp>
        <p:nvSpPr>
          <p:cNvPr id="46281846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Problem (Data Silos):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Currently, personal health data is highly disconnected. Physical metrics are tracked by wearables, while mental well-being is isolated in journaling apps, preventing users from seeing how their lifestyle impacts their mood.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Motivation: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shift the digital health paradigm from reactive monitoring to proactive, personalized wellness.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Primary Objective: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build a unified, closed-loop system that securely bridges physical IoT sensor data with qualitative emotional data.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Methodology: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By applying Artificial Intelligence—specifically Natural Language Processing (NLP) and n-of-1 Machine Learning—the system aims to uncover hidden, individualized correlations between a user's physical activity and their subjective mental well-being.</a:t>
            </a:r>
            <a:endParaRPr sz="2400"/>
          </a:p>
        </p:txBody>
      </p:sp>
      <p:sp>
        <p:nvSpPr>
          <p:cNvPr id="60772742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975847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3.LITERATURE SURVEY</a:t>
            </a:r>
            <a:endParaRPr/>
          </a:p>
        </p:txBody>
      </p:sp>
      <p:sp>
        <p:nvSpPr>
          <p:cNvPr id="13307513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5</a:t>
            </a:fld>
            <a:endParaRPr lang="en-US"/>
          </a:p>
        </p:txBody>
      </p:sp>
      <p:graphicFrame>
        <p:nvGraphicFramePr>
          <p:cNvPr id="1519053332" name="Content Placeholder 5"/>
          <p:cNvGraphicFramePr>
            <a:graphicFrameLocks xmlns:a="http://schemas.openxmlformats.org/drawingml/2006/main"/>
          </p:cNvGraphicFramePr>
          <p:nvPr/>
        </p:nvGraphicFramePr>
        <p:xfrm rot="0">
          <a:off x="0" y="1163766"/>
          <a:ext cx="12203843" cy="609684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{BC89EF96-8CEA-46FF-86C4-4CE0E7609802}</a:tableStyleId>
              </a:tblPr>
              <a:tblGrid>
                <a:gridCol w="720000"/>
                <a:gridCol w="2240979"/>
                <a:gridCol w="2320480"/>
                <a:gridCol w="2661728"/>
                <a:gridCol w="2593478"/>
                <a:gridCol w="2252232"/>
              </a:tblGrid>
              <a:tr h="720022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S.No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Article  Title 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1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Authors &amp; Year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6" marR="67836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Techniques Used</a:t>
                      </a:r>
                      <a:endParaRPr/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Key Findings</a:t>
                      </a:r>
                      <a:endParaRPr/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Limitations</a:t>
                      </a:r>
                      <a:endParaRPr/>
                    </a:p>
                  </a:txBody>
                  <a:tcPr marL="67837" marR="67837" marT="0" marB="0"/>
                </a:tc>
              </a:tr>
              <a:tr h="1647339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MyBehavior: A System for Long-Term Personalized Health Coaching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3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Rabbi, M. et al. (2015)</a:t>
                      </a:r>
                      <a:endParaRPr sz="13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6" marR="67836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N-of-1 statistical modeling (Vector Autoregression - VAR), Correlation analysis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pioneering system in personalized, n-of-1 health coaching.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It's one of the first to build a personalized model for each user instead of a general one.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self-reports are structured (e.g., "Mood: 1-5"), not unstructured journals.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does not use NLP to analyze the context or themes of a user's day, which is a key part of </a:t>
                      </a:r>
                      <a:r>
                        <a:rPr lang="en-IN"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project's novelty.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</a:tr>
              <a:tr h="1306170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VADER: A Parsimonious Rule-based Model for Sentiment Analysis of Social Media Text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3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Hutto, C. J., &amp; Gilbert, E. (2014)</a:t>
                      </a:r>
                      <a:endParaRPr sz="13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6" marR="67836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Rule-based, lexicon-based (VADER)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accuracy on informal text (e.g., journals).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Fast, lightweight, and doesn't require training data.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Lacks deep contextual understanding (e.g., sarcasm) that larger models might capture; provides a score, but not deeper themes.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</a:tr>
              <a:tr h="1306170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n-of-1-path: a path-analysis approach for finding personalized (n-of-1) health effects from time-series data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3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M. C. et al. (2019)</a:t>
                      </a:r>
                      <a:endParaRPr sz="13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6" marR="67836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Path Analysis, Statistical modeling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Proposes a specific, advanced method for finding personalized effects, which is exactly what </a:t>
                      </a:r>
                      <a:r>
                        <a:rPr lang="en-IN"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my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aims to do.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Highly statistical and complex</a:t>
                      </a:r>
                      <a:r>
                        <a:rPr lang="en-IN"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but it proves the need for "n-of-1" models.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>
                    <a:solidFill>
                      <a:srgbClr val="C4E1F2"/>
                    </a:solidFill>
                  </a:tcPr>
                </a:tc>
              </a:tr>
              <a:tr h="116202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indent="0" algn="l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Multimodal Machine Learning in Mental Health: A Survey of Data, Algorithms, and Challenges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3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C. J. et al. (2024)</a:t>
                      </a:r>
                      <a:endParaRPr sz="13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6" marR="67836" marT="0" marB="0"/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Learning in Mental Health: A Survey of Data, Algorithms, and Challenges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Transformers, GNNs, Hybrid Fusion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Catalogs public datasets and fusion strategies. </a:t>
                      </a: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Confirms MML yields higher accuracy than any single channel alone.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3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Highlights fragmented data, privacy, and lack of longitudinal, "in-the-wild" benchmarks as major open challenges. 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67837" marR="67837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811304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LITERATURE SURVEY (CONTD..,)</a:t>
            </a:r>
            <a:endParaRPr/>
          </a:p>
        </p:txBody>
      </p:sp>
      <p:sp>
        <p:nvSpPr>
          <p:cNvPr id="208947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6</a:t>
            </a:fld>
            <a:endParaRPr lang="en-US"/>
          </a:p>
        </p:txBody>
      </p:sp>
      <p:graphicFrame>
        <p:nvGraphicFramePr>
          <p:cNvPr id="1577299695" name="Content Placeholder 5"/>
          <p:cNvGraphicFramePr>
            <a:graphicFrameLocks xmlns:a="http://schemas.openxmlformats.org/drawingml/2006/main"/>
          </p:cNvGraphicFramePr>
          <p:nvPr/>
        </p:nvGraphicFramePr>
        <p:xfrm rot="0">
          <a:off x="0" y="1461996"/>
          <a:ext cx="12490329" cy="562097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{BC89EF96-8CEA-46FF-86C4-4CE0E7609802}</a:tableStyleId>
              </a:tblPr>
              <a:tblGrid>
                <a:gridCol w="720000"/>
                <a:gridCol w="2240979"/>
                <a:gridCol w="2320480"/>
                <a:gridCol w="2661728"/>
                <a:gridCol w="2593478"/>
                <a:gridCol w="2252232"/>
              </a:tblGrid>
              <a:tr h="729814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S.No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Article  Title 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1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Authors &amp; Year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Techniques Used</a:t>
                      </a:r>
                      <a:endParaRPr/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Key Findings</a:t>
                      </a:r>
                      <a:endParaRPr/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Limitations</a:t>
                      </a:r>
                      <a:endParaRPr/>
                    </a:p>
                  </a:txBody>
                  <a:tcPr marL="67838" marR="67838" marT="0" marB="0"/>
                </a:tc>
              </a:tr>
              <a:tr h="1293407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Multi-Modal Approach to Depression Detection using Speech, Activity, and Text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 B. et al. (2024)</a:t>
                      </a:r>
                      <a:endParaRPr sz="14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7" marR="67837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 Forest, SVM, Deep Learning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Fusion of all three modes achieved significantly higher accuracy (over 85%) than any single data mode alone.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Focus is on clinical diagnosis (depression) for a doctor, not on proactive wellness insights for a general user.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</a:tr>
              <a:tr h="1267435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+mn-ea"/>
                          <a:cs typeface="Times New Roman"/>
                        </a:rPr>
                        <a:t>6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StudentLife: Assessing Mental Health, Academic Performance and Behavioral Trends of College Students using Smartphones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Wang, R. et al. (2014)</a:t>
                      </a:r>
                      <a:endParaRPr sz="14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7" marR="67837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Correlation analysis, Decision Trees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Successfully correlated sensor data with GPA and depression scores.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landmark paper in passive sensing.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insights were for the researchers, not the students.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system did not provide a personalized feedback loop.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</a:tr>
              <a:tr h="1518325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+mn-ea"/>
                          <a:cs typeface="Times New Roman"/>
                        </a:rPr>
                        <a:t>7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indent="0" algn="l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Understanding User Perceptions of Personalized Feedback in Digital Health Tools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C. A. G. et al. (2025)</a:t>
                      </a:r>
                      <a:endParaRPr sz="14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7" marR="67837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Thematic Analysis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Finds that users value adaptive, empathetic, and contextually relevant feedback.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Trust is a key factor.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paper explains how the feedback should be, but doesn't build the AI system that generates it.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justifies your "Insight Generation Layer."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</a:tr>
              <a:tr h="1016545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+mn-ea"/>
                          <a:cs typeface="Times New Roman"/>
                        </a:rPr>
                        <a:t>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indent="0" algn="l" defTabSz="914400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EMO Diary: Daily Diary with Sentiment Analysis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B, R. S. et al. (2025)</a:t>
                      </a:r>
                      <a:endParaRPr sz="14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7" marR="67837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NLP, ML Classification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 practical implementation of a "smart journal" for personal well-being. 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 system analyzes the journal in isolation. </a:t>
                      </a:r>
                      <a:r>
                        <a:rPr sz="14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It is not fused with any physiological or activity sensor data.</a:t>
                      </a:r>
                      <a:endParaRPr sz="1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528639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LITERATURE SURVEY (CONTD..,)</a:t>
            </a:r>
            <a:endParaRPr lang="en-GB" sz="37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09786317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7</a:t>
            </a:fld>
            <a:endParaRPr lang="en-US"/>
          </a:p>
        </p:txBody>
      </p:sp>
      <p:graphicFrame>
        <p:nvGraphicFramePr>
          <p:cNvPr id="246054235" name="Content Placeholder 5"/>
          <p:cNvGraphicFramePr>
            <a:graphicFrameLocks xmlns:a="http://schemas.openxmlformats.org/drawingml/2006/main"/>
          </p:cNvGraphicFramePr>
          <p:nvPr/>
        </p:nvGraphicFramePr>
        <p:xfrm rot="0">
          <a:off x="0" y="1512145"/>
          <a:ext cx="14081891" cy="346988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{BC89EF96-8CEA-46FF-86C4-4CE0E7609802}</a:tableStyleId>
              </a:tblPr>
              <a:tblGrid>
                <a:gridCol w="720000"/>
                <a:gridCol w="2240979"/>
                <a:gridCol w="2320480"/>
                <a:gridCol w="2661728"/>
                <a:gridCol w="2593478"/>
                <a:gridCol w="2252232"/>
              </a:tblGrid>
              <a:tr h="432460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S.No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cs typeface="Times New Roman"/>
                        </a:rPr>
                        <a:t>Article  Title 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2000" b="1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Authors &amp; Year</a:t>
                      </a: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7" marR="67837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Techniques Used</a:t>
                      </a:r>
                      <a:endParaRPr/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Key Findings</a:t>
                      </a:r>
                      <a:endParaRPr/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Limitations</a:t>
                      </a:r>
                      <a:endParaRPr/>
                    </a:p>
                  </a:txBody>
                  <a:tcPr marL="67838" marR="67838" marT="0" marB="0"/>
                </a:tc>
              </a:tr>
              <a:tr h="1931001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+mn-ea"/>
                          <a:cs typeface="Times New Roman"/>
                        </a:rPr>
                        <a:t>9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Journaling for mental health: A review of the benefits and the role of technology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ts val="1399"/>
                        </a:lnSpc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Krafft, P. M., &amp; El-Nasr, M. S. (2018)</a:t>
                      </a: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endParaRPr/>
                    </a:p>
                  </a:txBody>
                  <a:tcPr marL="67837" marR="67837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just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 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Confirms journaling is clinically effective.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Suggests AI can help by prompting users or identifying themes.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 "smart journals" only offer prompts or basic sentiment.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They do not correlate the journal with the user's physical life (activity/sleep).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>
                    <a:solidFill>
                      <a:srgbClr val="C4E1F2"/>
                    </a:solidFill>
                  </a:tcPr>
                </a:tc>
              </a:tr>
              <a:tr h="1587788">
                <a:tc>
                  <a:txBody>
                    <a:bodyPr/>
                    <a:p>
                      <a:pPr marL="0" marR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60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Wearable sensors for monitoring mental health: A systematic review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rgbClr val="1B1C1D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He, L. et al. (2020)</a:t>
                      </a:r>
                      <a:endParaRPr sz="1600" b="0" i="0" u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7837" marR="67837" marT="0" marB="0" anchor="ctr"/>
                </a:tc>
                <a:tc>
                  <a:txBody>
                    <a:bodyPr/>
                    <a:p>
                      <a:pPr marL="0" marR="0" algn="just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N/A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Comprehensive overview of which sensors map to which conditions (e.g., HRV to stress). 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  <a:tc>
                  <a:txBody>
                    <a:bodyPr/>
                    <a:p>
                      <a:pPr marL="0" marR="0" algn="l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Highlights that most studies are observational; very few systems use this data for a real-time, actionable feedback loop for the user.</a:t>
                      </a:r>
                      <a:endParaRPr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7838" marR="67838" marT="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360000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4. RESEARCH GAPS</a:t>
            </a:r>
            <a:endParaRPr lang="en-GB" sz="37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23220699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8</a:t>
            </a:fld>
            <a:endParaRPr lang="en-US"/>
          </a:p>
        </p:txBody>
      </p:sp>
      <p:sp>
        <p:nvSpPr>
          <p:cNvPr id="1946363057" name=""/>
          <p:cNvSpPr/>
          <p:nvPr/>
        </p:nvSpPr>
        <p:spPr bwMode="auto">
          <a:xfrm flipH="0" flipV="0">
            <a:off x="928270" y="2026594"/>
            <a:ext cx="10946135" cy="2615544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49965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Personalization Gap (n-of-1):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Most systems analyze population-level data; few provide individual-specific correlation models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49965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Integration Gap: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Commercial systems silo wearable activity data and mental health journaling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49965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Actionability Gap: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Research often ends at statistical findings without providing a "closed-loop" actionable feedback UI for the end-user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506812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pPr>
              <a:defRPr/>
            </a:pPr>
            <a:r>
              <a:rPr lang="en-GB" sz="3700" b="1">
                <a:solidFill>
                  <a:schemeClr val="bg1"/>
                </a:solidFill>
                <a:latin typeface="Times New Roman"/>
                <a:cs typeface="Times New Roman"/>
              </a:rPr>
              <a:t>5. OBJECTIVES</a:t>
            </a:r>
            <a:endParaRPr/>
          </a:p>
        </p:txBody>
      </p:sp>
      <p:sp>
        <p:nvSpPr>
          <p:cNvPr id="123070014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9</a:t>
            </a:fld>
            <a:endParaRPr lang="en-US"/>
          </a:p>
        </p:txBody>
      </p:sp>
      <p:sp>
        <p:nvSpPr>
          <p:cNvPr id="1770691382" name=""/>
          <p:cNvSpPr/>
          <p:nvPr/>
        </p:nvSpPr>
        <p:spPr bwMode="auto">
          <a:xfrm flipH="0" flipV="0">
            <a:off x="951792" y="1965778"/>
            <a:ext cx="10901610" cy="303616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49965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unified React Native mobile app integrating subjective journals with objective Health Connect data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49965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 NLP sentiment model (VADER) to accurately quantify emotional valence from unstructured text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49965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 n-of-1 Machine Learning correlation model (Random Forest) to rank the personalized impact of physical metrics on mood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49965" indent="-349965">
              <a:lnSpc>
                <a:spcPct val="114999"/>
              </a:lnSpc>
              <a:buFont typeface="Arial"/>
              <a:buChar char="•"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Create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transparent feedback loop to present these insights in an actionable format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4861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6. MODULE IDENTIFICATION</a:t>
            </a:r>
            <a:endParaRPr/>
          </a:p>
        </p:txBody>
      </p:sp>
      <p:sp>
        <p:nvSpPr>
          <p:cNvPr id="161577894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1: Data Acquisition Layer (Frontend):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React Native UI. Responsible for pulling Health Connect metrics (Steps, Sleep) and capturing unstructured journal text.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2: NLP Engine (Backend):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Utilizes NLTK VADER. Segments paragraphs, performs sentence-level sentiment scoring, and extracts POS (Part-of-Speech) themes.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3: ML Correlation Engine: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Fuses data by date. Uses a Random Forest Classifier with Dynamic SMOTE to determine "Top Feature" importances.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Module 4: Insight Generation &amp; Presentation: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Evaluates ML output and serves a formatted JSON payload back to the mobile Insights Dashboard.</a:t>
            </a:r>
            <a:endParaRPr sz="2400"/>
          </a:p>
        </p:txBody>
      </p:sp>
      <p:sp>
        <p:nvSpPr>
          <p:cNvPr id="138968632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54674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rgbClr val="558ED5"/>
          </a:solidFill>
        </p:spPr>
        <p:txBody>
          <a:bodyPr/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7. SYSTEM ARCHITECTURE</a:t>
            </a:r>
            <a:endParaRPr/>
          </a:p>
        </p:txBody>
      </p:sp>
      <p:sp>
        <p:nvSpPr>
          <p:cNvPr id="166957605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11</a:t>
            </a:fld>
            <a:endParaRPr lang="en-US"/>
          </a:p>
        </p:txBody>
      </p:sp>
      <p:pic>
        <p:nvPicPr>
          <p:cNvPr id="17556614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1771649"/>
            <a:ext cx="12801600" cy="4879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01292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rgbClr val="558ED5"/>
          </a:solidFill>
        </p:spPr>
        <p:txBody>
          <a:bodyPr/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8. DEVELOPMENT &amp; INTEGRATION</a:t>
            </a:r>
            <a:endParaRPr/>
          </a:p>
        </p:txBody>
      </p:sp>
      <p:sp>
        <p:nvSpPr>
          <p:cNvPr id="172907652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114944" tIns="57472" rIns="114944" bIns="57472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Client built as a standalone Android APK. Backend hosted locally via FastAPI.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Integration Strategy: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Bridged via asynchronous REST API calls (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 /analyze-journal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GET /get-insight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using JSON payloads.</a:t>
            </a:r>
            <a:endParaRPr sz="2400">
              <a:latin typeface="Times New Roman"/>
              <a:cs typeface="Times New Roman"/>
            </a:endParaRPr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Challenges &amp; Solutions: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sz="2400" b="1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 1 (Sentiment Dilution):</a:t>
            </a: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Long journal entries with neutral filler words heavily diluted mood scores. </a:t>
            </a:r>
            <a:r>
              <a:rPr sz="24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Solution: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Implemented sentence-by-sentence processing, ignoring neutral sentences to maintain emotional accuracy.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sz="2400" b="1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Challenge 2 (Sparse ML Data):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Users with less than 7 days of data caused the Random Forest to crash. </a:t>
            </a:r>
            <a:r>
              <a:rPr sz="24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Solution: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Implemented "Defensive Programming" to catch zero-variance and sparse data, returning graceful UI warnings instead of app crashes.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6222906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141075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rgbClr val="558ED5"/>
          </a:solidFill>
        </p:spPr>
        <p:txBody>
          <a:bodyPr/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9. PROTOTYPE / RESEARCH FRAMEWORK</a:t>
            </a:r>
            <a:endParaRPr/>
          </a:p>
        </p:txBody>
      </p:sp>
      <p:sp>
        <p:nvSpPr>
          <p:cNvPr id="181528981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Working Prototype: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system is a fully functional, compiled standalone Android application (APK).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securely reads live physiological data from the device and features a locally hosted Python intelligence layer.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 Framework: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prove the n-of-1 ML architecture handles diverse edge-cases, a "Synthetic Validation Suite" (Participants P01 - P16) was engineered to test the backend's response to ideal data, zero-variance data, and sparse data.</a:t>
            </a:r>
            <a:endParaRPr sz="2400"/>
          </a:p>
        </p:txBody>
      </p:sp>
      <p:sp>
        <p:nvSpPr>
          <p:cNvPr id="1661787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75027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rgbClr val="558ED5"/>
          </a:solidFill>
        </p:spPr>
        <p:txBody>
          <a:bodyPr/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10. OUTCOME</a:t>
            </a:r>
            <a:endParaRPr/>
          </a:p>
        </p:txBody>
      </p:sp>
      <p:sp>
        <p:nvSpPr>
          <p:cNvPr id="18276243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14</a:t>
            </a:fld>
            <a:endParaRPr lang="en-US"/>
          </a:p>
        </p:txBody>
      </p:sp>
      <p:pic>
        <p:nvPicPr>
          <p:cNvPr id="101720667" name=""/>
          <p:cNvPicPr>
            <a:picLocks noChangeAspect="1"/>
          </p:cNvPicPr>
          <p:nvPr/>
        </p:nvPicPr>
        <p:blipFill rotWithShape="1">
          <a:blip r:embed="rId3"/>
          <a:srcRect l="0" t="2935" r="0" b="0"/>
          <a:stretch/>
        </p:blipFill>
        <p:spPr bwMode="auto">
          <a:xfrm flipH="0" flipV="0">
            <a:off x="115835" y="1689159"/>
            <a:ext cx="2293291" cy="5291530"/>
          </a:xfrm>
          <a:prstGeom prst="rect">
            <a:avLst/>
          </a:prstGeom>
        </p:spPr>
      </p:pic>
      <p:pic>
        <p:nvPicPr>
          <p:cNvPr id="1649358707" name=""/>
          <p:cNvPicPr>
            <a:picLocks noChangeAspect="1"/>
          </p:cNvPicPr>
          <p:nvPr/>
        </p:nvPicPr>
        <p:blipFill rotWithShape="1">
          <a:blip r:embed="rId4"/>
          <a:srcRect l="0" t="1872" r="0" b="34923"/>
          <a:stretch/>
        </p:blipFill>
        <p:spPr bwMode="auto">
          <a:xfrm flipH="0" flipV="0">
            <a:off x="2511496" y="1689159"/>
            <a:ext cx="2171050" cy="5291531"/>
          </a:xfrm>
          <a:prstGeom prst="rect">
            <a:avLst/>
          </a:prstGeom>
        </p:spPr>
      </p:pic>
      <p:pic>
        <p:nvPicPr>
          <p:cNvPr id="2050781828" name=""/>
          <p:cNvPicPr>
            <a:picLocks noChangeAspect="1"/>
          </p:cNvPicPr>
          <p:nvPr/>
        </p:nvPicPr>
        <p:blipFill rotWithShape="1">
          <a:blip r:embed="rId5"/>
          <a:srcRect l="0" t="2119" r="0" b="35417"/>
          <a:stretch/>
        </p:blipFill>
        <p:spPr bwMode="auto">
          <a:xfrm flipH="0" flipV="0">
            <a:off x="7549018" y="1718035"/>
            <a:ext cx="2372278" cy="5300516"/>
          </a:xfrm>
          <a:prstGeom prst="rect">
            <a:avLst/>
          </a:prstGeom>
        </p:spPr>
      </p:pic>
      <p:pic>
        <p:nvPicPr>
          <p:cNvPr id="1308809245" name=""/>
          <p:cNvPicPr>
            <a:picLocks noChangeAspect="1"/>
          </p:cNvPicPr>
          <p:nvPr/>
        </p:nvPicPr>
        <p:blipFill rotWithShape="1">
          <a:blip r:embed="rId5"/>
          <a:srcRect l="0" t="64251" r="0" b="0"/>
          <a:stretch/>
        </p:blipFill>
        <p:spPr bwMode="auto">
          <a:xfrm flipH="0" flipV="0">
            <a:off x="10082666" y="1718035"/>
            <a:ext cx="2507426" cy="3680330"/>
          </a:xfrm>
          <a:prstGeom prst="rect">
            <a:avLst/>
          </a:prstGeom>
        </p:spPr>
      </p:pic>
      <p:pic>
        <p:nvPicPr>
          <p:cNvPr id="778248995" name=""/>
          <p:cNvPicPr>
            <a:picLocks noChangeAspect="1"/>
          </p:cNvPicPr>
          <p:nvPr/>
        </p:nvPicPr>
        <p:blipFill rotWithShape="1">
          <a:blip r:embed="rId4"/>
          <a:srcRect l="0" t="64946" r="0" b="0"/>
          <a:stretch/>
        </p:blipFill>
        <p:spPr bwMode="auto">
          <a:xfrm flipH="0" flipV="0">
            <a:off x="4916178" y="1718035"/>
            <a:ext cx="2435164" cy="3821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1699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0143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13BC5EB-C8FC-C657-DBEA-F86D981C5042}" type="slidenum">
              <a:rPr lang="en-US"/>
              <a:t/>
            </a:fld>
            <a:endParaRPr lang="en-US"/>
          </a:p>
        </p:txBody>
      </p:sp>
      <p:sp>
        <p:nvSpPr>
          <p:cNvPr id="81683395" name="Title 1"/>
          <p:cNvSpPr>
            <a:spLocks noGrp="1"/>
          </p:cNvSpPr>
          <p:nvPr/>
        </p:nvSpPr>
        <p:spPr bwMode="auto">
          <a:xfrm>
            <a:off x="0" y="0"/>
            <a:ext cx="12801600" cy="1512145"/>
          </a:xfrm>
          <a:prstGeom prst="rect">
            <a:avLst/>
          </a:prstGeom>
          <a:solidFill>
            <a:srgbClr val="558ED5"/>
          </a:solidFill>
        </p:spPr>
        <p:txBody>
          <a:bodyPr vert="horz" lIns="114944" tIns="57472" rIns="114944" bIns="57472" rtlCol="0" anchor="ctr">
            <a:normAutofit/>
          </a:bodyPr>
          <a:lstStyle>
            <a:lvl1pPr algn="ctr" defTabSz="1149447" rtl="0">
              <a:spcBef>
                <a:spcPts val="0"/>
              </a:spcBef>
              <a:buNone/>
              <a:defRPr sz="55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OUTCOME</a:t>
            </a:r>
            <a:r>
              <a:rPr lang="en-IN"/>
              <a:t> </a:t>
            </a:r>
            <a:r>
              <a:rPr lang="en-IN" sz="37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(CONTD..)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645667291" name=""/>
          <p:cNvPicPr>
            <a:picLocks noChangeAspect="1"/>
          </p:cNvPicPr>
          <p:nvPr/>
        </p:nvPicPr>
        <p:blipFill rotWithShape="1">
          <a:blip r:embed="rId3"/>
          <a:srcRect l="0" t="2431" r="0" b="38714"/>
          <a:stretch/>
        </p:blipFill>
        <p:spPr bwMode="auto">
          <a:xfrm flipH="0" flipV="0">
            <a:off x="488234" y="1602298"/>
            <a:ext cx="2794435" cy="5177670"/>
          </a:xfrm>
          <a:prstGeom prst="rect">
            <a:avLst/>
          </a:prstGeom>
        </p:spPr>
      </p:pic>
      <p:pic>
        <p:nvPicPr>
          <p:cNvPr id="1302179154" name=""/>
          <p:cNvPicPr>
            <a:picLocks noChangeAspect="1"/>
          </p:cNvPicPr>
          <p:nvPr/>
        </p:nvPicPr>
        <p:blipFill rotWithShape="1">
          <a:blip r:embed="rId4"/>
          <a:srcRect l="0" t="3574" r="0" b="0"/>
          <a:stretch/>
        </p:blipFill>
        <p:spPr bwMode="auto">
          <a:xfrm flipH="0" flipV="0">
            <a:off x="9344311" y="1583247"/>
            <a:ext cx="2823447" cy="5256665"/>
          </a:xfrm>
          <a:prstGeom prst="rect">
            <a:avLst/>
          </a:prstGeom>
        </p:spPr>
      </p:pic>
      <p:pic>
        <p:nvPicPr>
          <p:cNvPr id="2060307480" name=""/>
          <p:cNvPicPr>
            <a:picLocks noChangeAspect="1"/>
          </p:cNvPicPr>
          <p:nvPr/>
        </p:nvPicPr>
        <p:blipFill rotWithShape="1">
          <a:blip r:embed="rId3"/>
          <a:srcRect l="0" t="61110" r="0" b="0"/>
          <a:stretch/>
        </p:blipFill>
        <p:spPr bwMode="auto">
          <a:xfrm flipH="0" flipV="0">
            <a:off x="3399289" y="1583247"/>
            <a:ext cx="2846794" cy="3485396"/>
          </a:xfrm>
          <a:prstGeom prst="rect">
            <a:avLst/>
          </a:prstGeom>
        </p:spPr>
      </p:pic>
      <p:pic>
        <p:nvPicPr>
          <p:cNvPr id="336788908" name=""/>
          <p:cNvPicPr>
            <a:picLocks noChangeAspect="1"/>
          </p:cNvPicPr>
          <p:nvPr/>
        </p:nvPicPr>
        <p:blipFill rotWithShape="1">
          <a:blip r:embed="rId5"/>
          <a:srcRect l="0" t="3904" r="0" b="0"/>
          <a:stretch/>
        </p:blipFill>
        <p:spPr bwMode="auto">
          <a:xfrm flipH="0" flipV="0">
            <a:off x="6519886" y="1583247"/>
            <a:ext cx="2538768" cy="52386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199461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rgbClr val="558ED5"/>
          </a:solidFill>
        </p:spPr>
        <p:txBody>
          <a:bodyPr/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11. RESULTS</a:t>
            </a:r>
            <a:endParaRPr/>
          </a:p>
        </p:txBody>
      </p:sp>
      <p:sp>
        <p:nvSpPr>
          <p:cNvPr id="1991641760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Performance: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VADER NLP pipeline processes multi-paragraph entries in milliseconds, suitable for real-time mobile UX.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Observations: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Random Forest model successfully isolates primary drivers (e.g., "sleep score yesterday") from noisy tabular data.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Validation: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Defensive Programming architecture successfully caught and handled User P12 (Sparse Data - 1 day logged) and User P03 (Zero Variance), proving the system is robust enough for real-world deployment where user data is often imperfect.</a:t>
            </a:r>
            <a:endParaRPr sz="2400"/>
          </a:p>
        </p:txBody>
      </p:sp>
      <p:sp>
        <p:nvSpPr>
          <p:cNvPr id="2383752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893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-17099" y="-38099"/>
            <a:ext cx="12877799" cy="1550245"/>
          </a:xfrm>
          <a:prstGeom prst="rect">
            <a:avLst/>
          </a:prstGeom>
          <a:solidFill>
            <a:srgbClr val="558ED5"/>
          </a:solidFill>
        </p:spPr>
        <p:txBody>
          <a:bodyPr/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12. TIMELINE / GANTT CHART</a:t>
            </a:r>
            <a:endParaRPr/>
          </a:p>
        </p:txBody>
      </p:sp>
      <p:sp>
        <p:nvSpPr>
          <p:cNvPr id="150870032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16</a:t>
            </a:fld>
            <a:endParaRPr lang="en-US"/>
          </a:p>
        </p:txBody>
      </p:sp>
      <p:sp>
        <p:nvSpPr>
          <p:cNvPr id="1423417635" name="TextBox 2"/>
          <p:cNvSpPr txBox="1"/>
          <p:nvPr/>
        </p:nvSpPr>
        <p:spPr bwMode="auto">
          <a:xfrm>
            <a:off x="761999" y="1981199"/>
            <a:ext cx="11049359" cy="442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/>
          </a:p>
        </p:txBody>
      </p:sp>
      <p:pic>
        <p:nvPicPr>
          <p:cNvPr id="988919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007256" y="447876"/>
            <a:ext cx="14858114" cy="7768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765051" name="Title 1"/>
          <p:cNvSpPr>
            <a:spLocks noGrp="1"/>
          </p:cNvSpPr>
          <p:nvPr/>
        </p:nvSpPr>
        <p:spPr bwMode="auto">
          <a:xfrm flipH="0" flipV="0">
            <a:off x="0" y="0"/>
            <a:ext cx="12811398" cy="183216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3857"/>
              </a:lnSpc>
              <a:defRPr/>
            </a:pPr>
            <a:r>
              <a:rPr lang="en-US" sz="4800" b="1" i="0" u="none" strike="noStrike" cap="none" spc="0">
                <a:solidFill>
                  <a:srgbClr val="F0F0F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1995649261" name="TextBox 15"/>
          <p:cNvSpPr txBox="1"/>
          <p:nvPr/>
        </p:nvSpPr>
        <p:spPr bwMode="auto">
          <a:xfrm rot="0" flipH="0" flipV="0">
            <a:off x="412754" y="2053244"/>
            <a:ext cx="12284449" cy="4922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Rabbi, M., et al. (2015). "MyBehavior: A System for Long-Term Personalized Health Coaching."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Proceedings of the ACM International Joint Conference on Pervasive and Ubiquitous Computing (UbiComp '15)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Hutto, C. J., &amp; Gilbert, E. (2014). "VADER: A Parsimonious Rule-based Model for Sentiment Analysis of Social Media Text."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Proceedings of the Eighth International AAAI Conference on Weblogs and Social Media (ICWSM '14)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M. C., et al. (2019). "n-of-1-path: a path-analysis approach for finding personalized (n-of-1) health effects from time-series data."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JMIR Mhealth Uhealth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C. J., et al. (2024). "Multimodal Machine Learning in Mental Health: A Survey of Data, Algorithms, and Challenges."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arXiv preprint arXiv:2407.16804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Alghowinem, S., et al. (2018). "A Multi-Modal Approach to Depression Detection using Speech, Activity, and Text."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Proceedings of the International Conference on Multimodal Interaction (ICMI '18)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Wang, R., et al. (2014). "StudentLife: Assessing Mental Health, Academic Performance and Behavioral Trends of College Students using Smartphones."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Proceedings of the ACM International Joint Conference on Pervasive and Ubiquitous Computing (UbiComp '14)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C. A. G., et al. (2025). "Understanding User Perceptions of Personalized Feedback in Digital Health Tools."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ResearchGate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B., R. S., et al. (2025). "EMO Diary: Daily Diary with Sentiment Analysis."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International Journal of Scientific Research and Engineering Trends (IJSRET)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Krafft, P. M., &amp; El-Nasr, M. S. (2018). "Journaling for mental health: A review of the benefits and the role of technology."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ResearchGate</a:t>
            </a: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700"/>
          </a:p>
          <a:p>
            <a:pPr marL="349965" indent="-349965">
              <a:buFont typeface="Arial"/>
              <a:buAutoNum type="arabicPeriod"/>
              <a:defRPr/>
            </a:pPr>
            <a:r>
              <a:rPr sz="17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He, L., et al. (2020). "Wearable sensors for monitoring mental health: A systematic review." </a:t>
            </a:r>
            <a:r>
              <a:rPr sz="17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IEEE Transactions on Biomedical Engineering</a:t>
            </a:r>
            <a:endParaRPr sz="17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025575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801600" cy="1512146"/>
          </a:xfrm>
          <a:prstGeom prst="rect">
            <a:avLst/>
          </a:prstGeom>
          <a:solidFill>
            <a:srgbClr val="558ED5"/>
          </a:solidFill>
        </p:spPr>
        <p:txBody>
          <a:bodyPr>
            <a:normAutofit/>
          </a:bodyPr>
          <a:lstStyle/>
          <a:p>
            <a:pPr>
              <a:defRPr/>
            </a:pPr>
            <a:r>
              <a:rPr lang="en-US" sz="3700" b="1">
                <a:solidFill>
                  <a:schemeClr val="bg1"/>
                </a:solidFill>
                <a:latin typeface="Times New Roman"/>
                <a:cs typeface="Times New Roman"/>
              </a:rPr>
              <a:t>REFERENCES (CONTD..,)</a:t>
            </a:r>
            <a:endParaRPr/>
          </a:p>
        </p:txBody>
      </p:sp>
      <p:sp>
        <p:nvSpPr>
          <p:cNvPr id="59370288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Autofit/>
          </a:bodyPr>
          <a:lstStyle/>
          <a:p>
            <a:pPr marL="294893" marR="0" indent="-294893" algn="l" defTabSz="114944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AutoNum type="arabicPeriod" startAt="11"/>
              <a:defRPr/>
            </a:pP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 Native &amp; Expo: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Expo. (2026). </a:t>
            </a:r>
            <a:r>
              <a:rPr sz="17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Expo Documentation: The framework for universal React Native apps.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Retrieved from </a:t>
            </a:r>
            <a:r>
              <a:rPr sz="17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3" tooltip=""/>
              </a:rPr>
              <a:t>https://docs.expo.dev/</a:t>
            </a:r>
            <a:endParaRPr sz="1700" b="0" strike="noStrike" cap="none" spc="0"/>
          </a:p>
          <a:p>
            <a:pPr marL="294893" marR="0" indent="-294893" algn="l" defTabSz="114944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AutoNum type="arabicPeriod" startAt="11"/>
              <a:defRPr/>
            </a:pP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Android Health Connect API: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Google Developers. (2026). </a:t>
            </a:r>
            <a:r>
              <a:rPr sz="17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Health Connect guide.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Android Developers. Retrieved from </a:t>
            </a:r>
            <a:r>
              <a:rPr sz="17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4" tooltip=""/>
              </a:rPr>
              <a:t>https://developer.android.com/health-and-fitness/guides/health-connect</a:t>
            </a:r>
            <a:endParaRPr sz="1700" b="0" strike="noStrike" cap="none" spc="0"/>
          </a:p>
          <a:p>
            <a:pPr marL="294893" marR="0" indent="-294893" algn="l" defTabSz="114944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AutoNum type="arabicPeriod" startAt="11"/>
              <a:defRPr/>
            </a:pP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FastAPI Backend: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Ramírez, S. (2026). </a:t>
            </a:r>
            <a:r>
              <a:rPr sz="17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FastAPI: High performance, easy to learn, fast to code, ready for production.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Retrieved from </a:t>
            </a:r>
            <a:r>
              <a:rPr sz="1700" b="0" i="0" u="sng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hlinkClick r:id="rId5" tooltip=""/>
              </a:rPr>
              <a:t>https://fastapi.tiangolo.com/</a:t>
            </a:r>
            <a:endParaRPr sz="1700" b="0" strike="noStrike" cap="none" spc="0"/>
          </a:p>
          <a:p>
            <a:pPr marL="294893" marR="0" indent="-294893" algn="l" defTabSz="114944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AutoNum type="arabicPeriod" startAt="11"/>
              <a:defRPr/>
            </a:pP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Scikit-Learn (Random Forest):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Pedregosa, F., et al. (2011). "Scikit-learn: Machine Learning in Python." </a:t>
            </a:r>
            <a:r>
              <a:rPr sz="17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Journal of Machine Learning Research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12, 2825-2830.</a:t>
            </a:r>
            <a:endParaRPr sz="1700" b="0" strike="noStrike" cap="none" spc="0"/>
          </a:p>
          <a:p>
            <a:pPr marL="294893" marR="0" indent="-294893" algn="l" defTabSz="114944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AutoNum type="arabicPeriod" startAt="11"/>
              <a:defRPr/>
            </a:pP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NLTK (Natural Language Toolkit):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Bird, S., Klein, E., &amp; Loper, E. (2009). </a:t>
            </a:r>
            <a:r>
              <a:rPr sz="1700" b="0" i="1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Natural Language Processing with Python.</a:t>
            </a:r>
            <a:r>
              <a:rPr sz="17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O'Reilly Media Inc.</a:t>
            </a:r>
            <a:endParaRPr sz="1900" strike="noStrike" cap="none" spc="0"/>
          </a:p>
        </p:txBody>
      </p:sp>
      <p:sp>
        <p:nvSpPr>
          <p:cNvPr id="42840959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120412" name="Title 1"/>
          <p:cNvSpPr>
            <a:spLocks noGrp="1"/>
          </p:cNvSpPr>
          <p:nvPr>
            <p:ph type="title"/>
          </p:nvPr>
        </p:nvSpPr>
        <p:spPr bwMode="auto"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10000" b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/>
                <a:cs typeface="Times New Roman"/>
              </a:rPr>
              <a:t>Thank You</a:t>
            </a:r>
            <a:endParaRPr/>
          </a:p>
        </p:txBody>
      </p:sp>
      <p:sp>
        <p:nvSpPr>
          <p:cNvPr id="498345797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02A2637-A5A3-49FA-B214-6E67543099EF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/>
  <cp:revision>131</cp:revision>
  <dcterms:created xsi:type="dcterms:W3CDTF">2020-07-13T09:49:45Z</dcterms:created>
  <dcterms:modified xsi:type="dcterms:W3CDTF">2026-04-09T10:09:43Z</dcterms:modified>
</cp:coreProperties>
</file>