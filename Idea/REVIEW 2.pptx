
<file path=[Content_Types].xml><?xml version="1.0" encoding="utf-8"?>
<Types xmlns="http://schemas.openxmlformats.org/package/2006/content-types">
  <Default Extension="jpg" ContentType="image/jpeg"/>
  <Default Extension="bin" ContentType="application/vnd.openxmlformats-officedocument.oleObject"/>
  <Default Extension="jpeg" ContentType="image/jpeg"/>
  <Default Extension="rels" ContentType="application/vnd.openxmlformats-package.relationships+xml"/>
  <Default Extension="xml" ContentType="application/xml"/>
  <Default Extension="png" ContentType="image/png"/>
  <Default Extension="wmf" ContentType="image/x-wmf"/>
  <Override PartName="/ppt/theme/theme2.xml" ContentType="application/vnd.openxmlformats-officedocument.theme+xml"/>
  <Override PartName="/ppt/slideLayouts/slideLayout10.xml" ContentType="application/vnd.openxmlformats-officedocument.presentationml.slideLayout+xml"/>
  <Override PartName="/ppt/presentation.xml" ContentType="application/vnd.openxmlformats-officedocument.presentationml.presentation.main+xml"/>
  <Override PartName="/ppt/slideLayouts/slideLayout5.xml" ContentType="application/vnd.openxmlformats-officedocument.presentationml.slideLayout+xml"/>
  <Override PartName="/ppt/tableStyles.xml" ContentType="application/vnd.openxmlformats-officedocument.presentationml.tableStyles+xml"/>
  <Override PartName="/ppt/presProps.xml" ContentType="application/vnd.openxmlformats-officedocument.presentationml.presProps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docProps/app.xml" ContentType="application/vnd.openxmlformats-officedocument.extended-properties+xml"/>
  <Override PartName="/ppt/viewProps.xml" ContentType="application/vnd.openxmlformats-officedocument.presentationml.viewProps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Slides/notesSlide18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11.xml" ContentType="application/vnd.openxmlformats-officedocument.presentationml.notesSlide+xml"/>
  <Override PartName="/ppt/notesSlides/notesSlide8.xml" ContentType="application/vnd.openxmlformats-officedocument.presentationml.notes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0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 showSpecialPlsOnTitleSld="0">
  <p:sldMasterIdLst>
    <p:sldMasterId id="2147483648" r:id="rId1"/>
  </p:sldMasterIdLst>
  <p:notesMasterIdLst>
    <p:notesMasterId r:id="rId24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</p:sldIdLst>
  <p:sldSz cx="12801600" cy="7315200"/>
  <p:notesSz cx="6858000" cy="9144000"/>
  <p:defaultTextStyle>
    <a:defPPr>
      <a:defRPr lang="en-US"/>
    </a:defPPr>
    <a:lvl1pPr marL="0" algn="l" defTabSz="1149448" rtl="0">
      <a:defRPr sz="2300">
        <a:solidFill>
          <a:schemeClr val="tx1"/>
        </a:solidFill>
        <a:latin typeface="+mn-lt"/>
        <a:ea typeface="+mn-ea"/>
        <a:cs typeface="+mn-cs"/>
      </a:defRPr>
    </a:lvl1pPr>
    <a:lvl2pPr marL="574724" algn="l" defTabSz="1149448" rtl="0">
      <a:defRPr sz="2300">
        <a:solidFill>
          <a:schemeClr val="tx1"/>
        </a:solidFill>
        <a:latin typeface="+mn-lt"/>
        <a:ea typeface="+mn-ea"/>
        <a:cs typeface="+mn-cs"/>
      </a:defRPr>
    </a:lvl2pPr>
    <a:lvl3pPr marL="1149448" algn="l" defTabSz="1149448" rtl="0">
      <a:defRPr sz="2300">
        <a:solidFill>
          <a:schemeClr val="tx1"/>
        </a:solidFill>
        <a:latin typeface="+mn-lt"/>
        <a:ea typeface="+mn-ea"/>
        <a:cs typeface="+mn-cs"/>
      </a:defRPr>
    </a:lvl3pPr>
    <a:lvl4pPr marL="1724172" algn="l" defTabSz="1149448" rtl="0">
      <a:defRPr sz="2300">
        <a:solidFill>
          <a:schemeClr val="tx1"/>
        </a:solidFill>
        <a:latin typeface="+mn-lt"/>
        <a:ea typeface="+mn-ea"/>
        <a:cs typeface="+mn-cs"/>
      </a:defRPr>
    </a:lvl4pPr>
    <a:lvl5pPr marL="2298895" algn="l" defTabSz="1149448" rtl="0">
      <a:defRPr sz="2300">
        <a:solidFill>
          <a:schemeClr val="tx1"/>
        </a:solidFill>
        <a:latin typeface="+mn-lt"/>
        <a:ea typeface="+mn-ea"/>
        <a:cs typeface="+mn-cs"/>
      </a:defRPr>
    </a:lvl5pPr>
    <a:lvl6pPr marL="2873621" algn="l" defTabSz="1149448" rtl="0">
      <a:defRPr sz="2300">
        <a:solidFill>
          <a:schemeClr val="tx1"/>
        </a:solidFill>
        <a:latin typeface="+mn-lt"/>
        <a:ea typeface="+mn-ea"/>
        <a:cs typeface="+mn-cs"/>
      </a:defRPr>
    </a:lvl6pPr>
    <a:lvl7pPr marL="3448344" algn="l" defTabSz="1149448" rtl="0">
      <a:defRPr sz="2300">
        <a:solidFill>
          <a:schemeClr val="tx1"/>
        </a:solidFill>
        <a:latin typeface="+mn-lt"/>
        <a:ea typeface="+mn-ea"/>
        <a:cs typeface="+mn-cs"/>
      </a:defRPr>
    </a:lvl7pPr>
    <a:lvl8pPr marL="4023069" algn="l" defTabSz="1149448" rtl="0">
      <a:defRPr sz="2300">
        <a:solidFill>
          <a:schemeClr val="tx1"/>
        </a:solidFill>
        <a:latin typeface="+mn-lt"/>
        <a:ea typeface="+mn-ea"/>
        <a:cs typeface="+mn-cs"/>
      </a:defRPr>
    </a:lvl8pPr>
    <a:lvl9pPr marL="4597793" algn="l" defTabSz="1149448" rtl="0">
      <a:defRPr sz="23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BC89EF96-8CEA-46FF-86C4-4CE0E7609802}">
  <a:tblStyle styleId="{BC89EF96-8CEA-46FF-86C4-4CE0E7609802}" styleName="Light Style 3 - Accent 1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accent1"/>
              </a:solidFill>
            </a:ln>
          </a:left>
          <a:right>
            <a:ln w="12700">
              <a:solidFill>
                <a:schemeClr val="accent1"/>
              </a:solidFill>
            </a:ln>
          </a:right>
          <a:top>
            <a:ln w="12700">
              <a:solidFill>
                <a:schemeClr val="accent1"/>
              </a:solidFill>
            </a:ln>
          </a:top>
          <a:bottom>
            <a:ln w="12700">
              <a:solidFill>
                <a:schemeClr val="accent1"/>
              </a:solidFill>
            </a:ln>
          </a:bottom>
          <a:insideH>
            <a:ln w="12700">
              <a:solidFill>
                <a:schemeClr val="accent1"/>
              </a:solidFill>
            </a:ln>
          </a:insideH>
          <a:insideV>
            <a:ln w="12700">
              <a:solidFill>
                <a:schemeClr val="accent1"/>
              </a:solidFill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band2V>
      <a:tcStyle>
        <a:tcBdr/>
        <a:fill>
          <a:solidFill>
            <a:schemeClr val="accent1">
              <a:tint val="20000"/>
            </a:schemeClr>
          </a:solidFill>
        </a:fill>
      </a:tcStyle>
    </a:band2V>
    <a:lastCol>
      <a:tcTxStyle b="on">
        <a:fontRef idx="minor">
          <a:prstClr val="black"/>
        </a:fontRef>
        <a:schemeClr val="dk1"/>
      </a:tcTxStyle>
      <a:tcStyle>
        <a:tcBdr/>
      </a:tcStyle>
    </a:lastCol>
    <a:firstCol>
      <a:tcTxStyle b="on">
        <a:fontRef idx="minor">
          <a:prstClr val="black"/>
        </a:fontRef>
        <a:schemeClr val="dk1"/>
      </a:tcTxStyle>
      <a:tcStyle>
        <a:tcBdr/>
      </a:tcStyle>
    </a:firstCol>
    <a:lastRow>
      <a:tcTxStyle b="on">
        <a:fontRef idx="minor">
          <a:prstClr val="black"/>
        </a:fontRef>
        <a:schemeClr val="dk1"/>
      </a:tcTxStyle>
      <a:tcStyle>
        <a:tcBdr>
          <a:top>
            <a:ln w="38100">
              <a:solidFill>
                <a:schemeClr val="accent1"/>
              </a:solidFill>
            </a:ln>
          </a:top>
        </a:tcBdr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dk1"/>
      </a:tcTxStyle>
      <a:tcStyle>
        <a:tcBdr>
          <a:bottom>
            <a:ln w="38100">
              <a:solidFill>
                <a:schemeClr val="accent1"/>
              </a:solidFill>
            </a:ln>
          </a:bottom>
        </a:tcBdr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>
      <p:cViewPr varScale="1">
        <p:scale>
          <a:sx n="70" d="100"/>
          <a:sy n="70" d="100"/>
        </p:scale>
        <p:origin x="931" y="53"/>
      </p:cViewPr>
      <p:guideLst>
        <p:guide pos="2304" orient="horz"/>
        <p:guide pos="4032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 /><Relationship Id="rId26" Type="http://schemas.openxmlformats.org/officeDocument/2006/relationships/tableStyles" Target="tableStyles.xml" /><Relationship Id="rId27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3529678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520139562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C4CD7A36-15CF-4B40-B7C9-B299C824610E}" type="datetimeFigureOut">
              <a:rPr lang="en-US"/>
              <a:t>3/30/2026</a:t>
            </a:fld>
            <a:endParaRPr lang="en-US"/>
          </a:p>
        </p:txBody>
      </p:sp>
      <p:sp>
        <p:nvSpPr>
          <p:cNvPr id="181419721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428625" y="685800"/>
            <a:ext cx="600075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462014405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327996201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751542789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83DE4103-D868-498D-BB7B-ABDA25F9744E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1149448" rtl="0">
      <a:defRPr sz="1500">
        <a:solidFill>
          <a:schemeClr val="tx1"/>
        </a:solidFill>
        <a:latin typeface="+mn-lt"/>
        <a:ea typeface="+mn-ea"/>
        <a:cs typeface="+mn-cs"/>
      </a:defRPr>
    </a:lvl1pPr>
    <a:lvl2pPr marL="574724" algn="l" defTabSz="1149448" rtl="0">
      <a:defRPr sz="1500">
        <a:solidFill>
          <a:schemeClr val="tx1"/>
        </a:solidFill>
        <a:latin typeface="+mn-lt"/>
        <a:ea typeface="+mn-ea"/>
        <a:cs typeface="+mn-cs"/>
      </a:defRPr>
    </a:lvl2pPr>
    <a:lvl3pPr marL="1149448" algn="l" defTabSz="1149448" rtl="0">
      <a:defRPr sz="1500">
        <a:solidFill>
          <a:schemeClr val="tx1"/>
        </a:solidFill>
        <a:latin typeface="+mn-lt"/>
        <a:ea typeface="+mn-ea"/>
        <a:cs typeface="+mn-cs"/>
      </a:defRPr>
    </a:lvl3pPr>
    <a:lvl4pPr marL="1724172" algn="l" defTabSz="1149448" rtl="0">
      <a:defRPr sz="1500">
        <a:solidFill>
          <a:schemeClr val="tx1"/>
        </a:solidFill>
        <a:latin typeface="+mn-lt"/>
        <a:ea typeface="+mn-ea"/>
        <a:cs typeface="+mn-cs"/>
      </a:defRPr>
    </a:lvl4pPr>
    <a:lvl5pPr marL="2298895" algn="l" defTabSz="1149448" rtl="0">
      <a:defRPr sz="1500">
        <a:solidFill>
          <a:schemeClr val="tx1"/>
        </a:solidFill>
        <a:latin typeface="+mn-lt"/>
        <a:ea typeface="+mn-ea"/>
        <a:cs typeface="+mn-cs"/>
      </a:defRPr>
    </a:lvl5pPr>
    <a:lvl6pPr marL="2873621" algn="l" defTabSz="1149448" rtl="0">
      <a:defRPr sz="1500">
        <a:solidFill>
          <a:schemeClr val="tx1"/>
        </a:solidFill>
        <a:latin typeface="+mn-lt"/>
        <a:ea typeface="+mn-ea"/>
        <a:cs typeface="+mn-cs"/>
      </a:defRPr>
    </a:lvl6pPr>
    <a:lvl7pPr marL="3448344" algn="l" defTabSz="1149448" rtl="0">
      <a:defRPr sz="1500">
        <a:solidFill>
          <a:schemeClr val="tx1"/>
        </a:solidFill>
        <a:latin typeface="+mn-lt"/>
        <a:ea typeface="+mn-ea"/>
        <a:cs typeface="+mn-cs"/>
      </a:defRPr>
    </a:lvl7pPr>
    <a:lvl8pPr marL="4023069" algn="l" defTabSz="1149448" rtl="0">
      <a:defRPr sz="1500">
        <a:solidFill>
          <a:schemeClr val="tx1"/>
        </a:solidFill>
        <a:latin typeface="+mn-lt"/>
        <a:ea typeface="+mn-ea"/>
        <a:cs typeface="+mn-cs"/>
      </a:defRPr>
    </a:lvl8pPr>
    <a:lvl9pPr marL="4597793" algn="l" defTabSz="1149448" rtl="0">
      <a:defRPr sz="15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 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 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 ?>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 ?>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 ?>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02777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2829901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45619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4E819DD-E5D4-2244-6BF1-A7AFB352250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389584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824613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205452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DF55A42-DD25-3E75-8FA9-D3E1E78716C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398387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641910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017375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7A4BB52-0283-1E6D-7A93-8A0996B50CC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053242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902926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51614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66B2F2B-F34D-1313-8443-056E57EB21C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520361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735200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1711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2B52408-516B-E337-0452-D2586978ED5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151673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6370680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811494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11544FD-C016-AD10-86AB-FDE1698741D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7458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4925639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35597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235CED8-A5A8-53FA-47C1-6188BAB5523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45212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4476120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916800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3B5B687-57B9-A98F-40AE-07D8933B182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117089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901623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10702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B7D7857-3EE0-1A71-0646-B4BECD60638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165012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31974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839044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8DEBB81-19D9-5D00-7B03-B892036FD52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397872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1235154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240432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442811-4FD8-7BE7-DADF-BAD66B3B1BD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964655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652243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93031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4C7081D-081A-943B-DCE7-9F8BBE94259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767114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1892895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44151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B2C93D7-D891-113E-7E51-15DDFD7BE4B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103126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3006415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381396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904D227-F2E2-077E-327E-E0B784FBFEC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CFAAED3-1899-DC2C-170F-6F4A383AD50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284290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552058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25080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9A57C8C-9EC7-BFEB-CECC-C73193D8BDD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974713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679990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09763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40F89F3-3566-CC82-6270-44C8638C8FA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186620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850311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8131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77BE539-7463-2FBD-841E-A5D4591CE08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612634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965414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93295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72C02B9-BDD4-FAB3-6214-94E02588917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760258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984669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917357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213D9F3-6826-F609-BBA0-8E16D3B8ED0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7589063" name="Title 1"/>
          <p:cNvSpPr>
            <a:spLocks noGrp="1"/>
          </p:cNvSpPr>
          <p:nvPr>
            <p:ph type="ctrTitle"/>
          </p:nvPr>
        </p:nvSpPr>
        <p:spPr bwMode="auto">
          <a:xfrm>
            <a:off x="960120" y="2272456"/>
            <a:ext cx="10881360" cy="1568027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1977820353" name="Subtitle 2"/>
          <p:cNvSpPr>
            <a:spLocks noGrp="1"/>
          </p:cNvSpPr>
          <p:nvPr>
            <p:ph type="subTitle" idx="1"/>
          </p:nvPr>
        </p:nvSpPr>
        <p:spPr bwMode="auto">
          <a:xfrm>
            <a:off x="1920240" y="4145280"/>
            <a:ext cx="8961120" cy="186944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5747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14944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72417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29889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87362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4483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02306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5977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/>
          </a:p>
        </p:txBody>
      </p:sp>
      <p:sp>
        <p:nvSpPr>
          <p:cNvPr id="124060422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2C2E1E87-9C15-4984-91E0-215221CAF7F6}" type="datetime1">
              <a:rPr lang="en-US"/>
              <a:t>3/30/2026</a:t>
            </a:fld>
            <a:endParaRPr lang="en-US"/>
          </a:p>
        </p:txBody>
      </p:sp>
      <p:sp>
        <p:nvSpPr>
          <p:cNvPr id="12441996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5812941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02A2637-A5A3-49FA-B214-6E67543099E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232430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61414518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152880151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F1116BE9-D6CB-4D14-A12D-7F5512E1435B}" type="datetime1">
              <a:rPr lang="en-US"/>
              <a:t>3/30/2026</a:t>
            </a:fld>
            <a:endParaRPr lang="en-US"/>
          </a:p>
        </p:txBody>
      </p:sp>
      <p:sp>
        <p:nvSpPr>
          <p:cNvPr id="604575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1054984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02A2637-A5A3-49FA-B214-6E67543099E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4045803" name="Title 1"/>
          <p:cNvSpPr>
            <a:spLocks noGrp="1"/>
          </p:cNvSpPr>
          <p:nvPr>
            <p:ph type="title"/>
          </p:nvPr>
        </p:nvSpPr>
        <p:spPr bwMode="auto">
          <a:xfrm>
            <a:off x="1011238" y="4700695"/>
            <a:ext cx="10881360" cy="1452880"/>
          </a:xfrm>
        </p:spPr>
        <p:txBody>
          <a:bodyPr anchor="t"/>
          <a:lstStyle>
            <a:lvl1pPr algn="l">
              <a:defRPr sz="5100" b="1" cap="all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760881238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1011238" y="3100496"/>
            <a:ext cx="10881360" cy="1600199"/>
          </a:xfrm>
        </p:spPr>
        <p:txBody>
          <a:bodyPr anchor="b"/>
          <a:lstStyle>
            <a:lvl1pPr marL="0" indent="0">
              <a:buNone/>
              <a:defRPr sz="2500">
                <a:solidFill>
                  <a:schemeClr val="tx1">
                    <a:tint val="75000"/>
                  </a:schemeClr>
                </a:solidFill>
              </a:defRPr>
            </a:lvl1pPr>
            <a:lvl2pPr marL="574724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2pPr>
            <a:lvl3pPr marL="1149448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3pPr>
            <a:lvl4pPr marL="1724172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4pPr>
            <a:lvl5pPr marL="2298895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5pPr>
            <a:lvl6pPr marL="2873621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6pPr>
            <a:lvl7pPr marL="344834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7pPr>
            <a:lvl8pPr marL="402306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8pPr>
            <a:lvl9pPr marL="4597793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54866762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712A9D04-24B9-408C-A000-3B78FDBD0AEB}" type="datetime1">
              <a:rPr lang="en-US"/>
              <a:t>3/30/2026</a:t>
            </a:fld>
            <a:endParaRPr lang="en-US"/>
          </a:p>
        </p:txBody>
      </p:sp>
      <p:sp>
        <p:nvSpPr>
          <p:cNvPr id="77646192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81794247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02A2637-A5A3-49FA-B214-6E67543099E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669510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696873027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640080" y="1706880"/>
            <a:ext cx="5654040" cy="4827694"/>
          </a:xfrm>
        </p:spPr>
        <p:txBody>
          <a:bodyPr/>
          <a:lstStyle>
            <a:lvl1pPr>
              <a:defRPr sz="3500"/>
            </a:lvl1pPr>
            <a:lvl2pPr>
              <a:defRPr sz="3000"/>
            </a:lvl2pPr>
            <a:lvl3pPr>
              <a:defRPr sz="2500"/>
            </a:lvl3pPr>
            <a:lvl4pPr>
              <a:defRPr sz="2300"/>
            </a:lvl4pPr>
            <a:lvl5pPr>
              <a:defRPr sz="2300"/>
            </a:lvl5pPr>
            <a:lvl6pPr>
              <a:defRPr sz="2300"/>
            </a:lvl6pPr>
            <a:lvl7pPr>
              <a:defRPr sz="2300"/>
            </a:lvl7pPr>
            <a:lvl8pPr>
              <a:defRPr sz="2300"/>
            </a:lvl8pPr>
            <a:lvl9pPr>
              <a:defRPr sz="23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1720913288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507480" y="1706880"/>
            <a:ext cx="5654040" cy="4827694"/>
          </a:xfrm>
        </p:spPr>
        <p:txBody>
          <a:bodyPr/>
          <a:lstStyle>
            <a:lvl1pPr>
              <a:defRPr sz="3500"/>
            </a:lvl1pPr>
            <a:lvl2pPr>
              <a:defRPr sz="3000"/>
            </a:lvl2pPr>
            <a:lvl3pPr>
              <a:defRPr sz="2500"/>
            </a:lvl3pPr>
            <a:lvl4pPr>
              <a:defRPr sz="2300"/>
            </a:lvl4pPr>
            <a:lvl5pPr>
              <a:defRPr sz="2300"/>
            </a:lvl5pPr>
            <a:lvl6pPr>
              <a:defRPr sz="2300"/>
            </a:lvl6pPr>
            <a:lvl7pPr>
              <a:defRPr sz="2300"/>
            </a:lvl7pPr>
            <a:lvl8pPr>
              <a:defRPr sz="2300"/>
            </a:lvl8pPr>
            <a:lvl9pPr>
              <a:defRPr sz="23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74562527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F2B91B48-F2B5-44C0-A324-732125246729}" type="datetime1">
              <a:rPr lang="en-US"/>
              <a:t>3/30/2026</a:t>
            </a:fld>
            <a:endParaRPr lang="en-US"/>
          </a:p>
        </p:txBody>
      </p:sp>
      <p:sp>
        <p:nvSpPr>
          <p:cNvPr id="53262684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88278350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02A2637-A5A3-49FA-B214-6E67543099E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340606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23749239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40080" y="1637454"/>
            <a:ext cx="5656263" cy="682414"/>
          </a:xfrm>
        </p:spPr>
        <p:txBody>
          <a:bodyPr anchor="b"/>
          <a:lstStyle>
            <a:lvl1pPr marL="0" indent="0">
              <a:buNone/>
              <a:defRPr sz="3000" b="1"/>
            </a:lvl1pPr>
            <a:lvl2pPr marL="574724" indent="0">
              <a:buNone/>
              <a:defRPr sz="2500" b="1"/>
            </a:lvl2pPr>
            <a:lvl3pPr marL="1149448" indent="0">
              <a:buNone/>
              <a:defRPr sz="2300" b="1"/>
            </a:lvl3pPr>
            <a:lvl4pPr marL="1724172" indent="0">
              <a:buNone/>
              <a:defRPr sz="2000" b="1"/>
            </a:lvl4pPr>
            <a:lvl5pPr marL="2298895" indent="0">
              <a:buNone/>
              <a:defRPr sz="2000" b="1"/>
            </a:lvl5pPr>
            <a:lvl6pPr marL="2873621" indent="0">
              <a:buNone/>
              <a:defRPr sz="2000" b="1"/>
            </a:lvl6pPr>
            <a:lvl7pPr marL="3448344" indent="0">
              <a:buNone/>
              <a:defRPr sz="2000" b="1"/>
            </a:lvl7pPr>
            <a:lvl8pPr marL="4023069" indent="0">
              <a:buNone/>
              <a:defRPr sz="2000" b="1"/>
            </a:lvl8pPr>
            <a:lvl9pPr marL="4597793" indent="0">
              <a:buNone/>
              <a:defRPr sz="20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670443920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40080" y="2319868"/>
            <a:ext cx="5656263" cy="4214707"/>
          </a:xfrm>
        </p:spPr>
        <p:txBody>
          <a:bodyPr/>
          <a:lstStyle>
            <a:lvl1pPr>
              <a:defRPr sz="3000"/>
            </a:lvl1pPr>
            <a:lvl2pPr>
              <a:defRPr sz="2500"/>
            </a:lvl2pPr>
            <a:lvl3pPr>
              <a:defRPr sz="23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582248062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503037" y="1637454"/>
            <a:ext cx="5658485" cy="682414"/>
          </a:xfrm>
        </p:spPr>
        <p:txBody>
          <a:bodyPr anchor="b"/>
          <a:lstStyle>
            <a:lvl1pPr marL="0" indent="0">
              <a:buNone/>
              <a:defRPr sz="3000" b="1"/>
            </a:lvl1pPr>
            <a:lvl2pPr marL="574724" indent="0">
              <a:buNone/>
              <a:defRPr sz="2500" b="1"/>
            </a:lvl2pPr>
            <a:lvl3pPr marL="1149448" indent="0">
              <a:buNone/>
              <a:defRPr sz="2300" b="1"/>
            </a:lvl3pPr>
            <a:lvl4pPr marL="1724172" indent="0">
              <a:buNone/>
              <a:defRPr sz="2000" b="1"/>
            </a:lvl4pPr>
            <a:lvl5pPr marL="2298895" indent="0">
              <a:buNone/>
              <a:defRPr sz="2000" b="1"/>
            </a:lvl5pPr>
            <a:lvl6pPr marL="2873621" indent="0">
              <a:buNone/>
              <a:defRPr sz="2000" b="1"/>
            </a:lvl6pPr>
            <a:lvl7pPr marL="3448344" indent="0">
              <a:buNone/>
              <a:defRPr sz="2000" b="1"/>
            </a:lvl7pPr>
            <a:lvl8pPr marL="4023069" indent="0">
              <a:buNone/>
              <a:defRPr sz="2000" b="1"/>
            </a:lvl8pPr>
            <a:lvl9pPr marL="4597793" indent="0">
              <a:buNone/>
              <a:defRPr sz="20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754582522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503037" y="2319868"/>
            <a:ext cx="5658485" cy="4214707"/>
          </a:xfrm>
        </p:spPr>
        <p:txBody>
          <a:bodyPr/>
          <a:lstStyle>
            <a:lvl1pPr>
              <a:defRPr sz="3000"/>
            </a:lvl1pPr>
            <a:lvl2pPr>
              <a:defRPr sz="2500"/>
            </a:lvl2pPr>
            <a:lvl3pPr>
              <a:defRPr sz="23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1315751402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8337E91-F602-4F18-92CA-FB1A231376B0}" type="datetime1">
              <a:rPr lang="en-US"/>
              <a:t>3/30/2026</a:t>
            </a:fld>
            <a:endParaRPr lang="en-US"/>
          </a:p>
        </p:txBody>
      </p:sp>
      <p:sp>
        <p:nvSpPr>
          <p:cNvPr id="1683653469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46999130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02A2637-A5A3-49FA-B214-6E67543099E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363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8540961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C0818EFE-411D-495F-AE32-482368671348}" type="datetime1">
              <a:rPr lang="en-US"/>
              <a:t>3/30/2026</a:t>
            </a:fld>
            <a:endParaRPr lang="en-US"/>
          </a:p>
        </p:txBody>
      </p:sp>
      <p:sp>
        <p:nvSpPr>
          <p:cNvPr id="738065649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08195600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02A2637-A5A3-49FA-B214-6E67543099E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4935719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2C6129DD-E279-4A67-BA32-75987FE76FB7}" type="datetime1">
              <a:rPr lang="en-US"/>
              <a:t>3/30/2026</a:t>
            </a:fld>
            <a:endParaRPr lang="en-US"/>
          </a:p>
        </p:txBody>
      </p:sp>
      <p:sp>
        <p:nvSpPr>
          <p:cNvPr id="2103345286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08774716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02A2637-A5A3-49FA-B214-6E67543099E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5961157" name="Title 1"/>
          <p:cNvSpPr>
            <a:spLocks noGrp="1"/>
          </p:cNvSpPr>
          <p:nvPr>
            <p:ph type="title"/>
          </p:nvPr>
        </p:nvSpPr>
        <p:spPr bwMode="auto">
          <a:xfrm>
            <a:off x="640082" y="291252"/>
            <a:ext cx="4211638" cy="1239521"/>
          </a:xfrm>
        </p:spPr>
        <p:txBody>
          <a:bodyPr anchor="b"/>
          <a:lstStyle>
            <a:lvl1pPr algn="l">
              <a:defRPr sz="25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194645837" name="Content Placeholder 2"/>
          <p:cNvSpPr>
            <a:spLocks noGrp="1"/>
          </p:cNvSpPr>
          <p:nvPr>
            <p:ph idx="1"/>
          </p:nvPr>
        </p:nvSpPr>
        <p:spPr bwMode="auto">
          <a:xfrm>
            <a:off x="5005070" y="291255"/>
            <a:ext cx="7156450" cy="6243321"/>
          </a:xfrm>
        </p:spPr>
        <p:txBody>
          <a:bodyPr/>
          <a:lstStyle>
            <a:lvl1pPr>
              <a:defRPr sz="3900"/>
            </a:lvl1pPr>
            <a:lvl2pPr>
              <a:defRPr sz="3500"/>
            </a:lvl2pPr>
            <a:lvl3pPr>
              <a:defRPr sz="3000"/>
            </a:lvl3pPr>
            <a:lvl4pPr>
              <a:defRPr sz="2500"/>
            </a:lvl4pPr>
            <a:lvl5pPr>
              <a:defRPr sz="2500"/>
            </a:lvl5pPr>
            <a:lvl6pPr>
              <a:defRPr sz="2500"/>
            </a:lvl6pPr>
            <a:lvl7pPr>
              <a:defRPr sz="2500"/>
            </a:lvl7pPr>
            <a:lvl8pPr>
              <a:defRPr sz="2500"/>
            </a:lvl8pPr>
            <a:lvl9pPr>
              <a:defRPr sz="25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2054834296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40082" y="1530775"/>
            <a:ext cx="4211638" cy="5003802"/>
          </a:xfrm>
        </p:spPr>
        <p:txBody>
          <a:bodyPr/>
          <a:lstStyle>
            <a:lvl1pPr marL="0" indent="0">
              <a:buNone/>
              <a:defRPr sz="1800"/>
            </a:lvl1pPr>
            <a:lvl2pPr marL="574724" indent="0">
              <a:buNone/>
              <a:defRPr sz="1500"/>
            </a:lvl2pPr>
            <a:lvl3pPr marL="1149448" indent="0">
              <a:buNone/>
              <a:defRPr sz="1300"/>
            </a:lvl3pPr>
            <a:lvl4pPr marL="1724172" indent="0">
              <a:buNone/>
              <a:defRPr sz="1100"/>
            </a:lvl4pPr>
            <a:lvl5pPr marL="2298895" indent="0">
              <a:buNone/>
              <a:defRPr sz="1100"/>
            </a:lvl5pPr>
            <a:lvl6pPr marL="2873621" indent="0">
              <a:buNone/>
              <a:defRPr sz="1100"/>
            </a:lvl6pPr>
            <a:lvl7pPr marL="3448344" indent="0">
              <a:buNone/>
              <a:defRPr sz="1100"/>
            </a:lvl7pPr>
            <a:lvl8pPr marL="4023069" indent="0">
              <a:buNone/>
              <a:defRPr sz="1100"/>
            </a:lvl8pPr>
            <a:lvl9pPr marL="4597793" indent="0">
              <a:buNone/>
              <a:defRPr sz="11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622336441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97BA02B-9B73-458F-B848-E99C8FA83242}" type="datetime1">
              <a:rPr lang="en-US"/>
              <a:t>3/30/2026</a:t>
            </a:fld>
            <a:endParaRPr lang="en-US"/>
          </a:p>
        </p:txBody>
      </p:sp>
      <p:sp>
        <p:nvSpPr>
          <p:cNvPr id="205910465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2835628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02A2637-A5A3-49FA-B214-6E67543099E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7271297" name="Title 1"/>
          <p:cNvSpPr>
            <a:spLocks noGrp="1"/>
          </p:cNvSpPr>
          <p:nvPr>
            <p:ph type="title"/>
          </p:nvPr>
        </p:nvSpPr>
        <p:spPr bwMode="auto">
          <a:xfrm>
            <a:off x="2509203" y="5120640"/>
            <a:ext cx="7680960" cy="604521"/>
          </a:xfrm>
        </p:spPr>
        <p:txBody>
          <a:bodyPr anchor="b"/>
          <a:lstStyle>
            <a:lvl1pPr algn="l">
              <a:defRPr sz="25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1621062887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2509203" y="653626"/>
            <a:ext cx="7680960" cy="4389120"/>
          </a:xfrm>
        </p:spPr>
        <p:txBody>
          <a:bodyPr/>
          <a:lstStyle>
            <a:lvl1pPr marL="0" indent="0">
              <a:buNone/>
              <a:defRPr sz="3900"/>
            </a:lvl1pPr>
            <a:lvl2pPr marL="574724" indent="0">
              <a:buNone/>
              <a:defRPr sz="3500"/>
            </a:lvl2pPr>
            <a:lvl3pPr marL="1149448" indent="0">
              <a:buNone/>
              <a:defRPr sz="3000"/>
            </a:lvl3pPr>
            <a:lvl4pPr marL="1724172" indent="0">
              <a:buNone/>
              <a:defRPr sz="2500"/>
            </a:lvl4pPr>
            <a:lvl5pPr marL="2298895" indent="0">
              <a:buNone/>
              <a:defRPr sz="2500"/>
            </a:lvl5pPr>
            <a:lvl6pPr marL="2873621" indent="0">
              <a:buNone/>
              <a:defRPr sz="2500"/>
            </a:lvl6pPr>
            <a:lvl7pPr marL="3448344" indent="0">
              <a:buNone/>
              <a:defRPr sz="2500"/>
            </a:lvl7pPr>
            <a:lvl8pPr marL="4023069" indent="0">
              <a:buNone/>
              <a:defRPr sz="2500"/>
            </a:lvl8pPr>
            <a:lvl9pPr marL="4597793" indent="0">
              <a:buNone/>
              <a:defRPr sz="2500"/>
            </a:lvl9pPr>
          </a:lstStyle>
          <a:p>
            <a:pPr>
              <a:defRPr/>
            </a:pPr>
            <a:endParaRPr lang="en-US"/>
          </a:p>
        </p:txBody>
      </p:sp>
      <p:sp>
        <p:nvSpPr>
          <p:cNvPr id="745637186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2509203" y="5725161"/>
            <a:ext cx="7680960" cy="858519"/>
          </a:xfrm>
        </p:spPr>
        <p:txBody>
          <a:bodyPr/>
          <a:lstStyle>
            <a:lvl1pPr marL="0" indent="0">
              <a:buNone/>
              <a:defRPr sz="1800"/>
            </a:lvl1pPr>
            <a:lvl2pPr marL="574724" indent="0">
              <a:buNone/>
              <a:defRPr sz="1500"/>
            </a:lvl2pPr>
            <a:lvl3pPr marL="1149448" indent="0">
              <a:buNone/>
              <a:defRPr sz="1300"/>
            </a:lvl3pPr>
            <a:lvl4pPr marL="1724172" indent="0">
              <a:buNone/>
              <a:defRPr sz="1100"/>
            </a:lvl4pPr>
            <a:lvl5pPr marL="2298895" indent="0">
              <a:buNone/>
              <a:defRPr sz="1100"/>
            </a:lvl5pPr>
            <a:lvl6pPr marL="2873621" indent="0">
              <a:buNone/>
              <a:defRPr sz="1100"/>
            </a:lvl6pPr>
            <a:lvl7pPr marL="3448344" indent="0">
              <a:buNone/>
              <a:defRPr sz="1100"/>
            </a:lvl7pPr>
            <a:lvl8pPr marL="4023069" indent="0">
              <a:buNone/>
              <a:defRPr sz="1100"/>
            </a:lvl8pPr>
            <a:lvl9pPr marL="4597793" indent="0">
              <a:buNone/>
              <a:defRPr sz="11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283983671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33752997-1B9E-4EF2-B260-9EB38D81F553}" type="datetime1">
              <a:rPr lang="en-US"/>
              <a:t>3/30/2026</a:t>
            </a:fld>
            <a:endParaRPr lang="en-US"/>
          </a:p>
        </p:txBody>
      </p:sp>
      <p:sp>
        <p:nvSpPr>
          <p:cNvPr id="149424193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3155848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02A2637-A5A3-49FA-B214-6E67543099E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679398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1216447863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49856205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041370E5-7D69-44CE-AE73-71BFC3B68EE4}" type="datetime1">
              <a:rPr lang="en-US"/>
              <a:t>3/30/2026</a:t>
            </a:fld>
            <a:endParaRPr lang="en-US"/>
          </a:p>
        </p:txBody>
      </p:sp>
      <p:sp>
        <p:nvSpPr>
          <p:cNvPr id="207356893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14557054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02A2637-A5A3-49FA-B214-6E67543099E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3808924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9281160" y="292948"/>
            <a:ext cx="2880360" cy="6241627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1312054857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640080" y="292948"/>
            <a:ext cx="8427720" cy="6241627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46692269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4CFF8B80-F83C-48AA-AA3F-63D37C1606D6}" type="datetime1">
              <a:rPr lang="en-US"/>
              <a:t>3/30/2026</a:t>
            </a:fld>
            <a:endParaRPr lang="en-US"/>
          </a:p>
        </p:txBody>
      </p:sp>
      <p:sp>
        <p:nvSpPr>
          <p:cNvPr id="179173513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26595337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02A2637-A5A3-49FA-B214-6E67543099E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5029370" name="Title Placeholder 1"/>
          <p:cNvSpPr>
            <a:spLocks noGrp="1"/>
          </p:cNvSpPr>
          <p:nvPr>
            <p:ph type="title"/>
          </p:nvPr>
        </p:nvSpPr>
        <p:spPr bwMode="auto">
          <a:xfrm>
            <a:off x="640080" y="292946"/>
            <a:ext cx="11521440" cy="1219200"/>
          </a:xfrm>
          <a:prstGeom prst="rect">
            <a:avLst/>
          </a:prstGeom>
        </p:spPr>
        <p:txBody>
          <a:bodyPr vert="horz" lIns="114945" tIns="57473" rIns="114945" bIns="57473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39685217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40080" y="1706880"/>
            <a:ext cx="11521440" cy="4827694"/>
          </a:xfrm>
          <a:prstGeom prst="rect">
            <a:avLst/>
          </a:prstGeom>
        </p:spPr>
        <p:txBody>
          <a:bodyPr vert="horz" lIns="114945" tIns="57473" rIns="114945" bIns="57473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51359149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640080" y="6780107"/>
            <a:ext cx="2987040" cy="389467"/>
          </a:xfrm>
          <a:prstGeom prst="rect">
            <a:avLst/>
          </a:prstGeom>
        </p:spPr>
        <p:txBody>
          <a:bodyPr vert="horz" lIns="114945" tIns="57473" rIns="114945" bIns="57473" rtlCol="0" anchor="ctr"/>
          <a:lstStyle>
            <a:lvl1pPr algn="l">
              <a:defRPr sz="15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E5C8E2D-1657-4F9E-9BA7-8881C66FCBC2}" type="datetime1">
              <a:rPr lang="en-US"/>
              <a:t>3/30/2026</a:t>
            </a:fld>
            <a:endParaRPr lang="en-US"/>
          </a:p>
        </p:txBody>
      </p:sp>
      <p:sp>
        <p:nvSpPr>
          <p:cNvPr id="821895206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373880" y="6780107"/>
            <a:ext cx="4053840" cy="389467"/>
          </a:xfrm>
          <a:prstGeom prst="rect">
            <a:avLst/>
          </a:prstGeom>
        </p:spPr>
        <p:txBody>
          <a:bodyPr vert="horz" lIns="114945" tIns="57473" rIns="114945" bIns="57473" rtlCol="0" anchor="ctr"/>
          <a:lstStyle>
            <a:lvl1pPr algn="ctr">
              <a:defRPr sz="15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18712552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9174480" y="6780107"/>
            <a:ext cx="2987040" cy="389467"/>
          </a:xfrm>
          <a:prstGeom prst="rect">
            <a:avLst/>
          </a:prstGeom>
        </p:spPr>
        <p:txBody>
          <a:bodyPr vert="horz" lIns="114945" tIns="57473" rIns="114945" bIns="57473" rtlCol="0" anchor="ctr"/>
          <a:lstStyle>
            <a:lvl1pPr algn="r">
              <a:defRPr sz="15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C02A2637-A5A3-49FA-B214-6E67543099EF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1"/>
  <p:txStyles>
    <p:titleStyle>
      <a:lvl1pPr algn="ctr" defTabSz="1149448" rtl="0">
        <a:spcBef>
          <a:spcPts val="0"/>
        </a:spcBef>
        <a:buNone/>
        <a:defRPr sz="55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31044" indent="-431044" algn="l" defTabSz="1149448" rtl="0">
        <a:spcBef>
          <a:spcPts val="0"/>
        </a:spcBef>
        <a:buFont typeface="Arial"/>
        <a:buChar char="•"/>
        <a:defRPr sz="3900">
          <a:solidFill>
            <a:schemeClr val="tx1"/>
          </a:solidFill>
          <a:latin typeface="+mn-lt"/>
          <a:ea typeface="+mn-ea"/>
          <a:cs typeface="+mn-cs"/>
        </a:defRPr>
      </a:lvl1pPr>
      <a:lvl2pPr marL="933926" indent="-359202" algn="l" defTabSz="1149448" rtl="0">
        <a:spcBef>
          <a:spcPts val="0"/>
        </a:spcBef>
        <a:buFont typeface="Arial"/>
        <a:buChar char="–"/>
        <a:defRPr sz="3500">
          <a:solidFill>
            <a:schemeClr val="tx1"/>
          </a:solidFill>
          <a:latin typeface="+mn-lt"/>
          <a:ea typeface="+mn-ea"/>
          <a:cs typeface="+mn-cs"/>
        </a:defRPr>
      </a:lvl2pPr>
      <a:lvl3pPr marL="1436810" indent="-287362" algn="l" defTabSz="1149448" rtl="0">
        <a:spcBef>
          <a:spcPts val="0"/>
        </a:spcBef>
        <a:buFont typeface="Arial"/>
        <a:buChar char="•"/>
        <a:defRPr sz="3000">
          <a:solidFill>
            <a:schemeClr val="tx1"/>
          </a:solidFill>
          <a:latin typeface="+mn-lt"/>
          <a:ea typeface="+mn-ea"/>
          <a:cs typeface="+mn-cs"/>
        </a:defRPr>
      </a:lvl3pPr>
      <a:lvl4pPr marL="2011534" indent="-287362" algn="l" defTabSz="1149448" rtl="0">
        <a:spcBef>
          <a:spcPts val="0"/>
        </a:spcBef>
        <a:buFont typeface="Arial"/>
        <a:buChar char="–"/>
        <a:defRPr sz="2500">
          <a:solidFill>
            <a:schemeClr val="tx1"/>
          </a:solidFill>
          <a:latin typeface="+mn-lt"/>
          <a:ea typeface="+mn-ea"/>
          <a:cs typeface="+mn-cs"/>
        </a:defRPr>
      </a:lvl4pPr>
      <a:lvl5pPr marL="2586258" indent="-287362" algn="l" defTabSz="1149448" rtl="0">
        <a:spcBef>
          <a:spcPts val="0"/>
        </a:spcBef>
        <a:buFont typeface="Arial"/>
        <a:buChar char="»"/>
        <a:defRPr sz="2500">
          <a:solidFill>
            <a:schemeClr val="tx1"/>
          </a:solidFill>
          <a:latin typeface="+mn-lt"/>
          <a:ea typeface="+mn-ea"/>
          <a:cs typeface="+mn-cs"/>
        </a:defRPr>
      </a:lvl5pPr>
      <a:lvl6pPr marL="3160983" indent="-287362" algn="l" defTabSz="1149448" rtl="0">
        <a:spcBef>
          <a:spcPts val="0"/>
        </a:spcBef>
        <a:buFont typeface="Arial"/>
        <a:buChar char="•"/>
        <a:defRPr sz="2500">
          <a:solidFill>
            <a:schemeClr val="tx1"/>
          </a:solidFill>
          <a:latin typeface="+mn-lt"/>
          <a:ea typeface="+mn-ea"/>
          <a:cs typeface="+mn-cs"/>
        </a:defRPr>
      </a:lvl6pPr>
      <a:lvl7pPr marL="3735707" indent="-287362" algn="l" defTabSz="1149448" rtl="0">
        <a:spcBef>
          <a:spcPts val="0"/>
        </a:spcBef>
        <a:buFont typeface="Arial"/>
        <a:buChar char="•"/>
        <a:defRPr sz="2500">
          <a:solidFill>
            <a:schemeClr val="tx1"/>
          </a:solidFill>
          <a:latin typeface="+mn-lt"/>
          <a:ea typeface="+mn-ea"/>
          <a:cs typeface="+mn-cs"/>
        </a:defRPr>
      </a:lvl7pPr>
      <a:lvl8pPr marL="4310430" indent="-287362" algn="l" defTabSz="1149448" rtl="0">
        <a:spcBef>
          <a:spcPts val="0"/>
        </a:spcBef>
        <a:buFont typeface="Arial"/>
        <a:buChar char="•"/>
        <a:defRPr sz="2500">
          <a:solidFill>
            <a:schemeClr val="tx1"/>
          </a:solidFill>
          <a:latin typeface="+mn-lt"/>
          <a:ea typeface="+mn-ea"/>
          <a:cs typeface="+mn-cs"/>
        </a:defRPr>
      </a:lvl8pPr>
      <a:lvl9pPr marL="4885155" indent="-287362" algn="l" defTabSz="1149448" rtl="0">
        <a:spcBef>
          <a:spcPts val="0"/>
        </a:spcBef>
        <a:buFont typeface="Arial"/>
        <a:buChar char="•"/>
        <a:defRPr sz="2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49448" rtl="0">
        <a:defRPr sz="2300">
          <a:solidFill>
            <a:schemeClr val="tx1"/>
          </a:solidFill>
          <a:latin typeface="+mn-lt"/>
          <a:ea typeface="+mn-ea"/>
          <a:cs typeface="+mn-cs"/>
        </a:defRPr>
      </a:lvl1pPr>
      <a:lvl2pPr marL="574724" algn="l" defTabSz="1149448" rtl="0">
        <a:defRPr sz="2300">
          <a:solidFill>
            <a:schemeClr val="tx1"/>
          </a:solidFill>
          <a:latin typeface="+mn-lt"/>
          <a:ea typeface="+mn-ea"/>
          <a:cs typeface="+mn-cs"/>
        </a:defRPr>
      </a:lvl2pPr>
      <a:lvl3pPr marL="1149448" algn="l" defTabSz="1149448" rtl="0">
        <a:defRPr sz="2300">
          <a:solidFill>
            <a:schemeClr val="tx1"/>
          </a:solidFill>
          <a:latin typeface="+mn-lt"/>
          <a:ea typeface="+mn-ea"/>
          <a:cs typeface="+mn-cs"/>
        </a:defRPr>
      </a:lvl3pPr>
      <a:lvl4pPr marL="1724172" algn="l" defTabSz="1149448" rtl="0">
        <a:defRPr sz="2300">
          <a:solidFill>
            <a:schemeClr val="tx1"/>
          </a:solidFill>
          <a:latin typeface="+mn-lt"/>
          <a:ea typeface="+mn-ea"/>
          <a:cs typeface="+mn-cs"/>
        </a:defRPr>
      </a:lvl4pPr>
      <a:lvl5pPr marL="2298895" algn="l" defTabSz="1149448" rtl="0">
        <a:defRPr sz="2300">
          <a:solidFill>
            <a:schemeClr val="tx1"/>
          </a:solidFill>
          <a:latin typeface="+mn-lt"/>
          <a:ea typeface="+mn-ea"/>
          <a:cs typeface="+mn-cs"/>
        </a:defRPr>
      </a:lvl5pPr>
      <a:lvl6pPr marL="2873621" algn="l" defTabSz="1149448" rtl="0">
        <a:defRPr sz="2300">
          <a:solidFill>
            <a:schemeClr val="tx1"/>
          </a:solidFill>
          <a:latin typeface="+mn-lt"/>
          <a:ea typeface="+mn-ea"/>
          <a:cs typeface="+mn-cs"/>
        </a:defRPr>
      </a:lvl6pPr>
      <a:lvl7pPr marL="3448344" algn="l" defTabSz="1149448" rtl="0">
        <a:defRPr sz="2300">
          <a:solidFill>
            <a:schemeClr val="tx1"/>
          </a:solidFill>
          <a:latin typeface="+mn-lt"/>
          <a:ea typeface="+mn-ea"/>
          <a:cs typeface="+mn-cs"/>
        </a:defRPr>
      </a:lvl7pPr>
      <a:lvl8pPr marL="4023069" algn="l" defTabSz="1149448" rtl="0">
        <a:defRPr sz="2300">
          <a:solidFill>
            <a:schemeClr val="tx1"/>
          </a:solidFill>
          <a:latin typeface="+mn-lt"/>
          <a:ea typeface="+mn-ea"/>
          <a:cs typeface="+mn-cs"/>
        </a:defRPr>
      </a:lvl8pPr>
      <a:lvl9pPr marL="4597793" algn="l" defTabSz="1149448" rtl="0">
        <a:defRPr sz="23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5.jpg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6.jpg"/><Relationship Id="rId4" Type="http://schemas.openxmlformats.org/officeDocument/2006/relationships/image" Target="../media/image7.jpg"/><Relationship Id="rId5" Type="http://schemas.openxmlformats.org/officeDocument/2006/relationships/image" Target="../media/image8.jpg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png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docs.expo.dev/" TargetMode="External"/><Relationship Id="rId4" Type="http://schemas.openxmlformats.org/officeDocument/2006/relationships/hyperlink" Target="https://developer.android.com/health-and-fitness/guides/health-connect" TargetMode="External"/><Relationship Id="rId5" Type="http://schemas.openxmlformats.org/officeDocument/2006/relationships/hyperlink" Target="https://fastapi.tiangolo.com/" TargetMode="External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6107752" name="Title 1"/>
          <p:cNvSpPr>
            <a:spLocks noGrp="1"/>
          </p:cNvSpPr>
          <p:nvPr>
            <p:ph type="ctrTitle"/>
          </p:nvPr>
        </p:nvSpPr>
        <p:spPr bwMode="auto">
          <a:xfrm flipH="0" flipV="0">
            <a:off x="0" y="0"/>
            <a:ext cx="12801600" cy="1459148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</p:spPr>
        <p:txBody>
          <a:bodyPr>
            <a:noAutofit/>
          </a:bodyPr>
          <a:lstStyle/>
          <a:p>
            <a:pPr algn="ctr">
              <a:lnSpc>
                <a:spcPct val="150000"/>
              </a:lnSpc>
              <a:defRPr/>
            </a:pPr>
            <a:r>
              <a:rPr lang="en-US" sz="3500" b="1" i="0" u="none" strike="noStrike" cap="none" spc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AN AI-POWERED SYSTEM FOR CORRELATING PHYSICAL ACTIVITY AND SUBJECTIVE MENTAL WELL-BEING</a:t>
            </a:r>
            <a:endParaRPr sz="3500">
              <a:solidFill>
                <a:schemeClr val="bg1"/>
              </a:solidFill>
              <a:latin typeface="Times New Roman"/>
              <a:cs typeface="Times New Roman"/>
            </a:endParaRPr>
          </a:p>
        </p:txBody>
      </p:sp>
      <p:pic>
        <p:nvPicPr>
          <p:cNvPr id="550704565" name="Picture 2" descr="VIT Logo"/>
          <p:cNvPicPr>
            <a:picLocks noChangeAspect="1" noChangeArrowheads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4323538" y="1459148"/>
            <a:ext cx="4154520" cy="1136001"/>
          </a:xfrm>
          <a:prstGeom prst="rect">
            <a:avLst/>
          </a:prstGeom>
          <a:noFill/>
        </p:spPr>
      </p:pic>
      <p:sp>
        <p:nvSpPr>
          <p:cNvPr id="265659618" name=""/>
          <p:cNvSpPr txBox="1"/>
          <p:nvPr/>
        </p:nvSpPr>
        <p:spPr bwMode="auto">
          <a:xfrm rot="0" flipH="0" flipV="0">
            <a:off x="3183588" y="2654839"/>
            <a:ext cx="7073779" cy="48238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lnSpc>
                <a:spcPct val="150000"/>
              </a:lnSpc>
              <a:defRPr/>
            </a:pPr>
            <a:r>
              <a:rPr lang="en-US" sz="2300">
                <a:solidFill>
                  <a:schemeClr val="accent1">
                    <a:lumMod val="50000"/>
                  </a:schemeClr>
                </a:solidFill>
                <a:latin typeface="Times New Roman"/>
                <a:ea typeface="Times New Roman"/>
                <a:cs typeface="Times New Roman"/>
              </a:rPr>
              <a:t>Project Work Review-1 </a:t>
            </a:r>
            <a:endParaRPr sz="2300">
              <a:solidFill>
                <a:schemeClr val="accent1">
                  <a:lumMod val="50000"/>
                </a:schemeClr>
              </a:solidFill>
              <a:latin typeface="Times New Roman"/>
              <a:ea typeface="Times New Roman"/>
              <a:cs typeface="Times New Roman"/>
            </a:endParaRPr>
          </a:p>
          <a:p>
            <a:pPr algn="ctr">
              <a:lnSpc>
                <a:spcPct val="150000"/>
              </a:lnSpc>
              <a:defRPr/>
            </a:pPr>
            <a:r>
              <a:rPr lang="en-US" sz="2300">
                <a:solidFill>
                  <a:schemeClr val="accent1">
                    <a:lumMod val="50000"/>
                  </a:schemeClr>
                </a:solidFill>
                <a:latin typeface="Times New Roman"/>
                <a:ea typeface="Times New Roman"/>
                <a:cs typeface="Times New Roman"/>
              </a:rPr>
              <a:t>Presented by</a:t>
            </a:r>
            <a:endParaRPr sz="2300">
              <a:solidFill>
                <a:schemeClr val="accent1">
                  <a:lumMod val="50000"/>
                </a:schemeClr>
              </a:solidFill>
              <a:latin typeface="Times New Roman"/>
              <a:cs typeface="Times New Roman"/>
            </a:endParaRPr>
          </a:p>
          <a:p>
            <a:pPr algn="ctr">
              <a:lnSpc>
                <a:spcPct val="150000"/>
              </a:lnSpc>
              <a:defRPr/>
            </a:pPr>
            <a:r>
              <a:rPr lang="en-US" sz="2300">
                <a:solidFill>
                  <a:schemeClr val="accent1">
                    <a:lumMod val="50000"/>
                  </a:schemeClr>
                </a:solidFill>
                <a:latin typeface="Times New Roman"/>
                <a:ea typeface="Times New Roman"/>
                <a:cs typeface="Times New Roman"/>
              </a:rPr>
              <a:t>Harsh Pratap Singh (25MCA1027)</a:t>
            </a:r>
            <a:endParaRPr sz="2300">
              <a:solidFill>
                <a:schemeClr val="accent1">
                  <a:lumMod val="50000"/>
                </a:schemeClr>
              </a:solidFill>
              <a:latin typeface="Times New Roman"/>
              <a:ea typeface="Times New Roman"/>
              <a:cs typeface="Times New Roman"/>
            </a:endParaRPr>
          </a:p>
          <a:p>
            <a:pPr algn="ctr">
              <a:lnSpc>
                <a:spcPct val="150000"/>
              </a:lnSpc>
              <a:defRPr/>
            </a:pPr>
            <a:endParaRPr sz="2300">
              <a:solidFill>
                <a:schemeClr val="accent1">
                  <a:lumMod val="50000"/>
                </a:schemeClr>
              </a:solidFill>
              <a:latin typeface="Times New Roman"/>
              <a:cs typeface="Times New Roman"/>
            </a:endParaRPr>
          </a:p>
          <a:p>
            <a:pPr algn="ctr">
              <a:lnSpc>
                <a:spcPct val="150000"/>
              </a:lnSpc>
              <a:defRPr/>
            </a:pPr>
            <a:r>
              <a:rPr lang="en-US" sz="2300" b="0" i="0" u="none" strike="noStrike" cap="none" spc="0">
                <a:solidFill>
                  <a:schemeClr val="accent1">
                    <a:lumMod val="50000"/>
                  </a:schemeClr>
                </a:solidFill>
                <a:latin typeface="Times New Roman"/>
                <a:ea typeface="Times New Roman"/>
                <a:cs typeface="Times New Roman"/>
              </a:rPr>
              <a:t>Under the Guidance of</a:t>
            </a:r>
            <a:endParaRPr sz="2300">
              <a:solidFill>
                <a:schemeClr val="accent1">
                  <a:lumMod val="50000"/>
                </a:schemeClr>
              </a:solidFill>
              <a:latin typeface="Times New Roman"/>
              <a:cs typeface="Times New Roman"/>
            </a:endParaRPr>
          </a:p>
          <a:p>
            <a:pPr algn="ctr">
              <a:lnSpc>
                <a:spcPct val="150000"/>
              </a:lnSpc>
              <a:defRPr/>
            </a:pPr>
            <a:r>
              <a:rPr lang="en-US" sz="2300">
                <a:solidFill>
                  <a:schemeClr val="accent1">
                    <a:lumMod val="50000"/>
                  </a:schemeClr>
                </a:solidFill>
                <a:latin typeface="Times New Roman"/>
                <a:ea typeface="Times New Roman"/>
                <a:cs typeface="Times New Roman"/>
              </a:rPr>
              <a:t>Dr. Saranya G</a:t>
            </a:r>
            <a:endParaRPr sz="2300">
              <a:solidFill>
                <a:schemeClr val="accent1">
                  <a:lumMod val="50000"/>
                </a:schemeClr>
              </a:solidFill>
              <a:latin typeface="Times New Roman"/>
              <a:cs typeface="Times New Roman"/>
            </a:endParaRPr>
          </a:p>
          <a:p>
            <a:pPr algn="ctr">
              <a:lnSpc>
                <a:spcPct val="150000"/>
              </a:lnSpc>
              <a:defRPr/>
            </a:pPr>
            <a:r>
              <a:rPr lang="en-US" sz="2300">
                <a:solidFill>
                  <a:schemeClr val="accent1">
                    <a:lumMod val="50000"/>
                  </a:schemeClr>
                </a:solidFill>
                <a:latin typeface="Times New Roman"/>
                <a:ea typeface="Times New Roman"/>
                <a:cs typeface="Times New Roman"/>
              </a:rPr>
              <a:t>Assistant professor-Senior Grade</a:t>
            </a:r>
            <a:endParaRPr sz="2300">
              <a:solidFill>
                <a:schemeClr val="accent1">
                  <a:lumMod val="50000"/>
                </a:schemeClr>
              </a:solidFill>
              <a:latin typeface="Times New Roman"/>
              <a:cs typeface="Times New Roman"/>
            </a:endParaRPr>
          </a:p>
          <a:p>
            <a:pPr algn="ctr">
              <a:lnSpc>
                <a:spcPct val="150000"/>
              </a:lnSpc>
              <a:defRPr/>
            </a:pPr>
            <a:r>
              <a:rPr lang="en-US" sz="2300" b="0" i="0" u="none" strike="noStrike" cap="none" spc="0">
                <a:solidFill>
                  <a:schemeClr val="accent1">
                    <a:lumMod val="50000"/>
                  </a:schemeClr>
                </a:solidFill>
                <a:latin typeface="Times New Roman"/>
                <a:ea typeface="Times New Roman"/>
                <a:cs typeface="Times New Roman"/>
              </a:rPr>
              <a:t>School of Computer Science and Engineering</a:t>
            </a:r>
            <a:endParaRPr sz="2300">
              <a:latin typeface="Times New Roman"/>
              <a:cs typeface="Times New Roman"/>
            </a:endParaRPr>
          </a:p>
          <a:p>
            <a:pPr algn="ctr">
              <a:lnSpc>
                <a:spcPct val="150000"/>
              </a:lnSpc>
              <a:defRPr/>
            </a:pPr>
            <a:r>
              <a:rPr lang="en-US" sz="2300" b="0" i="0" u="none" strike="noStrike" cap="none" spc="0">
                <a:solidFill>
                  <a:schemeClr val="accent1">
                    <a:lumMod val="50000"/>
                  </a:schemeClr>
                </a:solidFill>
                <a:latin typeface="Times New Roman"/>
                <a:ea typeface="Times New Roman"/>
                <a:cs typeface="Times New Roman"/>
              </a:rPr>
              <a:t>Vellore Institute of Technology, Chennai</a:t>
            </a:r>
            <a:r>
              <a:rPr lang="en-US" sz="2300" b="0" i="0" u="none" strike="noStrike" cap="none" spc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.</a:t>
            </a:r>
            <a:endParaRPr sz="2300">
              <a:latin typeface="Times New Roman"/>
              <a:cs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2058959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02A2637-A5A3-49FA-B214-6E67543099EF}" type="slidenum">
              <a:rPr lang="en-US"/>
              <a:t>2</a:t>
            </a:fld>
            <a:endParaRPr lang="en-US"/>
          </a:p>
        </p:txBody>
      </p:sp>
      <p:sp>
        <p:nvSpPr>
          <p:cNvPr id="509438519" name="Title 1"/>
          <p:cNvSpPr>
            <a:spLocks noGrp="1"/>
          </p:cNvSpPr>
          <p:nvPr>
            <p:ph type="title"/>
          </p:nvPr>
        </p:nvSpPr>
        <p:spPr bwMode="auto">
          <a:xfrm>
            <a:off x="0" y="0"/>
            <a:ext cx="12801600" cy="1512146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</p:spPr>
        <p:txBody>
          <a:bodyPr/>
          <a:lstStyle/>
          <a:p>
            <a:pPr>
              <a:defRPr/>
            </a:pPr>
            <a:r>
              <a:rPr lang="en-US" sz="3700" b="1">
                <a:solidFill>
                  <a:schemeClr val="bg1"/>
                </a:solidFill>
                <a:latin typeface="Times New Roman"/>
                <a:cs typeface="Times New Roman"/>
              </a:rPr>
              <a:t>CONTENTS</a:t>
            </a:r>
            <a:endParaRPr/>
          </a:p>
        </p:txBody>
      </p:sp>
      <p:sp>
        <p:nvSpPr>
          <p:cNvPr id="40165041" name="Content Placeholder 2"/>
          <p:cNvSpPr txBox="1"/>
          <p:nvPr/>
        </p:nvSpPr>
        <p:spPr bwMode="auto">
          <a:xfrm>
            <a:off x="640080" y="1706880"/>
            <a:ext cx="11521440" cy="4827694"/>
          </a:xfrm>
          <a:prstGeom prst="rect">
            <a:avLst/>
          </a:prstGeom>
        </p:spPr>
        <p:txBody>
          <a:bodyPr vertOverflow="overflow" horzOverflow="overflow" vert="horz" wrap="square" lIns="114944" tIns="57472" rIns="114944" bIns="57472" numCol="1" spcCol="0" rtlCol="0" fromWordArt="0" anchor="t" anchorCtr="0" forceAA="0" upright="0" compatLnSpc="0">
            <a:normAutofit fontScale="70000" lnSpcReduction="6000"/>
          </a:bodyPr>
          <a:lstStyle>
            <a:lvl1pPr marL="431044" indent="-431044" algn="l" defTabSz="1149448" rtl="0">
              <a:spcBef>
                <a:spcPts val="0"/>
              </a:spcBef>
              <a:buFont typeface="Arial"/>
              <a:buChar char="•"/>
              <a:defRPr sz="39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33926" indent="-359202" algn="l" defTabSz="1149448" rtl="0">
              <a:spcBef>
                <a:spcPts val="0"/>
              </a:spcBef>
              <a:buFont typeface="Arial"/>
              <a:buChar char="–"/>
              <a:defRPr sz="35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436810" indent="-287362" algn="l" defTabSz="1149448" rtl="0">
              <a:spcBef>
                <a:spcPts val="0"/>
              </a:spcBef>
              <a:buFont typeface="Arial"/>
              <a:buChar char="•"/>
              <a:defRPr sz="3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11534" indent="-287362" algn="l" defTabSz="1149448" rtl="0">
              <a:spcBef>
                <a:spcPts val="0"/>
              </a:spcBef>
              <a:buFont typeface="Arial"/>
              <a:buChar char="–"/>
              <a:defRPr sz="25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86258" indent="-287362" algn="l" defTabSz="1149448" rtl="0">
              <a:spcBef>
                <a:spcPts val="0"/>
              </a:spcBef>
              <a:buFont typeface="Arial"/>
              <a:buChar char="»"/>
              <a:defRPr sz="25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160983" indent="-287362" algn="l" defTabSz="1149448" rtl="0">
              <a:spcBef>
                <a:spcPts val="0"/>
              </a:spcBef>
              <a:buFont typeface="Arial"/>
              <a:buChar char="•"/>
              <a:defRPr sz="25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735707" indent="-287362" algn="l" defTabSz="1149448" rtl="0">
              <a:spcBef>
                <a:spcPts val="0"/>
              </a:spcBef>
              <a:buFont typeface="Arial"/>
              <a:buChar char="•"/>
              <a:defRPr sz="25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310430" indent="-287362" algn="l" defTabSz="1149448" rtl="0">
              <a:spcBef>
                <a:spcPts val="0"/>
              </a:spcBef>
              <a:buFont typeface="Arial"/>
              <a:buChar char="•"/>
              <a:defRPr sz="25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85155" indent="-287362" algn="l" defTabSz="1149448" rtl="0">
              <a:spcBef>
                <a:spcPts val="0"/>
              </a:spcBef>
              <a:buFont typeface="Arial"/>
              <a:buChar char="•"/>
              <a:defRPr sz="25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05908" indent="-305908">
              <a:lnSpc>
                <a:spcPct val="114999"/>
              </a:lnSpc>
              <a:buFont typeface="Arial"/>
              <a:buAutoNum type="arabicPeriod"/>
              <a:defRPr/>
            </a:pPr>
            <a:r>
              <a:rPr lang="en-US" sz="2800">
                <a:latin typeface="Times New Roman"/>
                <a:cs typeface="Times New Roman"/>
              </a:rPr>
              <a:t>ABSTRACT</a:t>
            </a:r>
            <a:endParaRPr/>
          </a:p>
          <a:p>
            <a:pPr marL="305908" indent="-305908">
              <a:lnSpc>
                <a:spcPct val="114999"/>
              </a:lnSpc>
              <a:buFont typeface="Arial"/>
              <a:buAutoNum type="arabicPeriod"/>
              <a:defRPr/>
            </a:pPr>
            <a:r>
              <a:rPr lang="en-US" sz="2800">
                <a:latin typeface="Times New Roman"/>
                <a:cs typeface="Times New Roman"/>
              </a:rPr>
              <a:t>INTRODUCTION</a:t>
            </a:r>
            <a:endParaRPr/>
          </a:p>
          <a:p>
            <a:pPr marL="305908" indent="-305908">
              <a:lnSpc>
                <a:spcPct val="114999"/>
              </a:lnSpc>
              <a:buFont typeface="Arial"/>
              <a:buAutoNum type="arabicPeriod"/>
              <a:defRPr/>
            </a:pPr>
            <a:r>
              <a:rPr lang="en-US" sz="2800">
                <a:latin typeface="Times New Roman"/>
                <a:cs typeface="Times New Roman"/>
              </a:rPr>
              <a:t>LITERATURE SURVEY</a:t>
            </a:r>
            <a:endParaRPr/>
          </a:p>
          <a:p>
            <a:pPr marL="305908" indent="-305908">
              <a:lnSpc>
                <a:spcPct val="114999"/>
              </a:lnSpc>
              <a:buFont typeface="Arial"/>
              <a:buAutoNum type="arabicPeriod"/>
              <a:defRPr/>
            </a:pPr>
            <a:r>
              <a:rPr lang="en-US" sz="2800">
                <a:latin typeface="Times New Roman"/>
                <a:cs typeface="Times New Roman"/>
              </a:rPr>
              <a:t>RESEARCH GAPS </a:t>
            </a:r>
            <a:endParaRPr/>
          </a:p>
          <a:p>
            <a:pPr marL="305908" indent="-305908">
              <a:lnSpc>
                <a:spcPct val="114999"/>
              </a:lnSpc>
              <a:buFont typeface="Arial"/>
              <a:buAutoNum type="arabicPeriod"/>
              <a:defRPr/>
            </a:pPr>
            <a:r>
              <a:rPr lang="en-US" sz="2800">
                <a:latin typeface="Times New Roman"/>
                <a:cs typeface="Times New Roman"/>
              </a:rPr>
              <a:t>OBJECTIVES</a:t>
            </a:r>
            <a:endParaRPr/>
          </a:p>
          <a:p>
            <a:pPr marL="305908" indent="-305908">
              <a:lnSpc>
                <a:spcPct val="114999"/>
              </a:lnSpc>
              <a:buFont typeface="Arial"/>
              <a:buAutoNum type="arabicPeriod"/>
              <a:defRPr/>
            </a:pPr>
            <a:r>
              <a:rPr lang="en-US" sz="2800">
                <a:latin typeface="Times New Roman"/>
                <a:cs typeface="Times New Roman"/>
              </a:rPr>
              <a:t>MODULE IDENTIFICATION</a:t>
            </a:r>
            <a:endParaRPr/>
          </a:p>
          <a:p>
            <a:pPr marL="305908" indent="-305908">
              <a:lnSpc>
                <a:spcPct val="114999"/>
              </a:lnSpc>
              <a:buFont typeface="Arial"/>
              <a:buAutoNum type="arabicPeriod"/>
              <a:defRPr/>
            </a:pPr>
            <a:r>
              <a:rPr lang="en-US" sz="2800">
                <a:latin typeface="Times New Roman"/>
                <a:cs typeface="Times New Roman"/>
              </a:rPr>
              <a:t>SYSTEM ARCHITECTURE</a:t>
            </a:r>
            <a:endParaRPr/>
          </a:p>
          <a:p>
            <a:pPr marL="305908" indent="-305908">
              <a:lnSpc>
                <a:spcPct val="114999"/>
              </a:lnSpc>
              <a:buFont typeface="Arial"/>
              <a:buAutoNum type="arabicPeriod"/>
              <a:defRPr/>
            </a:pPr>
            <a:r>
              <a:rPr lang="en-US" sz="2800">
                <a:latin typeface="Times New Roman"/>
                <a:cs typeface="Times New Roman"/>
              </a:rPr>
              <a:t>DEVELOPMENT &amp; INTEGRATION</a:t>
            </a:r>
            <a:endParaRPr/>
          </a:p>
          <a:p>
            <a:pPr marL="305908" indent="-305908">
              <a:lnSpc>
                <a:spcPct val="114999"/>
              </a:lnSpc>
              <a:buFont typeface="Arial"/>
              <a:buAutoNum type="arabicPeriod"/>
              <a:defRPr/>
            </a:pPr>
            <a:r>
              <a:rPr lang="en-US" sz="2800">
                <a:latin typeface="Times New Roman"/>
                <a:cs typeface="Times New Roman"/>
              </a:rPr>
              <a:t>PROTOTYPE / RESEARCH FRAMEWORK</a:t>
            </a:r>
            <a:endParaRPr/>
          </a:p>
          <a:p>
            <a:pPr marL="305908" indent="-305908">
              <a:lnSpc>
                <a:spcPct val="114999"/>
              </a:lnSpc>
              <a:buFont typeface="Arial"/>
              <a:buAutoNum type="arabicPeriod"/>
              <a:defRPr/>
            </a:pPr>
            <a:r>
              <a:rPr lang="en-US" sz="2800">
                <a:latin typeface="Times New Roman"/>
                <a:cs typeface="Times New Roman"/>
              </a:rPr>
              <a:t>OUTCOME</a:t>
            </a:r>
            <a:endParaRPr/>
          </a:p>
          <a:p>
            <a:pPr marL="305908" indent="-305908">
              <a:lnSpc>
                <a:spcPct val="114999"/>
              </a:lnSpc>
              <a:buFont typeface="Arial"/>
              <a:buAutoNum type="arabicPeriod"/>
              <a:defRPr/>
            </a:pPr>
            <a:r>
              <a:rPr lang="en-US" sz="2800">
                <a:latin typeface="Times New Roman"/>
                <a:cs typeface="Times New Roman"/>
              </a:rPr>
              <a:t>RESULTS</a:t>
            </a:r>
            <a:endParaRPr/>
          </a:p>
          <a:p>
            <a:pPr marL="305908" indent="-305908">
              <a:lnSpc>
                <a:spcPct val="114999"/>
              </a:lnSpc>
              <a:buFont typeface="Arial"/>
              <a:buAutoNum type="arabicPeriod"/>
              <a:defRPr/>
            </a:pPr>
            <a:r>
              <a:rPr lang="en-US" sz="2800">
                <a:latin typeface="Times New Roman"/>
                <a:cs typeface="Times New Roman"/>
              </a:rPr>
              <a:t>TIMELINE / GANTT CHART</a:t>
            </a:r>
            <a:endParaRPr/>
          </a:p>
          <a:p>
            <a:pPr marL="305908" indent="-305908">
              <a:lnSpc>
                <a:spcPct val="114999"/>
              </a:lnSpc>
              <a:buFont typeface="Arial"/>
              <a:buAutoNum type="arabicPeriod"/>
              <a:defRPr/>
            </a:pPr>
            <a:r>
              <a:rPr lang="en-US" sz="2800">
                <a:latin typeface="Times New Roman"/>
                <a:cs typeface="Times New Roman"/>
              </a:rPr>
              <a:t>REFERENCES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352368" name="Title 1"/>
          <p:cNvSpPr>
            <a:spLocks noGrp="1"/>
          </p:cNvSpPr>
          <p:nvPr>
            <p:ph type="title"/>
          </p:nvPr>
        </p:nvSpPr>
        <p:spPr bwMode="auto">
          <a:xfrm>
            <a:off x="0" y="0"/>
            <a:ext cx="12801600" cy="1512146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</p:spPr>
        <p:txBody>
          <a:bodyPr>
            <a:normAutofit/>
          </a:bodyPr>
          <a:lstStyle/>
          <a:p>
            <a:pPr>
              <a:defRPr/>
            </a:pPr>
            <a:r>
              <a:rPr lang="en-US" sz="3700" b="1">
                <a:solidFill>
                  <a:schemeClr val="bg1"/>
                </a:solidFill>
                <a:latin typeface="Times New Roman"/>
                <a:cs typeface="Times New Roman"/>
              </a:rPr>
              <a:t>1.ABSTRACT</a:t>
            </a:r>
            <a:endParaRPr/>
          </a:p>
        </p:txBody>
      </p:sp>
      <p:sp>
        <p:nvSpPr>
          <p:cNvPr id="1791959078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457199" y="1706879"/>
            <a:ext cx="12150299" cy="5203811"/>
          </a:xfrm>
        </p:spPr>
        <p:txBody>
          <a:bodyPr vertOverflow="overflow" horzOverflow="overflow" vert="horz" wrap="square" lIns="114943" tIns="57471" rIns="114943" bIns="57471" numCol="1" spcCol="0" rtlCol="0" fromWordArt="0" anchor="t" anchorCtr="0" forceAA="0" upright="0" compatLnSpc="0">
            <a:normAutofit fontScale="85000" lnSpcReduction="3000"/>
          </a:bodyPr>
          <a:lstStyle/>
          <a:p>
            <a:pPr marL="0" indent="0">
              <a:lnSpc>
                <a:spcPct val="114999"/>
              </a:lnSpc>
              <a:buFont typeface="Arial"/>
              <a:buNone/>
              <a:defRPr/>
            </a:pPr>
            <a:r>
              <a:rPr sz="24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This project presents </a:t>
            </a:r>
            <a:r>
              <a:rPr sz="2400" b="0" i="1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MindfulMomentum</a:t>
            </a:r>
            <a:r>
              <a:rPr sz="24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, an n-of-1 mobile health application designed to proactively correlate quantitative physiological data with qualitative psychological states. To shift from generic health tracking to highly personalized wellness, the system implements a closed-loop architecture featuring:</a:t>
            </a:r>
            <a:endParaRPr sz="2400"/>
          </a:p>
          <a:p>
            <a:pPr>
              <a:lnSpc>
                <a:spcPct val="114999"/>
              </a:lnSpc>
              <a:defRPr/>
            </a:pPr>
            <a:r>
              <a:rPr sz="24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Data Acquisition:</a:t>
            </a:r>
            <a:r>
              <a:rPr sz="24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Securely ingests objective physical metrics (step count, active calories, and sleep duration) via the Android Health Connect API, while simultaneously capturing subjective mental well-being through unstructured daily journal entries.</a:t>
            </a:r>
            <a:endParaRPr sz="2400"/>
          </a:p>
          <a:p>
            <a:pPr>
              <a:lnSpc>
                <a:spcPct val="114999"/>
              </a:lnSpc>
              <a:defRPr/>
            </a:pPr>
            <a:r>
              <a:rPr sz="24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NLP Pipeline:</a:t>
            </a:r>
            <a:r>
              <a:rPr sz="24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Utilizes an optimized NLTK VADER engine with sentence-level sentiment scoring to process text efficiently without the compute overhead of an LLM, actively preventing "sentiment dilution."</a:t>
            </a:r>
            <a:endParaRPr sz="2400"/>
          </a:p>
          <a:p>
            <a:pPr>
              <a:lnSpc>
                <a:spcPct val="114999"/>
              </a:lnSpc>
              <a:defRPr/>
            </a:pPr>
            <a:r>
              <a:rPr sz="24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Machine Learning Engine:</a:t>
            </a:r>
            <a:r>
              <a:rPr sz="24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Fuses these disparate data streams within a Python FastAPI backend to train a personalized Random Forest classifier for each unique user.</a:t>
            </a:r>
            <a:endParaRPr sz="2400"/>
          </a:p>
          <a:p>
            <a:pPr>
              <a:lnSpc>
                <a:spcPct val="114999"/>
              </a:lnSpc>
              <a:defRPr/>
            </a:pPr>
            <a:r>
              <a:rPr sz="24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Defensive Architecture:</a:t>
            </a:r>
            <a:r>
              <a:rPr sz="24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Employs Dynamic SMOTE to correct class imbalance and uses defensive programming to gracefully manage sparse datasets.</a:t>
            </a:r>
            <a:endParaRPr sz="2400"/>
          </a:p>
          <a:p>
            <a:pPr marL="0" indent="0">
              <a:lnSpc>
                <a:spcPct val="114999"/>
              </a:lnSpc>
              <a:buFont typeface="Arial"/>
              <a:buNone/>
              <a:defRPr/>
            </a:pPr>
            <a:r>
              <a:rPr sz="24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Ultimately, the system transcends generic advice by delivering data-backed, individualized insights (e.g., identifying sleep as the #1 driver for a positive mood) directly to the user through a modern React Native interface.</a:t>
            </a:r>
            <a:endParaRPr sz="2400"/>
          </a:p>
        </p:txBody>
      </p:sp>
      <p:sp>
        <p:nvSpPr>
          <p:cNvPr id="1399900928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02A2637-A5A3-49FA-B214-6E67543099EF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4027958" name="Title 1"/>
          <p:cNvSpPr>
            <a:spLocks noGrp="1"/>
          </p:cNvSpPr>
          <p:nvPr>
            <p:ph type="title"/>
          </p:nvPr>
        </p:nvSpPr>
        <p:spPr bwMode="auto">
          <a:xfrm>
            <a:off x="0" y="0"/>
            <a:ext cx="12801600" cy="1512146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</p:spPr>
        <p:txBody>
          <a:bodyPr>
            <a:normAutofit/>
          </a:bodyPr>
          <a:lstStyle/>
          <a:p>
            <a:pPr>
              <a:defRPr/>
            </a:pPr>
            <a:r>
              <a:rPr lang="en-US" sz="3900" b="1">
                <a:solidFill>
                  <a:schemeClr val="bg1"/>
                </a:solidFill>
                <a:latin typeface="Times New Roman"/>
                <a:cs typeface="Times New Roman"/>
              </a:rPr>
              <a:t>2. INTRODUCTION</a:t>
            </a:r>
            <a:endParaRPr/>
          </a:p>
        </p:txBody>
      </p:sp>
      <p:sp>
        <p:nvSpPr>
          <p:cNvPr id="580627178" name="Content Placeholder 2"/>
          <p:cNvSpPr>
            <a:spLocks noGrp="1"/>
          </p:cNvSpPr>
          <p:nvPr>
            <p:ph idx="1"/>
          </p:nvPr>
        </p:nvSpPr>
        <p:spPr bwMode="auto"/>
        <p:txBody>
          <a:bodyPr>
            <a:normAutofit/>
          </a:bodyPr>
          <a:lstStyle/>
          <a:p>
            <a:pPr>
              <a:lnSpc>
                <a:spcPct val="114999"/>
              </a:lnSpc>
              <a:defRPr/>
            </a:pPr>
            <a:r>
              <a:rPr sz="24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The Problem (Data Silos):</a:t>
            </a:r>
            <a:r>
              <a:rPr sz="24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Currently, personal health data is highly disconnected. Physical metrics are tracked by wearables, while mental well-being is isolated in journaling apps, preventing users from seeing how their lifestyle impacts their mood.</a:t>
            </a:r>
            <a:endParaRPr sz="2400"/>
          </a:p>
          <a:p>
            <a:pPr>
              <a:lnSpc>
                <a:spcPct val="114999"/>
              </a:lnSpc>
              <a:defRPr/>
            </a:pPr>
            <a:r>
              <a:rPr sz="24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The Motivation:</a:t>
            </a:r>
            <a:r>
              <a:rPr sz="24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To shift the digital health paradigm from reactive monitoring to proactive, personalized wellness.</a:t>
            </a:r>
            <a:endParaRPr sz="2400"/>
          </a:p>
          <a:p>
            <a:pPr>
              <a:lnSpc>
                <a:spcPct val="114999"/>
              </a:lnSpc>
              <a:defRPr/>
            </a:pPr>
            <a:r>
              <a:rPr sz="24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The Primary Objective:</a:t>
            </a:r>
            <a:r>
              <a:rPr sz="24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To build a unified, closed-loop system that securely bridges physical IoT sensor data with qualitative emotional data.</a:t>
            </a:r>
            <a:endParaRPr sz="2400"/>
          </a:p>
          <a:p>
            <a:pPr>
              <a:lnSpc>
                <a:spcPct val="114999"/>
              </a:lnSpc>
              <a:defRPr/>
            </a:pPr>
            <a:r>
              <a:rPr sz="24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The Methodology:</a:t>
            </a:r>
            <a:r>
              <a:rPr sz="24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By applying Artificial Intelligence—specifically Natural Language Processing (NLP) and n-of-1 Machine Learning—the system aims to uncover hidden, individualized correlations between a user's physical activity and their subjective mental well-being.</a:t>
            </a:r>
            <a:endParaRPr sz="2400"/>
          </a:p>
        </p:txBody>
      </p:sp>
      <p:sp>
        <p:nvSpPr>
          <p:cNvPr id="1369786651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02A2637-A5A3-49FA-B214-6E67543099EF}" type="slidenum">
              <a:rPr lang="en-US"/>
              <a:t>4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7223249" name="Title 1"/>
          <p:cNvSpPr>
            <a:spLocks noGrp="1"/>
          </p:cNvSpPr>
          <p:nvPr>
            <p:ph type="title"/>
          </p:nvPr>
        </p:nvSpPr>
        <p:spPr bwMode="auto">
          <a:xfrm>
            <a:off x="0" y="0"/>
            <a:ext cx="12801600" cy="1512146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</p:spPr>
        <p:txBody>
          <a:bodyPr>
            <a:normAutofit/>
          </a:bodyPr>
          <a:lstStyle/>
          <a:p>
            <a:pPr>
              <a:defRPr/>
            </a:pPr>
            <a:r>
              <a:rPr lang="en-US" sz="3700" b="1">
                <a:solidFill>
                  <a:schemeClr val="bg1"/>
                </a:solidFill>
                <a:latin typeface="Times New Roman"/>
                <a:cs typeface="Times New Roman"/>
              </a:rPr>
              <a:t>3.LITERATURE SURVEY</a:t>
            </a:r>
            <a:endParaRPr/>
          </a:p>
        </p:txBody>
      </p:sp>
      <p:sp>
        <p:nvSpPr>
          <p:cNvPr id="1157356678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02A2637-A5A3-49FA-B214-6E67543099EF}" type="slidenum">
              <a:rPr lang="en-US"/>
              <a:t>5</a:t>
            </a:fld>
            <a:endParaRPr lang="en-US"/>
          </a:p>
        </p:txBody>
      </p:sp>
      <p:graphicFrame>
        <p:nvGraphicFramePr>
          <p:cNvPr id="1784181361" name="Content Placeholder 5"/>
          <p:cNvGraphicFramePr>
            <a:graphicFrameLocks xmlns:a="http://schemas.openxmlformats.org/drawingml/2006/main"/>
          </p:cNvGraphicFramePr>
          <p:nvPr/>
        </p:nvGraphicFramePr>
        <p:xfrm rot="0">
          <a:off x="0" y="1163766"/>
          <a:ext cx="12203843" cy="6096844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{BC89EF96-8CEA-46FF-86C4-4CE0E7609802}</a:tableStyleId>
              </a:tblPr>
              <a:tblGrid>
                <a:gridCol w="720000"/>
                <a:gridCol w="2240979"/>
                <a:gridCol w="2320480"/>
                <a:gridCol w="2661728"/>
                <a:gridCol w="2593478"/>
                <a:gridCol w="2252232"/>
              </a:tblGrid>
              <a:tr h="720022">
                <a:tc>
                  <a:txBody>
                    <a:bodyPr/>
                    <a:p>
                      <a:pPr marL="0" marR="0" algn="ctr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2000">
                          <a:latin typeface="Times New Roman"/>
                          <a:cs typeface="Times New Roman"/>
                        </a:rPr>
                        <a:t>S.No</a:t>
                      </a:r>
                      <a:endParaRPr lang="en-US" sz="2000">
                        <a:latin typeface="Times New Roman"/>
                        <a:ea typeface="Calibri"/>
                        <a:cs typeface="Times New Roman"/>
                      </a:endParaRPr>
                    </a:p>
                  </a:txBody>
                  <a:tcPr marL="67837" marR="67837" marT="0" marB="0"/>
                </a:tc>
                <a:tc>
                  <a:txBody>
                    <a:bodyPr/>
                    <a:p>
                      <a:pPr marL="0" marR="0" algn="ctr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2000">
                          <a:latin typeface="Times New Roman"/>
                          <a:cs typeface="Times New Roman"/>
                        </a:rPr>
                        <a:t>Article  Title </a:t>
                      </a:r>
                      <a:endParaRPr lang="en-US" sz="2000">
                        <a:latin typeface="Times New Roman"/>
                        <a:ea typeface="Calibri"/>
                        <a:cs typeface="Times New Roman"/>
                      </a:endParaRPr>
                    </a:p>
                  </a:txBody>
                  <a:tcPr marL="67837" marR="67837" marT="0" marB="0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 sz="2000" b="1" i="0" u="none" strike="noStrike" cap="none" spc="0">
                          <a:solidFill>
                            <a:srgbClr val="1B1C1D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Authors &amp; Year</a:t>
                      </a:r>
                      <a:endParaRPr lang="en-US" sz="2000">
                        <a:latin typeface="Times New Roman"/>
                        <a:ea typeface="Calibri"/>
                        <a:cs typeface="Times New Roman"/>
                      </a:endParaRPr>
                    </a:p>
                  </a:txBody>
                  <a:tcPr marL="67836" marR="67836" marT="0" marB="0"/>
                </a:tc>
                <a:tc>
                  <a:txBody>
                    <a:bodyPr/>
                    <a:p>
                      <a:pPr marL="0" marR="0" algn="ctr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2000">
                          <a:latin typeface="Times New Roman"/>
                          <a:ea typeface="Calibri"/>
                          <a:cs typeface="Times New Roman"/>
                        </a:rPr>
                        <a:t>Techniques Used</a:t>
                      </a:r>
                      <a:endParaRPr/>
                    </a:p>
                  </a:txBody>
                  <a:tcPr marL="67837" marR="67837" marT="0" marB="0"/>
                </a:tc>
                <a:tc>
                  <a:txBody>
                    <a:bodyPr/>
                    <a:p>
                      <a:pPr marL="0" marR="0" algn="ctr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2000">
                          <a:latin typeface="Times New Roman"/>
                          <a:ea typeface="Calibri"/>
                          <a:cs typeface="Times New Roman"/>
                        </a:rPr>
                        <a:t>Key Findings</a:t>
                      </a:r>
                      <a:endParaRPr/>
                    </a:p>
                  </a:txBody>
                  <a:tcPr marL="67837" marR="67837" marT="0" marB="0"/>
                </a:tc>
                <a:tc>
                  <a:txBody>
                    <a:bodyPr/>
                    <a:p>
                      <a:pPr marL="0" marR="0" algn="ctr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2000">
                          <a:latin typeface="Times New Roman"/>
                          <a:ea typeface="Calibri"/>
                          <a:cs typeface="Times New Roman"/>
                        </a:rPr>
                        <a:t>Limitations</a:t>
                      </a:r>
                      <a:endParaRPr/>
                    </a:p>
                  </a:txBody>
                  <a:tcPr marL="67837" marR="67837" marT="0" marB="0"/>
                </a:tc>
              </a:tr>
              <a:tr h="1647339">
                <a:tc>
                  <a:txBody>
                    <a:bodyPr/>
                    <a:p>
                      <a:pPr marL="0" marR="0" algn="ctr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600">
                          <a:latin typeface="Times New Roman"/>
                          <a:ea typeface="Calibri"/>
                          <a:cs typeface="Times New Roman"/>
                        </a:rPr>
                        <a:t>1</a:t>
                      </a:r>
                      <a:endParaRPr lang="en-US" sz="1600">
                        <a:latin typeface="Times New Roman"/>
                        <a:ea typeface="Calibri"/>
                        <a:cs typeface="Times New Roman"/>
                      </a:endParaRPr>
                    </a:p>
                  </a:txBody>
                  <a:tcPr marL="67837" marR="67837" marT="0" marB="0">
                    <a:solidFill>
                      <a:srgbClr val="C4E1F2"/>
                    </a:solidFill>
                  </a:tcPr>
                </a:tc>
                <a:tc>
                  <a:txBody>
                    <a:bodyPr/>
                    <a:p>
                      <a:pPr marL="0" marR="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3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MyBehavior: A System for Long-Term Personalized Health Coaching </a:t>
                      </a: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67837" marR="67837" marT="0" marB="0">
                    <a:solidFill>
                      <a:srgbClr val="C4E1F2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US" sz="1300" b="0" i="0" u="none" strike="noStrike" cap="none" spc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Rabbi, M. et al. (2015)</a:t>
                      </a:r>
                      <a:endParaRPr sz="1300" b="0" i="0" u="non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67836" marR="67836" marT="0" marB="0">
                    <a:solidFill>
                      <a:srgbClr val="C4E1F2"/>
                    </a:solidFill>
                  </a:tcPr>
                </a:tc>
                <a:tc>
                  <a:txBody>
                    <a:bodyPr/>
                    <a:p>
                      <a:pPr marL="0" marR="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3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N-of-1 statistical modeling (Vector Autoregression - VAR), Correlation analysis </a:t>
                      </a:r>
                      <a:r>
                        <a:rPr sz="13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</a:t>
                      </a: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67837" marR="67837" marT="0" marB="0">
                    <a:solidFill>
                      <a:srgbClr val="C4E1F2"/>
                    </a:solidFill>
                  </a:tcPr>
                </a:tc>
                <a:tc>
                  <a:txBody>
                    <a:bodyPr/>
                    <a:p>
                      <a:pPr marL="0" marR="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3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 pioneering system in personalized, n-of-1 health coaching. </a:t>
                      </a:r>
                      <a:r>
                        <a:rPr sz="13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It's one of the first to build a personalized model for each user instead of a general one.</a:t>
                      </a: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67837" marR="67837" marT="0" marB="0">
                    <a:solidFill>
                      <a:srgbClr val="C4E1F2"/>
                    </a:solidFill>
                  </a:tcPr>
                </a:tc>
                <a:tc>
                  <a:txBody>
                    <a:bodyPr/>
                    <a:p>
                      <a:pPr marL="0" marR="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3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The self-reports are structured (e.g., "Mood: 1-5"), not unstructured journals. </a:t>
                      </a:r>
                      <a:r>
                        <a:rPr sz="13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It does not use NLP to analyze the context or themes of a user's day, which is a key part of your project's novelty.</a:t>
                      </a: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67837" marR="67837" marT="0" marB="0">
                    <a:solidFill>
                      <a:srgbClr val="C4E1F2"/>
                    </a:solidFill>
                  </a:tcPr>
                </a:tc>
              </a:tr>
              <a:tr h="1306170">
                <a:tc>
                  <a:txBody>
                    <a:bodyPr/>
                    <a:p>
                      <a:pPr marL="0" marR="0" algn="ctr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600">
                          <a:latin typeface="Times New Roman"/>
                          <a:ea typeface="Calibri"/>
                          <a:cs typeface="Times New Roman"/>
                        </a:rPr>
                        <a:t>2</a:t>
                      </a:r>
                      <a:endParaRPr lang="en-US" sz="1600">
                        <a:latin typeface="Times New Roman"/>
                        <a:ea typeface="Calibri"/>
                        <a:cs typeface="Times New Roman"/>
                      </a:endParaRPr>
                    </a:p>
                  </a:txBody>
                  <a:tcPr marL="67837" marR="67837" marT="0" marB="0"/>
                </a:tc>
                <a:tc>
                  <a:txBody>
                    <a:bodyPr/>
                    <a:p>
                      <a:pPr marL="0" marR="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3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VADER: A Parsimonious Rule-based Model for Sentiment Analysis of Social Media Text</a:t>
                      </a: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67837" marR="67837" marT="0" marB="0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US" sz="1300" b="0" i="0" u="none" strike="noStrike" cap="none" spc="0">
                          <a:solidFill>
                            <a:srgbClr val="1B1C1D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Hutto, C. J., &amp; Gilbert, E. (2014)</a:t>
                      </a:r>
                      <a:endParaRPr sz="1300" b="0" i="0" u="non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67836" marR="67836" marT="0" marB="0"/>
                </a:tc>
                <a:tc>
                  <a:txBody>
                    <a:bodyPr/>
                    <a:p>
                      <a:pPr marL="0" marR="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3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Rule-based, lexicon-based (VADER)</a:t>
                      </a: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67837" marR="67837" marT="0" marB="0"/>
                </a:tc>
                <a:tc>
                  <a:txBody>
                    <a:bodyPr/>
                    <a:p>
                      <a:pPr marL="0" marR="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3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High accuracy on informal text (e.g., journals). </a:t>
                      </a:r>
                      <a:r>
                        <a:rPr sz="13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Fast, lightweight, and doesn't require training data.</a:t>
                      </a: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67837" marR="67837" marT="0" marB="0"/>
                </a:tc>
                <a:tc>
                  <a:txBody>
                    <a:bodyPr/>
                    <a:p>
                      <a:pPr marL="0" marR="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3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Lacks deep contextual understanding (e.g., sarcasm) that larger models might capture; provides a score, but not deeper themes. </a:t>
                      </a: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67837" marR="67837" marT="0" marB="0"/>
                </a:tc>
              </a:tr>
              <a:tr h="1306170">
                <a:tc>
                  <a:txBody>
                    <a:bodyPr/>
                    <a:p>
                      <a:pPr marL="0" marR="0" algn="ctr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600">
                          <a:latin typeface="Times New Roman"/>
                          <a:ea typeface="Calibri"/>
                          <a:cs typeface="Times New Roman"/>
                        </a:rPr>
                        <a:t>3</a:t>
                      </a:r>
                      <a:endParaRPr lang="en-US" sz="1600">
                        <a:latin typeface="Times New Roman"/>
                        <a:ea typeface="Calibri"/>
                        <a:cs typeface="Times New Roman"/>
                      </a:endParaRPr>
                    </a:p>
                  </a:txBody>
                  <a:tcPr marL="67837" marR="67837" marT="0" marB="0">
                    <a:solidFill>
                      <a:srgbClr val="C4E1F2"/>
                    </a:solidFill>
                  </a:tcPr>
                </a:tc>
                <a:tc>
                  <a:txBody>
                    <a:bodyPr/>
                    <a:p>
                      <a:pPr marL="0" marR="0" indent="0" algn="l" defTabSz="914400" rtl="0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sz="13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n-of-1-path: a path-analysis approach for finding personalized (n-of-1) health effects from time-series data </a:t>
                      </a: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67837" marR="67837" marT="0" marB="0">
                    <a:solidFill>
                      <a:srgbClr val="C4E1F2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US" sz="1300" b="0" i="0" u="none" strike="noStrike" cap="none" spc="0">
                          <a:solidFill>
                            <a:srgbClr val="1B1C1D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M. C. et al. (2019)</a:t>
                      </a:r>
                      <a:endParaRPr sz="1300" b="0" i="0" u="non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67836" marR="67836" marT="0" marB="0">
                    <a:solidFill>
                      <a:srgbClr val="C4E1F2"/>
                    </a:solidFill>
                  </a:tcPr>
                </a:tc>
                <a:tc>
                  <a:txBody>
                    <a:bodyPr/>
                    <a:p>
                      <a:pPr marL="0" marR="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3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Path Analysis, Statistical modeling</a:t>
                      </a: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67837" marR="67837" marT="0" marB="0">
                    <a:solidFill>
                      <a:srgbClr val="C4E1F2"/>
                    </a:solidFill>
                  </a:tcPr>
                </a:tc>
                <a:tc>
                  <a:txBody>
                    <a:bodyPr/>
                    <a:p>
                      <a:pPr marL="0" marR="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3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Proposes a specific, advanced method for finding personalized effects, which is exactly what your project aims to do. </a:t>
                      </a: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67837" marR="67837" marT="0" marB="0">
                    <a:solidFill>
                      <a:srgbClr val="C4E1F2"/>
                    </a:solidFill>
                  </a:tcPr>
                </a:tc>
                <a:tc>
                  <a:txBody>
                    <a:bodyPr/>
                    <a:p>
                      <a:pPr marL="0" marR="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3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Highly statistical and complex. </a:t>
                      </a:r>
                      <a:r>
                        <a:rPr sz="13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 full implementation may be beyond the scope of one project, but it proves the need for "n-of-1" models. </a:t>
                      </a: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67837" marR="67837" marT="0" marB="0">
                    <a:solidFill>
                      <a:srgbClr val="C4E1F2"/>
                    </a:solidFill>
                  </a:tcPr>
                </a:tc>
              </a:tr>
              <a:tr h="1162028">
                <a:tc>
                  <a:txBody>
                    <a:bodyPr/>
                    <a:p>
                      <a:pPr marL="0" marR="0" algn="ctr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600">
                          <a:latin typeface="Times New Roman"/>
                          <a:ea typeface="Calibri"/>
                          <a:cs typeface="Times New Roman"/>
                        </a:rPr>
                        <a:t>4</a:t>
                      </a:r>
                      <a:endParaRPr lang="en-US" sz="1600">
                        <a:latin typeface="Times New Roman"/>
                        <a:ea typeface="Calibri"/>
                        <a:cs typeface="Times New Roman"/>
                      </a:endParaRPr>
                    </a:p>
                  </a:txBody>
                  <a:tcPr marL="67837" marR="67837" marT="0" marB="0"/>
                </a:tc>
                <a:tc>
                  <a:txBody>
                    <a:bodyPr/>
                    <a:p>
                      <a:pPr marL="0" marR="0" indent="0" algn="l" defTabSz="914400" rtl="0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sz="13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Multimodal Machine Learning in Mental Health: A Survey of Data, Algorithms, and Challenges</a:t>
                      </a: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67837" marR="67837" marT="0" marB="0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US" sz="1300" b="0" i="0" u="none" strike="noStrike" cap="none" spc="0">
                          <a:solidFill>
                            <a:srgbClr val="1B1C1D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C. J. et al. (2024)</a:t>
                      </a:r>
                      <a:endParaRPr sz="1300" b="0" i="0" u="non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67836" marR="67836" marT="0" marB="0"/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3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Learning in Mental Health: A Survey of Data, Algorithms, and Challenges </a:t>
                      </a:r>
                      <a:endParaRPr sz="1300">
                        <a:latin typeface="Times New Roman"/>
                        <a:cs typeface="Times New Roman"/>
                      </a:endParaRPr>
                    </a:p>
                    <a:p>
                      <a:pPr marL="0" marR="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3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Transformers, GNNs, Hybrid Fusion</a:t>
                      </a: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67837" marR="67837" marT="0" marB="0"/>
                </a:tc>
                <a:tc>
                  <a:txBody>
                    <a:bodyPr/>
                    <a:p>
                      <a:pPr marL="0" marR="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3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Catalogs public datasets and fusion strategies. </a:t>
                      </a:r>
                      <a:r>
                        <a:rPr sz="13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Confirms MML yields higher accuracy than any single channel alone. </a:t>
                      </a: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67837" marR="67837" marT="0" marB="0"/>
                </a:tc>
                <a:tc>
                  <a:txBody>
                    <a:bodyPr/>
                    <a:p>
                      <a:pPr marL="0" marR="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3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Highlights fragmented data, privacy, and lack of longitudinal, "in-the-wild" benchmarks as major open challenges. </a:t>
                      </a: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67837" marR="67837" marT="0" marB="0"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1564891" name="Title 1"/>
          <p:cNvSpPr>
            <a:spLocks noGrp="1"/>
          </p:cNvSpPr>
          <p:nvPr>
            <p:ph type="title"/>
          </p:nvPr>
        </p:nvSpPr>
        <p:spPr bwMode="auto">
          <a:xfrm>
            <a:off x="0" y="0"/>
            <a:ext cx="12801600" cy="1512146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</p:spPr>
        <p:txBody>
          <a:bodyPr>
            <a:normAutofit/>
          </a:bodyPr>
          <a:lstStyle/>
          <a:p>
            <a:pPr>
              <a:defRPr/>
            </a:pPr>
            <a:r>
              <a:rPr lang="en-US" sz="3700" b="1">
                <a:solidFill>
                  <a:schemeClr val="bg1"/>
                </a:solidFill>
                <a:latin typeface="Times New Roman"/>
                <a:cs typeface="Times New Roman"/>
              </a:rPr>
              <a:t>LITERATURE SURVEY (CONTD..,)</a:t>
            </a:r>
            <a:endParaRPr/>
          </a:p>
        </p:txBody>
      </p:sp>
      <p:sp>
        <p:nvSpPr>
          <p:cNvPr id="528246688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02A2637-A5A3-49FA-B214-6E67543099EF}" type="slidenum">
              <a:rPr lang="en-US"/>
              <a:t>6</a:t>
            </a:fld>
            <a:endParaRPr lang="en-US"/>
          </a:p>
        </p:txBody>
      </p:sp>
      <p:graphicFrame>
        <p:nvGraphicFramePr>
          <p:cNvPr id="582364130" name="Content Placeholder 5"/>
          <p:cNvGraphicFramePr>
            <a:graphicFrameLocks xmlns:a="http://schemas.openxmlformats.org/drawingml/2006/main"/>
          </p:cNvGraphicFramePr>
          <p:nvPr/>
        </p:nvGraphicFramePr>
        <p:xfrm rot="0">
          <a:off x="0" y="1461996"/>
          <a:ext cx="12490329" cy="5620970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{BC89EF96-8CEA-46FF-86C4-4CE0E7609802}</a:tableStyleId>
              </a:tblPr>
              <a:tblGrid>
                <a:gridCol w="720000"/>
                <a:gridCol w="2240979"/>
                <a:gridCol w="2320480"/>
                <a:gridCol w="2661728"/>
                <a:gridCol w="2593478"/>
                <a:gridCol w="2252232"/>
              </a:tblGrid>
              <a:tr h="729814">
                <a:tc>
                  <a:txBody>
                    <a:bodyPr/>
                    <a:p>
                      <a:pPr marL="0" marR="0" algn="ctr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2000">
                          <a:latin typeface="Times New Roman"/>
                          <a:cs typeface="Times New Roman"/>
                        </a:rPr>
                        <a:t>S.No</a:t>
                      </a:r>
                      <a:endParaRPr lang="en-US" sz="2000">
                        <a:latin typeface="Times New Roman"/>
                        <a:ea typeface="Calibri"/>
                        <a:cs typeface="Times New Roman"/>
                      </a:endParaRPr>
                    </a:p>
                  </a:txBody>
                  <a:tcPr marL="67838" marR="67838" marT="0" marB="0"/>
                </a:tc>
                <a:tc>
                  <a:txBody>
                    <a:bodyPr/>
                    <a:p>
                      <a:pPr marL="0" marR="0" algn="ctr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2000">
                          <a:latin typeface="Times New Roman"/>
                          <a:cs typeface="Times New Roman"/>
                        </a:rPr>
                        <a:t>Article  Title </a:t>
                      </a:r>
                      <a:endParaRPr lang="en-US" sz="2000">
                        <a:latin typeface="Times New Roman"/>
                        <a:ea typeface="Calibri"/>
                        <a:cs typeface="Times New Roman"/>
                      </a:endParaRPr>
                    </a:p>
                  </a:txBody>
                  <a:tcPr marL="67838" marR="67838" marT="0" marB="0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 sz="2000" b="1" i="0" u="none" strike="noStrike" cap="none" spc="0">
                          <a:solidFill>
                            <a:srgbClr val="1B1C1D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Authors &amp; Year</a:t>
                      </a:r>
                      <a:endParaRPr lang="en-US" sz="2000">
                        <a:latin typeface="Times New Roman"/>
                        <a:ea typeface="Calibri"/>
                        <a:cs typeface="Times New Roman"/>
                      </a:endParaRPr>
                    </a:p>
                  </a:txBody>
                  <a:tcPr marL="67837" marR="67837" marT="0" marB="0"/>
                </a:tc>
                <a:tc>
                  <a:txBody>
                    <a:bodyPr/>
                    <a:p>
                      <a:pPr marL="0" marR="0" algn="ctr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2000">
                          <a:latin typeface="Times New Roman"/>
                          <a:ea typeface="Calibri"/>
                          <a:cs typeface="Times New Roman"/>
                        </a:rPr>
                        <a:t>Techniques Used</a:t>
                      </a:r>
                      <a:endParaRPr/>
                    </a:p>
                  </a:txBody>
                  <a:tcPr marL="67838" marR="67838" marT="0" marB="0"/>
                </a:tc>
                <a:tc>
                  <a:txBody>
                    <a:bodyPr/>
                    <a:p>
                      <a:pPr marL="0" marR="0" algn="ctr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2000">
                          <a:latin typeface="Times New Roman"/>
                          <a:ea typeface="Calibri"/>
                          <a:cs typeface="Times New Roman"/>
                        </a:rPr>
                        <a:t>Key Findings</a:t>
                      </a:r>
                      <a:endParaRPr/>
                    </a:p>
                  </a:txBody>
                  <a:tcPr marL="67838" marR="67838" marT="0" marB="0"/>
                </a:tc>
                <a:tc>
                  <a:txBody>
                    <a:bodyPr/>
                    <a:p>
                      <a:pPr marL="0" marR="0" algn="ctr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2000">
                          <a:latin typeface="Times New Roman"/>
                          <a:ea typeface="Calibri"/>
                          <a:cs typeface="Times New Roman"/>
                        </a:rPr>
                        <a:t>Limitations</a:t>
                      </a:r>
                      <a:endParaRPr/>
                    </a:p>
                  </a:txBody>
                  <a:tcPr marL="67838" marR="67838" marT="0" marB="0"/>
                </a:tc>
              </a:tr>
              <a:tr h="1293407">
                <a:tc>
                  <a:txBody>
                    <a:bodyPr/>
                    <a:p>
                      <a:pPr marL="0" marR="0" algn="ctr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600">
                          <a:latin typeface="Times New Roman"/>
                          <a:ea typeface="+mn-ea"/>
                          <a:cs typeface="Times New Roman"/>
                        </a:rPr>
                        <a:t>5</a:t>
                      </a:r>
                      <a:endParaRPr lang="en-US" sz="1600">
                        <a:latin typeface="Times New Roman"/>
                        <a:ea typeface="Calibri"/>
                        <a:cs typeface="Times New Roman"/>
                      </a:endParaRPr>
                    </a:p>
                  </a:txBody>
                  <a:tcPr marL="67838" marR="67838" marT="0" marB="0">
                    <a:solidFill>
                      <a:srgbClr val="C4E1F2"/>
                    </a:solidFill>
                  </a:tcPr>
                </a:tc>
                <a:tc>
                  <a:txBody>
                    <a:bodyPr/>
                    <a:p>
                      <a:pPr marL="0" marR="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 Multi-Modal Approach to Depression Detection using Speech, Activity, and Text</a:t>
                      </a:r>
                      <a:endParaRPr sz="1400">
                        <a:latin typeface="Times New Roman"/>
                        <a:ea typeface="Calibri"/>
                        <a:cs typeface="Times New Roman"/>
                      </a:endParaRPr>
                    </a:p>
                  </a:txBody>
                  <a:tcPr marL="67838" marR="67838" marT="0" marB="0" anchor="ctr">
                    <a:solidFill>
                      <a:srgbClr val="C4E1F2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US" sz="1400" b="0" i="0" u="none" strike="noStrike" cap="none" spc="0">
                          <a:solidFill>
                            <a:srgbClr val="1B1C1D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S. B. et al. (2024)</a:t>
                      </a:r>
                      <a:endParaRPr sz="1400" b="0" i="0" u="non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67837" marR="67837" marT="0" marB="0" anchor="ctr">
                    <a:solidFill>
                      <a:srgbClr val="C4E1F2"/>
                    </a:solidFill>
                  </a:tcPr>
                </a:tc>
                <a:tc>
                  <a:txBody>
                    <a:bodyPr/>
                    <a:p>
                      <a:pPr marL="0" marR="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Random Forest, SVM, Deep Learning </a:t>
                      </a:r>
                      <a:endParaRPr sz="1400">
                        <a:latin typeface="Times New Roman"/>
                        <a:ea typeface="Calibri"/>
                        <a:cs typeface="Times New Roman"/>
                      </a:endParaRPr>
                    </a:p>
                  </a:txBody>
                  <a:tcPr marL="67838" marR="67838" marT="0" marB="0" anchor="ctr">
                    <a:solidFill>
                      <a:srgbClr val="C4E1F2"/>
                    </a:solidFill>
                  </a:tcPr>
                </a:tc>
                <a:tc>
                  <a:txBody>
                    <a:bodyPr/>
                    <a:p>
                      <a:pPr marL="0" marR="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Fusion of all three modes achieved significantly higher accuracy (over 85%) than any single data mode alone.</a:t>
                      </a:r>
                      <a:endParaRPr sz="1400">
                        <a:latin typeface="Times New Roman"/>
                        <a:ea typeface="Calibri"/>
                        <a:cs typeface="Times New Roman"/>
                      </a:endParaRPr>
                    </a:p>
                  </a:txBody>
                  <a:tcPr marL="67838" marR="67838" marT="0" marB="0" anchor="ctr">
                    <a:solidFill>
                      <a:srgbClr val="C4E1F2"/>
                    </a:solidFill>
                  </a:tcPr>
                </a:tc>
                <a:tc>
                  <a:txBody>
                    <a:bodyPr/>
                    <a:p>
                      <a:pPr marL="0" marR="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Focus is on clinical diagnosis (depression) for a doctor, not on proactive wellness insights for a general user.</a:t>
                      </a:r>
                      <a:endParaRPr sz="1400">
                        <a:latin typeface="Times New Roman"/>
                        <a:ea typeface="Calibri"/>
                        <a:cs typeface="Times New Roman"/>
                      </a:endParaRPr>
                    </a:p>
                  </a:txBody>
                  <a:tcPr marL="67838" marR="67838" marT="0" marB="0" anchor="ctr">
                    <a:solidFill>
                      <a:srgbClr val="C4E1F2"/>
                    </a:solidFill>
                  </a:tcPr>
                </a:tc>
              </a:tr>
              <a:tr h="1267435">
                <a:tc>
                  <a:txBody>
                    <a:bodyPr/>
                    <a:p>
                      <a:pPr marL="0" marR="0" algn="ctr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600">
                          <a:latin typeface="Times New Roman"/>
                          <a:ea typeface="+mn-ea"/>
                          <a:cs typeface="Times New Roman"/>
                        </a:rPr>
                        <a:t>6</a:t>
                      </a:r>
                      <a:endParaRPr lang="en-US" sz="1600">
                        <a:latin typeface="Times New Roman"/>
                        <a:ea typeface="Calibri"/>
                        <a:cs typeface="Times New Roman"/>
                      </a:endParaRPr>
                    </a:p>
                  </a:txBody>
                  <a:tcPr marL="67838" marR="67838" marT="0" marB="0"/>
                </a:tc>
                <a:tc>
                  <a:txBody>
                    <a:bodyPr/>
                    <a:p>
                      <a:pPr marL="0" marR="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StudentLife: Assessing Mental Health, Academic Performance and Behavioral Trends of College Students using Smartphones </a:t>
                      </a:r>
                      <a:endParaRPr sz="1400">
                        <a:latin typeface="Times New Roman"/>
                        <a:ea typeface="Calibri"/>
                        <a:cs typeface="Times New Roman"/>
                      </a:endParaRPr>
                    </a:p>
                  </a:txBody>
                  <a:tcPr marL="67838" marR="67838" marT="0" marB="0"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US" sz="1400" b="0" i="0" u="none" strike="noStrike" cap="none" spc="0">
                          <a:solidFill>
                            <a:srgbClr val="1B1C1D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Wang, R. et al. (2014)</a:t>
                      </a:r>
                      <a:endParaRPr sz="1400" b="0" i="0" u="non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67837" marR="67837" marT="0" marB="0" anchor="ctr"/>
                </a:tc>
                <a:tc>
                  <a:txBody>
                    <a:bodyPr/>
                    <a:p>
                      <a:pPr marL="0" marR="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Correlation analysis, Decision Trees </a:t>
                      </a:r>
                      <a:endParaRPr sz="1400">
                        <a:latin typeface="Times New Roman"/>
                        <a:ea typeface="Calibri"/>
                        <a:cs typeface="Times New Roman"/>
                      </a:endParaRPr>
                    </a:p>
                  </a:txBody>
                  <a:tcPr marL="67838" marR="67838" marT="0" marB="0" anchor="ctr"/>
                </a:tc>
                <a:tc>
                  <a:txBody>
                    <a:bodyPr/>
                    <a:p>
                      <a:pPr marL="0" marR="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Successfully correlated sensor data with GPA and depression scores. </a:t>
                      </a:r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 landmark paper in passive sensing.</a:t>
                      </a:r>
                      <a:endParaRPr sz="1400">
                        <a:latin typeface="Times New Roman"/>
                        <a:ea typeface="Calibri"/>
                        <a:cs typeface="Times New Roman"/>
                      </a:endParaRPr>
                    </a:p>
                  </a:txBody>
                  <a:tcPr marL="67838" marR="67838" marT="0" marB="0" anchor="ctr"/>
                </a:tc>
                <a:tc>
                  <a:txBody>
                    <a:bodyPr/>
                    <a:p>
                      <a:pPr marL="0" marR="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The insights were for the researchers, not the students. </a:t>
                      </a:r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The system did not provide a personalized feedback loop.</a:t>
                      </a:r>
                      <a:endParaRPr sz="1400">
                        <a:latin typeface="Times New Roman"/>
                        <a:ea typeface="Calibri"/>
                        <a:cs typeface="Times New Roman"/>
                      </a:endParaRPr>
                    </a:p>
                  </a:txBody>
                  <a:tcPr marL="67838" marR="67838" marT="0" marB="0" anchor="ctr"/>
                </a:tc>
              </a:tr>
              <a:tr h="1518325">
                <a:tc>
                  <a:txBody>
                    <a:bodyPr/>
                    <a:p>
                      <a:pPr marL="0" marR="0" algn="ctr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600">
                          <a:latin typeface="Times New Roman"/>
                          <a:ea typeface="+mn-ea"/>
                          <a:cs typeface="Times New Roman"/>
                        </a:rPr>
                        <a:t>7</a:t>
                      </a:r>
                      <a:endParaRPr lang="en-US" sz="1600">
                        <a:latin typeface="Times New Roman"/>
                        <a:ea typeface="Calibri"/>
                        <a:cs typeface="Times New Roman"/>
                      </a:endParaRPr>
                    </a:p>
                  </a:txBody>
                  <a:tcPr marL="67838" marR="67838" marT="0" marB="0">
                    <a:solidFill>
                      <a:srgbClr val="C4E1F2"/>
                    </a:solidFill>
                  </a:tcPr>
                </a:tc>
                <a:tc>
                  <a:txBody>
                    <a:bodyPr/>
                    <a:p>
                      <a:pPr marL="0" marR="0" indent="0" algn="l" defTabSz="914400" rtl="0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Understanding User Perceptions of Personalized Feedback in Digital Health Tools </a:t>
                      </a:r>
                      <a:endParaRPr sz="1400">
                        <a:latin typeface="Times New Roman"/>
                        <a:ea typeface="Calibri"/>
                        <a:cs typeface="Times New Roman"/>
                      </a:endParaRPr>
                    </a:p>
                  </a:txBody>
                  <a:tcPr marL="67838" marR="67838" marT="0" marB="0" anchor="ctr">
                    <a:solidFill>
                      <a:srgbClr val="C4E1F2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US" sz="1400" b="0" i="0" u="none" strike="noStrike" cap="none" spc="0">
                          <a:solidFill>
                            <a:srgbClr val="1B1C1D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C. A. G. et al. (2025)</a:t>
                      </a:r>
                      <a:endParaRPr sz="1400" b="0" i="0" u="non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67837" marR="67837" marT="0" marB="0" anchor="ctr">
                    <a:solidFill>
                      <a:srgbClr val="C4E1F2"/>
                    </a:solidFill>
                  </a:tcPr>
                </a:tc>
                <a:tc>
                  <a:txBody>
                    <a:bodyPr/>
                    <a:p>
                      <a:pPr marL="0" marR="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Thematic Analysis </a:t>
                      </a:r>
                      <a:endParaRPr sz="1400">
                        <a:latin typeface="Times New Roman"/>
                        <a:ea typeface="Calibri"/>
                        <a:cs typeface="Times New Roman"/>
                      </a:endParaRPr>
                    </a:p>
                  </a:txBody>
                  <a:tcPr marL="67838" marR="67838" marT="0" marB="0" anchor="ctr">
                    <a:solidFill>
                      <a:srgbClr val="C4E1F2"/>
                    </a:solidFill>
                  </a:tcPr>
                </a:tc>
                <a:tc>
                  <a:txBody>
                    <a:bodyPr/>
                    <a:p>
                      <a:pPr marL="0" marR="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Finds that users value adaptive, empathetic, and contextually relevant feedback. </a:t>
                      </a:r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Trust is a key factor. </a:t>
                      </a:r>
                      <a:endParaRPr sz="1400">
                        <a:latin typeface="Times New Roman"/>
                        <a:ea typeface="Calibri"/>
                        <a:cs typeface="Times New Roman"/>
                      </a:endParaRPr>
                    </a:p>
                  </a:txBody>
                  <a:tcPr marL="67838" marR="67838" marT="0" marB="0" anchor="ctr">
                    <a:solidFill>
                      <a:srgbClr val="C4E1F2"/>
                    </a:solidFill>
                  </a:tcPr>
                </a:tc>
                <a:tc>
                  <a:txBody>
                    <a:bodyPr/>
                    <a:p>
                      <a:pPr marL="0" marR="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This paper explains how the feedback should be, but doesn't build the AI system that generates it. </a:t>
                      </a:r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This justifies your "Insight Generation Layer."</a:t>
                      </a:r>
                      <a:endParaRPr sz="1400">
                        <a:latin typeface="Times New Roman"/>
                        <a:ea typeface="Calibri"/>
                        <a:cs typeface="Times New Roman"/>
                      </a:endParaRPr>
                    </a:p>
                  </a:txBody>
                  <a:tcPr marL="67838" marR="67838" marT="0" marB="0" anchor="ctr">
                    <a:solidFill>
                      <a:srgbClr val="C4E1F2"/>
                    </a:solidFill>
                  </a:tcPr>
                </a:tc>
              </a:tr>
              <a:tr h="1016545">
                <a:tc>
                  <a:txBody>
                    <a:bodyPr/>
                    <a:p>
                      <a:pPr marL="0" marR="0" algn="ctr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600">
                          <a:latin typeface="Times New Roman"/>
                          <a:ea typeface="+mn-ea"/>
                          <a:cs typeface="Times New Roman"/>
                        </a:rPr>
                        <a:t>8</a:t>
                      </a:r>
                      <a:endParaRPr lang="en-US" sz="1600">
                        <a:latin typeface="Times New Roman"/>
                        <a:ea typeface="Calibri"/>
                        <a:cs typeface="Times New Roman"/>
                      </a:endParaRPr>
                    </a:p>
                  </a:txBody>
                  <a:tcPr marL="67838" marR="67838" marT="0" marB="0"/>
                </a:tc>
                <a:tc>
                  <a:txBody>
                    <a:bodyPr/>
                    <a:p>
                      <a:pPr marL="0" marR="0" indent="0" algn="l" defTabSz="914400" rtl="0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EMO Diary: Daily Diary with Sentiment Analysis </a:t>
                      </a:r>
                      <a:endParaRPr sz="1400">
                        <a:latin typeface="Times New Roman"/>
                        <a:ea typeface="Calibri"/>
                        <a:cs typeface="Times New Roman"/>
                      </a:endParaRPr>
                    </a:p>
                  </a:txBody>
                  <a:tcPr marL="67838" marR="67838" marT="0" marB="0"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US" sz="1400" b="0" i="0" u="none" strike="noStrike" cap="none" spc="0">
                          <a:solidFill>
                            <a:srgbClr val="1B1C1D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B, R. S. et al. (2025)</a:t>
                      </a:r>
                      <a:endParaRPr sz="1400" b="0" i="0" u="non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67837" marR="67837" marT="0" marB="0" anchor="ctr"/>
                </a:tc>
                <a:tc>
                  <a:txBody>
                    <a:bodyPr/>
                    <a:p>
                      <a:pPr marL="0" marR="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NLP, ML Classification </a:t>
                      </a:r>
                      <a:endParaRPr sz="1400">
                        <a:latin typeface="Times New Roman"/>
                        <a:ea typeface="Calibri"/>
                        <a:cs typeface="Times New Roman"/>
                      </a:endParaRPr>
                    </a:p>
                  </a:txBody>
                  <a:tcPr marL="67838" marR="67838" marT="0" marB="0" anchor="ctr"/>
                </a:tc>
                <a:tc>
                  <a:txBody>
                    <a:bodyPr/>
                    <a:p>
                      <a:pPr marL="0" marR="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 practical implementation of a "smart journal" for personal well-being. </a:t>
                      </a:r>
                      <a:endParaRPr sz="1400">
                        <a:latin typeface="Times New Roman"/>
                        <a:ea typeface="Calibri"/>
                        <a:cs typeface="Times New Roman"/>
                      </a:endParaRPr>
                    </a:p>
                  </a:txBody>
                  <a:tcPr marL="67838" marR="67838" marT="0" marB="0" anchor="ctr"/>
                </a:tc>
                <a:tc>
                  <a:txBody>
                    <a:bodyPr/>
                    <a:p>
                      <a:pPr marL="0" marR="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The system analyzes the journal in isolation. </a:t>
                      </a:r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It is not fused with any physiological or activity sensor data.</a:t>
                      </a:r>
                      <a:endParaRPr sz="1400">
                        <a:latin typeface="Times New Roman"/>
                        <a:ea typeface="Calibri"/>
                        <a:cs typeface="Times New Roman"/>
                      </a:endParaRPr>
                    </a:p>
                  </a:txBody>
                  <a:tcPr marL="67838" marR="67838" marT="0" marB="0" anchor="ctr"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6209394" name="Title 1"/>
          <p:cNvSpPr>
            <a:spLocks noGrp="1"/>
          </p:cNvSpPr>
          <p:nvPr>
            <p:ph type="title"/>
          </p:nvPr>
        </p:nvSpPr>
        <p:spPr bwMode="auto">
          <a:xfrm>
            <a:off x="0" y="0"/>
            <a:ext cx="12801600" cy="1512146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</p:spPr>
        <p:txBody>
          <a:bodyPr vert="horz" lIns="114945" tIns="57473" rIns="114945" bIns="57473" rtlCol="0" anchor="ctr">
            <a:normAutofit/>
          </a:bodyPr>
          <a:lstStyle/>
          <a:p>
            <a:pPr>
              <a:defRPr/>
            </a:pPr>
            <a:r>
              <a:rPr lang="en-US" sz="3700" b="1">
                <a:solidFill>
                  <a:schemeClr val="bg1"/>
                </a:solidFill>
                <a:latin typeface="Times New Roman"/>
                <a:cs typeface="Times New Roman"/>
              </a:rPr>
              <a:t>LITERATURE SURVEY (CONTD..,)</a:t>
            </a:r>
            <a:endParaRPr lang="en-GB" sz="3700" b="1">
              <a:solidFill>
                <a:schemeClr val="bg1"/>
              </a:solidFill>
              <a:latin typeface="Times New Roman"/>
              <a:cs typeface="Times New Roman"/>
            </a:endParaRPr>
          </a:p>
        </p:txBody>
      </p:sp>
      <p:sp>
        <p:nvSpPr>
          <p:cNvPr id="169228300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02A2637-A5A3-49FA-B214-6E67543099EF}" type="slidenum">
              <a:rPr lang="en-US"/>
              <a:t>7</a:t>
            </a:fld>
            <a:endParaRPr lang="en-US"/>
          </a:p>
        </p:txBody>
      </p:sp>
      <p:graphicFrame>
        <p:nvGraphicFramePr>
          <p:cNvPr id="1639521799" name="Content Placeholder 5"/>
          <p:cNvGraphicFramePr>
            <a:graphicFrameLocks xmlns:a="http://schemas.openxmlformats.org/drawingml/2006/main"/>
          </p:cNvGraphicFramePr>
          <p:nvPr/>
        </p:nvGraphicFramePr>
        <p:xfrm rot="0">
          <a:off x="0" y="1512145"/>
          <a:ext cx="14081891" cy="3469884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{BC89EF96-8CEA-46FF-86C4-4CE0E7609802}</a:tableStyleId>
              </a:tblPr>
              <a:tblGrid>
                <a:gridCol w="720000"/>
                <a:gridCol w="2240979"/>
                <a:gridCol w="2320480"/>
                <a:gridCol w="2661728"/>
                <a:gridCol w="2593478"/>
                <a:gridCol w="2252232"/>
              </a:tblGrid>
              <a:tr h="432460">
                <a:tc>
                  <a:txBody>
                    <a:bodyPr/>
                    <a:p>
                      <a:pPr marL="0" marR="0" algn="ctr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2000">
                          <a:latin typeface="Times New Roman"/>
                          <a:cs typeface="Times New Roman"/>
                        </a:rPr>
                        <a:t>S.No</a:t>
                      </a:r>
                      <a:endParaRPr lang="en-US" sz="2000">
                        <a:latin typeface="Times New Roman"/>
                        <a:ea typeface="Calibri"/>
                        <a:cs typeface="Times New Roman"/>
                      </a:endParaRPr>
                    </a:p>
                  </a:txBody>
                  <a:tcPr marL="67838" marR="67838" marT="0" marB="0"/>
                </a:tc>
                <a:tc>
                  <a:txBody>
                    <a:bodyPr/>
                    <a:p>
                      <a:pPr marL="0" marR="0" algn="ctr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2000">
                          <a:latin typeface="Times New Roman"/>
                          <a:cs typeface="Times New Roman"/>
                        </a:rPr>
                        <a:t>Article  Title </a:t>
                      </a:r>
                      <a:endParaRPr lang="en-US" sz="2000">
                        <a:latin typeface="Times New Roman"/>
                        <a:ea typeface="Calibri"/>
                        <a:cs typeface="Times New Roman"/>
                      </a:endParaRPr>
                    </a:p>
                  </a:txBody>
                  <a:tcPr marL="67838" marR="67838" marT="0" marB="0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 sz="2000" b="1" i="0" u="none" strike="noStrike" cap="none" spc="0">
                          <a:solidFill>
                            <a:srgbClr val="1B1C1D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Authors &amp; Year</a:t>
                      </a:r>
                      <a:endParaRPr lang="en-US" sz="2000">
                        <a:latin typeface="Times New Roman"/>
                        <a:ea typeface="Calibri"/>
                        <a:cs typeface="Times New Roman"/>
                      </a:endParaRPr>
                    </a:p>
                  </a:txBody>
                  <a:tcPr marL="67837" marR="67837" marT="0" marB="0"/>
                </a:tc>
                <a:tc>
                  <a:txBody>
                    <a:bodyPr/>
                    <a:p>
                      <a:pPr marL="0" marR="0" algn="ctr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2000">
                          <a:latin typeface="Times New Roman"/>
                          <a:ea typeface="Calibri"/>
                          <a:cs typeface="Times New Roman"/>
                        </a:rPr>
                        <a:t>Techniques Used</a:t>
                      </a:r>
                      <a:endParaRPr/>
                    </a:p>
                  </a:txBody>
                  <a:tcPr marL="67838" marR="67838" marT="0" marB="0"/>
                </a:tc>
                <a:tc>
                  <a:txBody>
                    <a:bodyPr/>
                    <a:p>
                      <a:pPr marL="0" marR="0" algn="ctr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2000">
                          <a:latin typeface="Times New Roman"/>
                          <a:ea typeface="Calibri"/>
                          <a:cs typeface="Times New Roman"/>
                        </a:rPr>
                        <a:t>Key Findings</a:t>
                      </a:r>
                      <a:endParaRPr/>
                    </a:p>
                  </a:txBody>
                  <a:tcPr marL="67838" marR="67838" marT="0" marB="0"/>
                </a:tc>
                <a:tc>
                  <a:txBody>
                    <a:bodyPr/>
                    <a:p>
                      <a:pPr marL="0" marR="0" algn="ctr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2000">
                          <a:latin typeface="Times New Roman"/>
                          <a:ea typeface="Calibri"/>
                          <a:cs typeface="Times New Roman"/>
                        </a:rPr>
                        <a:t>Limitations</a:t>
                      </a:r>
                      <a:endParaRPr/>
                    </a:p>
                  </a:txBody>
                  <a:tcPr marL="67838" marR="67838" marT="0" marB="0"/>
                </a:tc>
              </a:tr>
              <a:tr h="1931001">
                <a:tc>
                  <a:txBody>
                    <a:bodyPr/>
                    <a:p>
                      <a:pPr marL="0" marR="0" algn="ctr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600">
                          <a:latin typeface="Times New Roman"/>
                          <a:ea typeface="+mn-ea"/>
                          <a:cs typeface="Times New Roman"/>
                        </a:rPr>
                        <a:t>9</a:t>
                      </a:r>
                      <a:endParaRPr lang="en-US" sz="1600">
                        <a:latin typeface="Times New Roman"/>
                        <a:ea typeface="Calibri"/>
                        <a:cs typeface="Times New Roman"/>
                      </a:endParaRPr>
                    </a:p>
                  </a:txBody>
                  <a:tcPr marL="67838" marR="67838" marT="0" marB="0">
                    <a:solidFill>
                      <a:srgbClr val="C4E1F2"/>
                    </a:solidFill>
                  </a:tcPr>
                </a:tc>
                <a:tc>
                  <a:txBody>
                    <a:bodyPr/>
                    <a:p>
                      <a:pPr marL="0" marR="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Journaling for mental health: A review of the benefits and the role of technology</a:t>
                      </a:r>
                      <a:endParaRPr sz="1600">
                        <a:latin typeface="Times New Roman"/>
                        <a:ea typeface="Calibri"/>
                        <a:cs typeface="Times New Roman"/>
                      </a:endParaRPr>
                    </a:p>
                  </a:txBody>
                  <a:tcPr marL="67838" marR="67838" marT="0" marB="0" anchor="ctr">
                    <a:solidFill>
                      <a:srgbClr val="C4E1F2"/>
                    </a:solidFill>
                  </a:tcPr>
                </a:tc>
                <a:tc>
                  <a:txBody>
                    <a:bodyPr/>
                    <a:p>
                      <a:pPr algn="l">
                        <a:lnSpc>
                          <a:spcPts val="1399"/>
                        </a:lnSpc>
                        <a:defRPr/>
                      </a:pPr>
                      <a:r>
                        <a:rPr lang="en-US" sz="1600" b="0" i="0" u="none" strike="noStrike" cap="none" spc="0">
                          <a:solidFill>
                            <a:srgbClr val="1B1C1D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Krafft, P. M., &amp; El-Nasr, M. S. (2018)</a:t>
                      </a:r>
                      <a:endParaRPr sz="2300">
                        <a:latin typeface="Times New Roman"/>
                        <a:cs typeface="Times New Roman"/>
                      </a:endParaRPr>
                    </a:p>
                    <a:p>
                      <a:pPr>
                        <a:defRPr/>
                      </a:pPr>
                      <a:endParaRPr/>
                    </a:p>
                  </a:txBody>
                  <a:tcPr marL="67837" marR="67837" marT="0" marB="0" anchor="ctr">
                    <a:solidFill>
                      <a:srgbClr val="C4E1F2"/>
                    </a:solidFill>
                  </a:tcPr>
                </a:tc>
                <a:tc>
                  <a:txBody>
                    <a:bodyPr/>
                    <a:p>
                      <a:pPr marL="0" marR="0" algn="just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N/A </a:t>
                      </a:r>
                      <a:endParaRPr sz="1600">
                        <a:latin typeface="Times New Roman"/>
                        <a:ea typeface="Calibri"/>
                        <a:cs typeface="Times New Roman"/>
                      </a:endParaRPr>
                    </a:p>
                  </a:txBody>
                  <a:tcPr marL="67838" marR="67838" marT="0" marB="0" anchor="ctr">
                    <a:solidFill>
                      <a:srgbClr val="C4E1F2"/>
                    </a:solidFill>
                  </a:tcPr>
                </a:tc>
                <a:tc>
                  <a:txBody>
                    <a:bodyPr/>
                    <a:p>
                      <a:pPr marL="0" marR="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Confirms journaling is clinically effective. </a:t>
                      </a:r>
                      <a:r>
                        <a:rPr sz="16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Suggests AI can help by prompting users or identifying themes.</a:t>
                      </a:r>
                      <a:endParaRPr sz="1600">
                        <a:latin typeface="Times New Roman"/>
                        <a:ea typeface="Calibri"/>
                        <a:cs typeface="Times New Roman"/>
                      </a:endParaRPr>
                    </a:p>
                  </a:txBody>
                  <a:tcPr marL="67838" marR="67838" marT="0" marB="0" anchor="ctr">
                    <a:solidFill>
                      <a:srgbClr val="C4E1F2"/>
                    </a:solidFill>
                  </a:tcPr>
                </a:tc>
                <a:tc>
                  <a:txBody>
                    <a:bodyPr/>
                    <a:p>
                      <a:pPr marL="0" marR="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Most "smart journals" only offer prompts or basic sentiment. </a:t>
                      </a:r>
                      <a:r>
                        <a:rPr sz="16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They do not correlate the journal with the user's physical life (activity/sleep).</a:t>
                      </a:r>
                      <a:endParaRPr sz="1600">
                        <a:latin typeface="Times New Roman"/>
                        <a:ea typeface="Calibri"/>
                        <a:cs typeface="Times New Roman"/>
                      </a:endParaRPr>
                    </a:p>
                  </a:txBody>
                  <a:tcPr marL="67838" marR="67838" marT="0" marB="0" anchor="ctr">
                    <a:solidFill>
                      <a:srgbClr val="C4E1F2"/>
                    </a:solidFill>
                  </a:tcPr>
                </a:tc>
              </a:tr>
              <a:tr h="1587788">
                <a:tc>
                  <a:txBody>
                    <a:bodyPr/>
                    <a:p>
                      <a:pPr marL="0" marR="0" algn="ctr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600">
                          <a:latin typeface="Times New Roman"/>
                          <a:ea typeface="+mn-ea"/>
                          <a:cs typeface="Times New Roman"/>
                        </a:rPr>
                        <a:t>10</a:t>
                      </a:r>
                      <a:endParaRPr lang="en-US" sz="1600">
                        <a:latin typeface="Times New Roman"/>
                        <a:ea typeface="Calibri"/>
                        <a:cs typeface="Times New Roman"/>
                      </a:endParaRPr>
                    </a:p>
                  </a:txBody>
                  <a:tcPr marL="67838" marR="67838" marT="0" marB="0"/>
                </a:tc>
                <a:tc>
                  <a:txBody>
                    <a:bodyPr/>
                    <a:p>
                      <a:pPr marL="0" marR="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Wearable sensors for monitoring mental health: A systematic review</a:t>
                      </a:r>
                      <a:endParaRPr sz="1600">
                        <a:latin typeface="Times New Roman"/>
                        <a:ea typeface="Calibri"/>
                        <a:cs typeface="Times New Roman"/>
                      </a:endParaRPr>
                    </a:p>
                  </a:txBody>
                  <a:tcPr marL="67838" marR="67838" marT="0" marB="0"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US" sz="1600" b="0" i="0" u="none" strike="noStrike" cap="none" spc="0">
                          <a:solidFill>
                            <a:srgbClr val="1B1C1D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He, L. et al. (2020)</a:t>
                      </a:r>
                      <a:endParaRPr sz="1600" b="0" i="0" u="non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67837" marR="67837" marT="0" marB="0" anchor="ctr"/>
                </a:tc>
                <a:tc>
                  <a:txBody>
                    <a:bodyPr/>
                    <a:p>
                      <a:pPr marL="0" marR="0" algn="just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N/A</a:t>
                      </a:r>
                      <a:endParaRPr sz="1600">
                        <a:latin typeface="Times New Roman"/>
                        <a:ea typeface="Calibri"/>
                        <a:cs typeface="Times New Roman"/>
                      </a:endParaRPr>
                    </a:p>
                  </a:txBody>
                  <a:tcPr marL="67838" marR="67838" marT="0" marB="0" anchor="ctr"/>
                </a:tc>
                <a:tc>
                  <a:txBody>
                    <a:bodyPr/>
                    <a:p>
                      <a:pPr marL="0" marR="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Comprehensive overview of which sensors map to which conditions (e.g., HRV to stress). </a:t>
                      </a:r>
                      <a:endParaRPr sz="1600">
                        <a:latin typeface="Times New Roman"/>
                        <a:ea typeface="Calibri"/>
                        <a:cs typeface="Times New Roman"/>
                      </a:endParaRPr>
                    </a:p>
                  </a:txBody>
                  <a:tcPr marL="67838" marR="67838" marT="0" marB="0" anchor="ctr"/>
                </a:tc>
                <a:tc>
                  <a:txBody>
                    <a:bodyPr/>
                    <a:p>
                      <a:pPr marL="0" marR="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Highlights that most studies are observational; very few systems use this data for a real-time, actionable feedback loop for the user.</a:t>
                      </a:r>
                      <a:endParaRPr sz="1600">
                        <a:latin typeface="Times New Roman"/>
                        <a:ea typeface="Calibri"/>
                        <a:cs typeface="Times New Roman"/>
                      </a:endParaRPr>
                    </a:p>
                  </a:txBody>
                  <a:tcPr marL="67838" marR="67838" marT="0" marB="0" anchor="ctr"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1417116" name="Title 1"/>
          <p:cNvSpPr>
            <a:spLocks noGrp="1"/>
          </p:cNvSpPr>
          <p:nvPr>
            <p:ph type="title"/>
          </p:nvPr>
        </p:nvSpPr>
        <p:spPr bwMode="auto">
          <a:xfrm>
            <a:off x="0" y="0"/>
            <a:ext cx="12801600" cy="1512146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</p:spPr>
        <p:txBody>
          <a:bodyPr vert="horz" lIns="114945" tIns="57473" rIns="114945" bIns="57473" rtlCol="0" anchor="ctr">
            <a:normAutofit/>
          </a:bodyPr>
          <a:lstStyle/>
          <a:p>
            <a:pPr>
              <a:defRPr/>
            </a:pPr>
            <a:r>
              <a:rPr lang="en-US" sz="3700" b="1">
                <a:solidFill>
                  <a:schemeClr val="bg1"/>
                </a:solidFill>
                <a:latin typeface="Times New Roman"/>
                <a:cs typeface="Times New Roman"/>
              </a:rPr>
              <a:t>4. RESEARCH GAPS</a:t>
            </a:r>
            <a:endParaRPr lang="en-GB" sz="3700" b="1">
              <a:solidFill>
                <a:schemeClr val="bg1"/>
              </a:solidFill>
              <a:latin typeface="Times New Roman"/>
              <a:cs typeface="Times New Roman"/>
            </a:endParaRPr>
          </a:p>
        </p:txBody>
      </p:sp>
      <p:sp>
        <p:nvSpPr>
          <p:cNvPr id="2105331735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02A2637-A5A3-49FA-B214-6E67543099EF}" type="slidenum">
              <a:rPr lang="en-US"/>
              <a:t>8</a:t>
            </a:fld>
            <a:endParaRPr lang="en-US"/>
          </a:p>
        </p:txBody>
      </p:sp>
      <p:sp>
        <p:nvSpPr>
          <p:cNvPr id="600086714" name=""/>
          <p:cNvSpPr/>
          <p:nvPr/>
        </p:nvSpPr>
        <p:spPr bwMode="auto">
          <a:xfrm flipH="0" flipV="0">
            <a:off x="928270" y="2026594"/>
            <a:ext cx="10946135" cy="2615544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 marL="349965" indent="-349965">
              <a:lnSpc>
                <a:spcPct val="114999"/>
              </a:lnSpc>
              <a:buFont typeface="Arial"/>
              <a:buChar char="•"/>
              <a:defRPr/>
            </a:pPr>
            <a:r>
              <a:rPr sz="24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The Personalization Gap (n-of-1):</a:t>
            </a:r>
            <a:r>
              <a:rPr sz="24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Most systems analyze population-level data; few provide individual-specific correlation models</a:t>
            </a:r>
            <a:r>
              <a:rPr sz="24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.</a:t>
            </a:r>
            <a:endParaRPr sz="2400" b="0" i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  <a:p>
            <a:pPr marL="349965" indent="-349965">
              <a:lnSpc>
                <a:spcPct val="114999"/>
              </a:lnSpc>
              <a:buFont typeface="Arial"/>
              <a:buChar char="•"/>
              <a:defRPr/>
            </a:pPr>
            <a:r>
              <a:rPr sz="24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The Integration Gap:</a:t>
            </a:r>
            <a:r>
              <a:rPr sz="24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Commercial systems silo wearable activity data and mental health journaling</a:t>
            </a:r>
            <a:r>
              <a:rPr sz="24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.</a:t>
            </a:r>
            <a:endParaRPr sz="2400" b="0" i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  <a:p>
            <a:pPr marL="349965" indent="-349965">
              <a:lnSpc>
                <a:spcPct val="114999"/>
              </a:lnSpc>
              <a:buFont typeface="Arial"/>
              <a:buChar char="•"/>
              <a:defRPr/>
            </a:pPr>
            <a:r>
              <a:rPr sz="24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The Actionability Gap:</a:t>
            </a:r>
            <a:r>
              <a:rPr sz="24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Research often ends at statistical findings without providing a "closed-loop" actionable feedback UI for the end-user</a:t>
            </a:r>
            <a:endParaRPr sz="2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9592886" name="Title 1"/>
          <p:cNvSpPr>
            <a:spLocks noGrp="1"/>
          </p:cNvSpPr>
          <p:nvPr>
            <p:ph type="title"/>
          </p:nvPr>
        </p:nvSpPr>
        <p:spPr bwMode="auto">
          <a:xfrm>
            <a:off x="0" y="0"/>
            <a:ext cx="12801600" cy="1512146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</p:spPr>
        <p:txBody>
          <a:bodyPr vert="horz" lIns="114945" tIns="57473" rIns="114945" bIns="57473" rtlCol="0" anchor="ctr">
            <a:normAutofit/>
          </a:bodyPr>
          <a:lstStyle/>
          <a:p>
            <a:pPr>
              <a:defRPr/>
            </a:pPr>
            <a:r>
              <a:rPr lang="en-GB" sz="3700" b="1">
                <a:solidFill>
                  <a:schemeClr val="bg1"/>
                </a:solidFill>
                <a:latin typeface="Times New Roman"/>
                <a:cs typeface="Times New Roman"/>
              </a:rPr>
              <a:t>5. OBJECTIVES</a:t>
            </a:r>
            <a:endParaRPr/>
          </a:p>
        </p:txBody>
      </p:sp>
      <p:sp>
        <p:nvSpPr>
          <p:cNvPr id="5284059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02A2637-A5A3-49FA-B214-6E67543099EF}" type="slidenum">
              <a:rPr lang="en-US"/>
              <a:t>9</a:t>
            </a:fld>
            <a:endParaRPr lang="en-US"/>
          </a:p>
        </p:txBody>
      </p:sp>
      <p:sp>
        <p:nvSpPr>
          <p:cNvPr id="2106990806" name=""/>
          <p:cNvSpPr/>
          <p:nvPr/>
        </p:nvSpPr>
        <p:spPr bwMode="auto">
          <a:xfrm flipH="0" flipV="0">
            <a:off x="951792" y="1965778"/>
            <a:ext cx="10901610" cy="3036168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 marL="349965" indent="-349965">
              <a:lnSpc>
                <a:spcPct val="114999"/>
              </a:lnSpc>
              <a:buFont typeface="Arial"/>
              <a:buChar char="•"/>
              <a:defRPr/>
            </a:pPr>
            <a:r>
              <a:rPr sz="24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Develop</a:t>
            </a:r>
            <a:r>
              <a:rPr sz="24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a unified React Native mobile app integrating subjective journals with objective Health Connect data</a:t>
            </a:r>
            <a:r>
              <a:rPr sz="24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.</a:t>
            </a:r>
            <a:endParaRPr sz="2400" b="0" i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  <a:p>
            <a:pPr marL="349965" indent="-349965">
              <a:lnSpc>
                <a:spcPct val="114999"/>
              </a:lnSpc>
              <a:buFont typeface="Arial"/>
              <a:buChar char="•"/>
              <a:defRPr/>
            </a:pPr>
            <a:r>
              <a:rPr sz="24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Implement</a:t>
            </a:r>
            <a:r>
              <a:rPr sz="24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an NLP sentiment model (VADER) to accurately quantify emotional valence from unstructured text</a:t>
            </a:r>
            <a:r>
              <a:rPr sz="24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.</a:t>
            </a:r>
            <a:endParaRPr sz="2400" b="0" i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  <a:p>
            <a:pPr marL="349965" indent="-349965">
              <a:lnSpc>
                <a:spcPct val="114999"/>
              </a:lnSpc>
              <a:buFont typeface="Arial"/>
              <a:buChar char="•"/>
              <a:defRPr/>
            </a:pPr>
            <a:r>
              <a:rPr sz="24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Apply</a:t>
            </a:r>
            <a:r>
              <a:rPr sz="24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an n-of-1 Machine Learning correlation model (Random Forest) to rank the personalized impact of physical metrics on mood</a:t>
            </a:r>
            <a:r>
              <a:rPr sz="24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.</a:t>
            </a:r>
            <a:endParaRPr sz="2400" b="0" i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  <a:p>
            <a:pPr marL="349965" indent="-349965">
              <a:lnSpc>
                <a:spcPct val="114999"/>
              </a:lnSpc>
              <a:buFont typeface="Arial"/>
              <a:buChar char="•"/>
              <a:defRPr/>
            </a:pPr>
            <a:r>
              <a:rPr sz="24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Create</a:t>
            </a:r>
            <a:r>
              <a:rPr sz="24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a transparent feedback loop to present these insights in an actionable format</a:t>
            </a:r>
            <a:r>
              <a:rPr sz="24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.</a:t>
            </a:r>
            <a:endParaRPr sz="2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3261535" name="Title 1"/>
          <p:cNvSpPr>
            <a:spLocks noGrp="1"/>
          </p:cNvSpPr>
          <p:nvPr>
            <p:ph type="title"/>
          </p:nvPr>
        </p:nvSpPr>
        <p:spPr bwMode="auto">
          <a:xfrm>
            <a:off x="0" y="0"/>
            <a:ext cx="12801600" cy="1512146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</p:spPr>
        <p:txBody>
          <a:bodyPr>
            <a:normAutofit/>
          </a:bodyPr>
          <a:lstStyle/>
          <a:p>
            <a:pPr>
              <a:defRPr/>
            </a:pPr>
            <a:r>
              <a:rPr lang="en-US" sz="3700" b="1">
                <a:solidFill>
                  <a:schemeClr val="bg1"/>
                </a:solidFill>
                <a:latin typeface="Times New Roman"/>
                <a:cs typeface="Times New Roman"/>
              </a:rPr>
              <a:t>6. MODULE IDENTIFICATION</a:t>
            </a:r>
            <a:endParaRPr/>
          </a:p>
        </p:txBody>
      </p:sp>
      <p:sp>
        <p:nvSpPr>
          <p:cNvPr id="1178775519" name="Content Placeholder 2"/>
          <p:cNvSpPr>
            <a:spLocks noGrp="1"/>
          </p:cNvSpPr>
          <p:nvPr>
            <p:ph idx="1"/>
          </p:nvPr>
        </p:nvSpPr>
        <p:spPr bwMode="auto"/>
        <p:txBody>
          <a:bodyPr>
            <a:normAutofit/>
          </a:bodyPr>
          <a:lstStyle/>
          <a:p>
            <a:pPr>
              <a:lnSpc>
                <a:spcPct val="114999"/>
              </a:lnSpc>
              <a:defRPr/>
            </a:pPr>
            <a:r>
              <a:rPr sz="24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Module 1: Data Acquisition Layer (Frontend):</a:t>
            </a:r>
            <a:r>
              <a:rPr sz="24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React Native UI. Responsible for pulling Health Connect metrics (Steps, Sleep) and capturing unstructured journal text.</a:t>
            </a:r>
            <a:endParaRPr sz="2400"/>
          </a:p>
          <a:p>
            <a:pPr>
              <a:lnSpc>
                <a:spcPct val="114999"/>
              </a:lnSpc>
              <a:defRPr/>
            </a:pPr>
            <a:r>
              <a:rPr sz="24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Module 2: NLP Engine (Backend):</a:t>
            </a:r>
            <a:r>
              <a:rPr sz="24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Utilizes NLTK VADER. Segments paragraphs, performs sentence-level sentiment scoring, and extracts POS (Part-of-Speech) themes.</a:t>
            </a:r>
            <a:endParaRPr sz="2400"/>
          </a:p>
          <a:p>
            <a:pPr>
              <a:lnSpc>
                <a:spcPct val="114999"/>
              </a:lnSpc>
              <a:defRPr/>
            </a:pPr>
            <a:r>
              <a:rPr sz="24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Module 3: ML Correlation Engine:</a:t>
            </a:r>
            <a:r>
              <a:rPr sz="24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Fuses data by date. Uses a Random Forest Classifier with Dynamic SMOTE to determine "Top Feature" importances.</a:t>
            </a:r>
            <a:endParaRPr sz="2400"/>
          </a:p>
          <a:p>
            <a:pPr>
              <a:lnSpc>
                <a:spcPct val="114999"/>
              </a:lnSpc>
              <a:defRPr/>
            </a:pPr>
            <a:r>
              <a:rPr sz="24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Module 4: Insight Generation &amp; Presentation:</a:t>
            </a:r>
            <a:r>
              <a:rPr sz="24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Evaluates ML output and serves a formatted JSON payload back to the mobile Insights Dashboard.</a:t>
            </a:r>
            <a:endParaRPr sz="2400"/>
          </a:p>
        </p:txBody>
      </p:sp>
      <p:sp>
        <p:nvSpPr>
          <p:cNvPr id="348811067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02A2637-A5A3-49FA-B214-6E67543099EF}" type="slidenum">
              <a:rPr lang="en-US"/>
              <a:t>10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525923" name="Title 1"/>
          <p:cNvSpPr>
            <a:spLocks noGrp="1"/>
          </p:cNvSpPr>
          <p:nvPr>
            <p:ph type="title"/>
          </p:nvPr>
        </p:nvSpPr>
        <p:spPr bwMode="auto">
          <a:xfrm>
            <a:off x="0" y="0"/>
            <a:ext cx="12801600" cy="1512146"/>
          </a:xfrm>
          <a:prstGeom prst="rect">
            <a:avLst/>
          </a:prstGeom>
          <a:solidFill>
            <a:srgbClr val="558ED5"/>
          </a:solidFill>
        </p:spPr>
        <p:txBody>
          <a:bodyPr/>
          <a:lstStyle/>
          <a:p>
            <a:pPr>
              <a:defRPr/>
            </a:pPr>
            <a:r>
              <a:rPr lang="en-US" sz="3700" b="1">
                <a:solidFill>
                  <a:schemeClr val="bg1"/>
                </a:solidFill>
                <a:latin typeface="Times New Roman"/>
                <a:cs typeface="Times New Roman"/>
              </a:rPr>
              <a:t>7. SYSTEM ARCHITECTURE</a:t>
            </a:r>
            <a:endParaRPr/>
          </a:p>
        </p:txBody>
      </p:sp>
      <p:sp>
        <p:nvSpPr>
          <p:cNvPr id="462004350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02A2637-A5A3-49FA-B214-6E67543099EF}" type="slidenum">
              <a:rPr lang="en-US"/>
              <a:t>11</a:t>
            </a:fld>
            <a:endParaRPr lang="en-US"/>
          </a:p>
        </p:txBody>
      </p:sp>
      <p:pic>
        <p:nvPicPr>
          <p:cNvPr id="1043822411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0" y="1771649"/>
            <a:ext cx="12801600" cy="487934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2072830" name="Title 1"/>
          <p:cNvSpPr>
            <a:spLocks noGrp="1"/>
          </p:cNvSpPr>
          <p:nvPr>
            <p:ph type="title"/>
          </p:nvPr>
        </p:nvSpPr>
        <p:spPr bwMode="auto">
          <a:xfrm>
            <a:off x="0" y="0"/>
            <a:ext cx="12801600" cy="1512146"/>
          </a:xfrm>
          <a:prstGeom prst="rect">
            <a:avLst/>
          </a:prstGeom>
          <a:solidFill>
            <a:srgbClr val="558ED5"/>
          </a:solidFill>
        </p:spPr>
        <p:txBody>
          <a:bodyPr/>
          <a:lstStyle/>
          <a:p>
            <a:pPr>
              <a:defRPr/>
            </a:pPr>
            <a:r>
              <a:rPr lang="en-US" sz="3700" b="1">
                <a:solidFill>
                  <a:schemeClr val="bg1"/>
                </a:solidFill>
                <a:latin typeface="Times New Roman"/>
                <a:cs typeface="Times New Roman"/>
              </a:rPr>
              <a:t>8. DEVELOPMENT &amp; INTEGRATION</a:t>
            </a:r>
            <a:endParaRPr/>
          </a:p>
        </p:txBody>
      </p:sp>
      <p:sp>
        <p:nvSpPr>
          <p:cNvPr id="842853314" name="Content Placeholder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114944" tIns="57472" rIns="114944" bIns="57472" numCol="1" spcCol="0" rtlCol="0" fromWordArt="0" anchor="t" anchorCtr="0" forceAA="0" upright="0" compatLnSpc="0">
            <a:normAutofit/>
          </a:bodyPr>
          <a:lstStyle/>
          <a:p>
            <a:pPr>
              <a:lnSpc>
                <a:spcPct val="114999"/>
              </a:lnSpc>
              <a:defRPr/>
            </a:pPr>
            <a:r>
              <a:rPr sz="24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Implementation:</a:t>
            </a:r>
            <a:r>
              <a:rPr sz="24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Client built as a standalone Android APK. Backend hosted locally via FastAPI.</a:t>
            </a:r>
            <a:endParaRPr sz="2400">
              <a:latin typeface="Times New Roman"/>
              <a:cs typeface="Times New Roman"/>
            </a:endParaRPr>
          </a:p>
          <a:p>
            <a:pPr>
              <a:lnSpc>
                <a:spcPct val="114999"/>
              </a:lnSpc>
              <a:defRPr/>
            </a:pPr>
            <a:r>
              <a:rPr sz="24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Integration Strategy:</a:t>
            </a:r>
            <a:r>
              <a:rPr sz="24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Bridged via asynchronous REST API calls (</a:t>
            </a:r>
            <a:r>
              <a:rPr sz="24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POST /analyze-journal</a:t>
            </a:r>
            <a:r>
              <a:rPr sz="24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, </a:t>
            </a:r>
            <a:r>
              <a:rPr sz="24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GET /get-insight</a:t>
            </a:r>
            <a:r>
              <a:rPr sz="24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) using JSON payloads.</a:t>
            </a:r>
            <a:endParaRPr sz="2400">
              <a:latin typeface="Times New Roman"/>
              <a:cs typeface="Times New Roman"/>
            </a:endParaRPr>
          </a:p>
          <a:p>
            <a:pPr marL="0" indent="0">
              <a:lnSpc>
                <a:spcPct val="114999"/>
              </a:lnSpc>
              <a:buFont typeface="Arial"/>
              <a:buNone/>
              <a:defRPr/>
            </a:pPr>
            <a:r>
              <a:rPr sz="24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Challenges &amp; Solutions:</a:t>
            </a:r>
            <a:r>
              <a:rPr sz="24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</a:t>
            </a:r>
            <a:endParaRPr sz="2400" b="0" i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  <a:p>
            <a:pPr>
              <a:lnSpc>
                <a:spcPct val="114999"/>
              </a:lnSpc>
              <a:defRPr/>
            </a:pPr>
            <a:r>
              <a:rPr sz="2400" b="1" i="1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Challenge 1 (Sentiment Dilution):</a:t>
            </a:r>
            <a:r>
              <a:rPr sz="24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sz="24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Long journal entries with neutral filler words heavily diluted mood scores. </a:t>
            </a:r>
            <a:r>
              <a:rPr sz="2400" b="0" i="1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Solution:</a:t>
            </a:r>
            <a:r>
              <a:rPr sz="24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Implemented sentence-by-sentence processing, ignoring neutral sentences to maintain emotional accuracy.</a:t>
            </a:r>
            <a:endParaRPr sz="2400">
              <a:latin typeface="Times New Roman"/>
              <a:cs typeface="Times New Roman"/>
            </a:endParaRPr>
          </a:p>
          <a:p>
            <a:pPr>
              <a:lnSpc>
                <a:spcPct val="114999"/>
              </a:lnSpc>
              <a:defRPr/>
            </a:pPr>
            <a:r>
              <a:rPr sz="2400" b="1" i="1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Challenge 2 (Sparse ML Data):</a:t>
            </a:r>
            <a:r>
              <a:rPr sz="24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Users with less than 7 days of data caused the Random Forest to crash. </a:t>
            </a:r>
            <a:r>
              <a:rPr sz="2400" b="0" i="1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Solution:</a:t>
            </a:r>
            <a:r>
              <a:rPr sz="24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Implemented "Defensive Programming" to catch zero-variance and sparse data, returning graceful UI warnings instead of app crashes.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1871039273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02A2637-A5A3-49FA-B214-6E67543099EF}" type="slidenum">
              <a:rPr lang="en-US"/>
              <a:t>12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6203463" name="Title 1"/>
          <p:cNvSpPr>
            <a:spLocks noGrp="1"/>
          </p:cNvSpPr>
          <p:nvPr>
            <p:ph type="title"/>
          </p:nvPr>
        </p:nvSpPr>
        <p:spPr bwMode="auto">
          <a:xfrm>
            <a:off x="0" y="0"/>
            <a:ext cx="12801600" cy="1512146"/>
          </a:xfrm>
          <a:prstGeom prst="rect">
            <a:avLst/>
          </a:prstGeom>
          <a:solidFill>
            <a:srgbClr val="558ED5"/>
          </a:solidFill>
        </p:spPr>
        <p:txBody>
          <a:bodyPr/>
          <a:lstStyle/>
          <a:p>
            <a:pPr>
              <a:defRPr/>
            </a:pPr>
            <a:r>
              <a:rPr lang="en-US" sz="3700" b="1">
                <a:solidFill>
                  <a:schemeClr val="bg1"/>
                </a:solidFill>
                <a:latin typeface="Times New Roman"/>
                <a:cs typeface="Times New Roman"/>
              </a:rPr>
              <a:t>9. PROTOTYPE / RESEARCH FRAMEWORK</a:t>
            </a:r>
            <a:endParaRPr/>
          </a:p>
        </p:txBody>
      </p:sp>
      <p:sp>
        <p:nvSpPr>
          <p:cNvPr id="1731640242" name="Content Placeholder 2"/>
          <p:cNvSpPr>
            <a:spLocks noGrp="1"/>
          </p:cNvSpPr>
          <p:nvPr>
            <p:ph idx="1"/>
          </p:nvPr>
        </p:nvSpPr>
        <p:spPr bwMode="auto"/>
        <p:txBody>
          <a:bodyPr>
            <a:normAutofit/>
          </a:bodyPr>
          <a:lstStyle/>
          <a:p>
            <a:pPr>
              <a:lnSpc>
                <a:spcPct val="114999"/>
              </a:lnSpc>
              <a:defRPr/>
            </a:pPr>
            <a:r>
              <a:rPr sz="24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Working Prototype:</a:t>
            </a:r>
            <a:r>
              <a:rPr sz="24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The system is a fully functional, compiled standalone Android application (APK).</a:t>
            </a:r>
            <a:endParaRPr sz="2400"/>
          </a:p>
          <a:p>
            <a:pPr>
              <a:lnSpc>
                <a:spcPct val="114999"/>
              </a:lnSpc>
              <a:defRPr/>
            </a:pPr>
            <a:r>
              <a:rPr sz="24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It securely reads live physiological data from the device and features a locally hosted Python intelligence layer.</a:t>
            </a:r>
            <a:endParaRPr sz="2400"/>
          </a:p>
          <a:p>
            <a:pPr>
              <a:lnSpc>
                <a:spcPct val="114999"/>
              </a:lnSpc>
              <a:defRPr/>
            </a:pPr>
            <a:r>
              <a:rPr sz="24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Validation Framework:</a:t>
            </a:r>
            <a:r>
              <a:rPr sz="24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To prove the n-of-1 ML architecture handles diverse edge-cases, a "Synthetic Validation Suite" (Participants P01 - P16) was engineered to test the backend's response to ideal data, zero-variance data, and sparse data.</a:t>
            </a:r>
            <a:endParaRPr sz="2400"/>
          </a:p>
        </p:txBody>
      </p:sp>
      <p:sp>
        <p:nvSpPr>
          <p:cNvPr id="483518252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02A2637-A5A3-49FA-B214-6E67543099EF}" type="slidenum">
              <a:rPr lang="en-US"/>
              <a:t>13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7463864" name="Title 1"/>
          <p:cNvSpPr>
            <a:spLocks noGrp="1"/>
          </p:cNvSpPr>
          <p:nvPr>
            <p:ph type="title"/>
          </p:nvPr>
        </p:nvSpPr>
        <p:spPr bwMode="auto">
          <a:xfrm>
            <a:off x="0" y="0"/>
            <a:ext cx="12801600" cy="1512146"/>
          </a:xfrm>
          <a:prstGeom prst="rect">
            <a:avLst/>
          </a:prstGeom>
          <a:solidFill>
            <a:srgbClr val="558ED5"/>
          </a:solidFill>
        </p:spPr>
        <p:txBody>
          <a:bodyPr/>
          <a:lstStyle/>
          <a:p>
            <a:pPr>
              <a:defRPr/>
            </a:pPr>
            <a:r>
              <a:rPr lang="en-US" sz="3700" b="1">
                <a:solidFill>
                  <a:schemeClr val="bg1"/>
                </a:solidFill>
                <a:latin typeface="Times New Roman"/>
                <a:cs typeface="Times New Roman"/>
              </a:rPr>
              <a:t>10. OUTCOME</a:t>
            </a:r>
            <a:endParaRPr/>
          </a:p>
        </p:txBody>
      </p:sp>
      <p:sp>
        <p:nvSpPr>
          <p:cNvPr id="797019951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02A2637-A5A3-49FA-B214-6E67543099EF}" type="slidenum">
              <a:rPr lang="en-US"/>
              <a:t>14</a:t>
            </a:fld>
            <a:endParaRPr lang="en-US"/>
          </a:p>
        </p:txBody>
      </p:sp>
      <p:pic>
        <p:nvPicPr>
          <p:cNvPr id="989148204" name=""/>
          <p:cNvPicPr>
            <a:picLocks noChangeAspect="1"/>
          </p:cNvPicPr>
          <p:nvPr/>
        </p:nvPicPr>
        <p:blipFill rotWithShape="1">
          <a:blip r:embed="rId3"/>
          <a:srcRect l="0" t="2935" r="0" b="0"/>
          <a:stretch/>
        </p:blipFill>
        <p:spPr bwMode="auto">
          <a:xfrm flipH="0" flipV="0">
            <a:off x="115835" y="1689159"/>
            <a:ext cx="2293291" cy="5291530"/>
          </a:xfrm>
          <a:prstGeom prst="rect">
            <a:avLst/>
          </a:prstGeom>
        </p:spPr>
      </p:pic>
      <p:pic>
        <p:nvPicPr>
          <p:cNvPr id="418896275" name=""/>
          <p:cNvPicPr>
            <a:picLocks noChangeAspect="1"/>
          </p:cNvPicPr>
          <p:nvPr/>
        </p:nvPicPr>
        <p:blipFill rotWithShape="1">
          <a:blip r:embed="rId4"/>
          <a:srcRect l="0" t="1872" r="0" b="34923"/>
          <a:stretch/>
        </p:blipFill>
        <p:spPr bwMode="auto">
          <a:xfrm flipH="0" flipV="0">
            <a:off x="2511496" y="1689159"/>
            <a:ext cx="2171050" cy="5291531"/>
          </a:xfrm>
          <a:prstGeom prst="rect">
            <a:avLst/>
          </a:prstGeom>
        </p:spPr>
      </p:pic>
      <p:pic>
        <p:nvPicPr>
          <p:cNvPr id="1802108541" name=""/>
          <p:cNvPicPr>
            <a:picLocks noChangeAspect="1"/>
          </p:cNvPicPr>
          <p:nvPr/>
        </p:nvPicPr>
        <p:blipFill rotWithShape="1">
          <a:blip r:embed="rId5"/>
          <a:srcRect l="0" t="2119" r="0" b="35417"/>
          <a:stretch/>
        </p:blipFill>
        <p:spPr bwMode="auto">
          <a:xfrm flipH="0" flipV="0">
            <a:off x="7549018" y="1718035"/>
            <a:ext cx="2372278" cy="5300516"/>
          </a:xfrm>
          <a:prstGeom prst="rect">
            <a:avLst/>
          </a:prstGeom>
        </p:spPr>
      </p:pic>
      <p:pic>
        <p:nvPicPr>
          <p:cNvPr id="1590408338" name=""/>
          <p:cNvPicPr>
            <a:picLocks noChangeAspect="1"/>
          </p:cNvPicPr>
          <p:nvPr/>
        </p:nvPicPr>
        <p:blipFill rotWithShape="1">
          <a:blip r:embed="rId5"/>
          <a:srcRect l="0" t="64252" r="0" b="0"/>
          <a:stretch/>
        </p:blipFill>
        <p:spPr bwMode="auto">
          <a:xfrm flipH="0" flipV="0">
            <a:off x="10082667" y="1718035"/>
            <a:ext cx="2507426" cy="3680330"/>
          </a:xfrm>
          <a:prstGeom prst="rect">
            <a:avLst/>
          </a:prstGeom>
        </p:spPr>
      </p:pic>
      <p:pic>
        <p:nvPicPr>
          <p:cNvPr id="36047255" name=""/>
          <p:cNvPicPr>
            <a:picLocks noChangeAspect="1"/>
          </p:cNvPicPr>
          <p:nvPr/>
        </p:nvPicPr>
        <p:blipFill rotWithShape="1">
          <a:blip r:embed="rId4"/>
          <a:srcRect l="0" t="64946" r="0" b="0"/>
          <a:stretch/>
        </p:blipFill>
        <p:spPr bwMode="auto">
          <a:xfrm flipH="0" flipV="0">
            <a:off x="4916179" y="1718035"/>
            <a:ext cx="2435164" cy="382186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928738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402639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513BC5EB-C8FC-C657-DBEA-F86D981C5042}" type="slidenum">
              <a:rPr lang="en-US"/>
              <a:t/>
            </a:fld>
            <a:endParaRPr lang="en-US"/>
          </a:p>
        </p:txBody>
      </p:sp>
      <p:sp>
        <p:nvSpPr>
          <p:cNvPr id="2042428133" name="Title 1"/>
          <p:cNvSpPr>
            <a:spLocks noGrp="1"/>
          </p:cNvSpPr>
          <p:nvPr/>
        </p:nvSpPr>
        <p:spPr bwMode="auto">
          <a:xfrm>
            <a:off x="0" y="0"/>
            <a:ext cx="12801600" cy="1512145"/>
          </a:xfrm>
          <a:prstGeom prst="rect">
            <a:avLst/>
          </a:prstGeom>
          <a:solidFill>
            <a:srgbClr val="558ED5"/>
          </a:solidFill>
        </p:spPr>
        <p:txBody>
          <a:bodyPr vert="horz" lIns="114944" tIns="57472" rIns="114944" bIns="57472" rtlCol="0" anchor="ctr">
            <a:normAutofit/>
          </a:bodyPr>
          <a:lstStyle>
            <a:lvl1pPr algn="ctr" defTabSz="1149447" rtl="0">
              <a:spcBef>
                <a:spcPts val="0"/>
              </a:spcBef>
              <a:buNone/>
              <a:defRPr sz="55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n-US" sz="3700" b="1">
                <a:solidFill>
                  <a:schemeClr val="bg1"/>
                </a:solidFill>
                <a:latin typeface="Times New Roman"/>
                <a:cs typeface="Times New Roman"/>
              </a:rPr>
              <a:t>OUTCOME</a:t>
            </a:r>
            <a:r>
              <a:rPr lang="en-IN"/>
              <a:t> </a:t>
            </a:r>
            <a:r>
              <a:rPr lang="en-IN" sz="3700" b="1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(CONTD..)</a:t>
            </a:r>
            <a:endParaRPr>
              <a:solidFill>
                <a:schemeClr val="bg1"/>
              </a:solidFill>
            </a:endParaRPr>
          </a:p>
        </p:txBody>
      </p:sp>
      <p:pic>
        <p:nvPicPr>
          <p:cNvPr id="835713011" name=""/>
          <p:cNvPicPr>
            <a:picLocks noChangeAspect="1"/>
          </p:cNvPicPr>
          <p:nvPr/>
        </p:nvPicPr>
        <p:blipFill rotWithShape="1">
          <a:blip r:embed="rId3"/>
          <a:srcRect l="0" t="2431" r="0" b="38714"/>
          <a:stretch/>
        </p:blipFill>
        <p:spPr bwMode="auto">
          <a:xfrm flipH="0" flipV="0">
            <a:off x="488234" y="1602298"/>
            <a:ext cx="2794435" cy="5177670"/>
          </a:xfrm>
          <a:prstGeom prst="rect">
            <a:avLst/>
          </a:prstGeom>
        </p:spPr>
      </p:pic>
      <p:pic>
        <p:nvPicPr>
          <p:cNvPr id="1601068407" name=""/>
          <p:cNvPicPr>
            <a:picLocks noChangeAspect="1"/>
          </p:cNvPicPr>
          <p:nvPr/>
        </p:nvPicPr>
        <p:blipFill rotWithShape="1">
          <a:blip r:embed="rId4"/>
          <a:srcRect l="0" t="3574" r="0" b="0"/>
          <a:stretch/>
        </p:blipFill>
        <p:spPr bwMode="auto">
          <a:xfrm flipH="0" flipV="0">
            <a:off x="9344311" y="1583247"/>
            <a:ext cx="2823447" cy="5256665"/>
          </a:xfrm>
          <a:prstGeom prst="rect">
            <a:avLst/>
          </a:prstGeom>
        </p:spPr>
      </p:pic>
      <p:pic>
        <p:nvPicPr>
          <p:cNvPr id="1114503552" name=""/>
          <p:cNvPicPr>
            <a:picLocks noChangeAspect="1"/>
          </p:cNvPicPr>
          <p:nvPr/>
        </p:nvPicPr>
        <p:blipFill rotWithShape="1">
          <a:blip r:embed="rId3"/>
          <a:srcRect l="0" t="61110" r="0" b="0"/>
          <a:stretch/>
        </p:blipFill>
        <p:spPr bwMode="auto">
          <a:xfrm flipH="0" flipV="0">
            <a:off x="3399289" y="1583247"/>
            <a:ext cx="2846794" cy="3485396"/>
          </a:xfrm>
          <a:prstGeom prst="rect">
            <a:avLst/>
          </a:prstGeom>
        </p:spPr>
      </p:pic>
      <p:pic>
        <p:nvPicPr>
          <p:cNvPr id="1359688353" name=""/>
          <p:cNvPicPr>
            <a:picLocks noChangeAspect="1"/>
          </p:cNvPicPr>
          <p:nvPr/>
        </p:nvPicPr>
        <p:blipFill rotWithShape="1">
          <a:blip r:embed="rId5"/>
          <a:srcRect l="0" t="3904" r="0" b="0"/>
          <a:stretch/>
        </p:blipFill>
        <p:spPr bwMode="auto">
          <a:xfrm flipH="0" flipV="0">
            <a:off x="6519886" y="1583247"/>
            <a:ext cx="2538768" cy="523869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2989349" name="Title 1"/>
          <p:cNvSpPr>
            <a:spLocks noGrp="1"/>
          </p:cNvSpPr>
          <p:nvPr>
            <p:ph type="title"/>
          </p:nvPr>
        </p:nvSpPr>
        <p:spPr bwMode="auto">
          <a:xfrm>
            <a:off x="0" y="0"/>
            <a:ext cx="12801600" cy="1512146"/>
          </a:xfrm>
          <a:prstGeom prst="rect">
            <a:avLst/>
          </a:prstGeom>
          <a:solidFill>
            <a:srgbClr val="558ED5"/>
          </a:solidFill>
        </p:spPr>
        <p:txBody>
          <a:bodyPr/>
          <a:lstStyle/>
          <a:p>
            <a:pPr>
              <a:defRPr/>
            </a:pPr>
            <a:r>
              <a:rPr lang="en-US" sz="3700" b="1">
                <a:solidFill>
                  <a:schemeClr val="bg1"/>
                </a:solidFill>
                <a:latin typeface="Times New Roman"/>
                <a:cs typeface="Times New Roman"/>
              </a:rPr>
              <a:t>11. RESULTS</a:t>
            </a:r>
            <a:endParaRPr/>
          </a:p>
        </p:txBody>
      </p:sp>
      <p:sp>
        <p:nvSpPr>
          <p:cNvPr id="2124804764" name="Content Placeholder 2"/>
          <p:cNvSpPr>
            <a:spLocks noGrp="1"/>
          </p:cNvSpPr>
          <p:nvPr>
            <p:ph idx="1"/>
          </p:nvPr>
        </p:nvSpPr>
        <p:spPr bwMode="auto"/>
        <p:txBody>
          <a:bodyPr>
            <a:normAutofit/>
          </a:bodyPr>
          <a:lstStyle/>
          <a:p>
            <a:pPr>
              <a:lnSpc>
                <a:spcPct val="114999"/>
              </a:lnSpc>
              <a:defRPr/>
            </a:pPr>
            <a:r>
              <a:rPr sz="24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Performance:</a:t>
            </a:r>
            <a:r>
              <a:rPr sz="24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The VADER NLP pipeline processes multi-paragraph entries in milliseconds, suitable for real-time mobile UX.</a:t>
            </a:r>
            <a:endParaRPr sz="2400"/>
          </a:p>
          <a:p>
            <a:pPr>
              <a:lnSpc>
                <a:spcPct val="114999"/>
              </a:lnSpc>
              <a:defRPr/>
            </a:pPr>
            <a:r>
              <a:rPr sz="24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Observations:</a:t>
            </a:r>
            <a:r>
              <a:rPr sz="24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The Random Forest model successfully isolates primary drivers (e.g., "sleep score yesterday") from noisy tabular data.</a:t>
            </a:r>
            <a:endParaRPr sz="2400"/>
          </a:p>
          <a:p>
            <a:pPr>
              <a:lnSpc>
                <a:spcPct val="114999"/>
              </a:lnSpc>
              <a:defRPr/>
            </a:pPr>
            <a:r>
              <a:rPr sz="24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Validation:</a:t>
            </a:r>
            <a:r>
              <a:rPr sz="24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The Defensive Programming architecture successfully caught and handled User P12 (Sparse Data - 1 day logged) and User P03 (Zero Variance), proving the system is robust enough for real-world deployment where user data is often imperfect.</a:t>
            </a:r>
            <a:endParaRPr sz="2400"/>
          </a:p>
        </p:txBody>
      </p:sp>
      <p:sp>
        <p:nvSpPr>
          <p:cNvPr id="426740083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02A2637-A5A3-49FA-B214-6E67543099EF}" type="slidenum">
              <a:rPr lang="en-US"/>
              <a:t>15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4769577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-17099" y="-38099"/>
            <a:ext cx="12877799" cy="1550245"/>
          </a:xfrm>
          <a:prstGeom prst="rect">
            <a:avLst/>
          </a:prstGeom>
          <a:solidFill>
            <a:srgbClr val="558ED5"/>
          </a:solidFill>
        </p:spPr>
        <p:txBody>
          <a:bodyPr/>
          <a:lstStyle/>
          <a:p>
            <a:pPr>
              <a:defRPr/>
            </a:pPr>
            <a:r>
              <a:rPr lang="en-US" sz="3700" b="1">
                <a:solidFill>
                  <a:schemeClr val="bg1"/>
                </a:solidFill>
                <a:latin typeface="Times New Roman"/>
                <a:cs typeface="Times New Roman"/>
              </a:rPr>
              <a:t>12. TIMELINE / GANTT CHART</a:t>
            </a:r>
            <a:endParaRPr/>
          </a:p>
        </p:txBody>
      </p:sp>
      <p:sp>
        <p:nvSpPr>
          <p:cNvPr id="465781782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02A2637-A5A3-49FA-B214-6E67543099EF}" type="slidenum">
              <a:rPr lang="en-US"/>
              <a:t>16</a:t>
            </a:fld>
            <a:endParaRPr lang="en-US"/>
          </a:p>
        </p:txBody>
      </p:sp>
      <p:sp>
        <p:nvSpPr>
          <p:cNvPr id="1564539902" name="TextBox 2"/>
          <p:cNvSpPr txBox="1"/>
          <p:nvPr/>
        </p:nvSpPr>
        <p:spPr bwMode="auto">
          <a:xfrm>
            <a:off x="761999" y="1981199"/>
            <a:ext cx="11049359" cy="442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endParaRPr/>
          </a:p>
        </p:txBody>
      </p:sp>
      <p:pic>
        <p:nvPicPr>
          <p:cNvPr id="1247439817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-1007256" y="447876"/>
            <a:ext cx="14858114" cy="776842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5121900" name="Title 1"/>
          <p:cNvSpPr>
            <a:spLocks noGrp="1"/>
          </p:cNvSpPr>
          <p:nvPr/>
        </p:nvSpPr>
        <p:spPr bwMode="auto">
          <a:xfrm flipH="0" flipV="0">
            <a:off x="0" y="0"/>
            <a:ext cx="12811398" cy="1832162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>
              <a:spcBef>
                <a:spcPts val="0"/>
              </a:spcBef>
              <a:buNone/>
              <a:defRPr sz="44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ts val="3857"/>
              </a:lnSpc>
              <a:defRPr/>
            </a:pPr>
            <a:r>
              <a:rPr lang="en-US" sz="4800" b="1" i="0" u="none" strike="noStrike" cap="none" spc="0">
                <a:solidFill>
                  <a:srgbClr val="F0F0F0"/>
                </a:solidFill>
                <a:latin typeface="Times New Roman"/>
                <a:ea typeface="Times New Roman"/>
                <a:cs typeface="Times New Roman"/>
              </a:rPr>
              <a:t>REFERENCES</a:t>
            </a:r>
            <a:endParaRPr sz="4800">
              <a:latin typeface="Times New Roman"/>
              <a:cs typeface="Times New Roman"/>
            </a:endParaRPr>
          </a:p>
        </p:txBody>
      </p:sp>
      <p:sp>
        <p:nvSpPr>
          <p:cNvPr id="1056180531" name="TextBox 15"/>
          <p:cNvSpPr txBox="1"/>
          <p:nvPr/>
        </p:nvSpPr>
        <p:spPr bwMode="auto">
          <a:xfrm rot="0" flipH="0" flipV="0">
            <a:off x="412754" y="2053244"/>
            <a:ext cx="12284449" cy="49228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9965" indent="-349965">
              <a:buFont typeface="Arial"/>
              <a:buAutoNum type="arabicPeriod"/>
              <a:defRPr/>
            </a:pPr>
            <a:r>
              <a:rPr sz="17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Rabbi, M., et al. (2015). "MyBehavior: A System for Long-Term Personalized Health Coaching." </a:t>
            </a:r>
            <a:r>
              <a:rPr sz="1700" b="0" i="1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Proceedings of the ACM International Joint Conference on Pervasive and Ubiquitous Computing (UbiComp '15)</a:t>
            </a:r>
            <a:r>
              <a:rPr sz="17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.</a:t>
            </a:r>
            <a:endParaRPr sz="1700"/>
          </a:p>
          <a:p>
            <a:pPr marL="349965" indent="-349965">
              <a:buFont typeface="Arial"/>
              <a:buAutoNum type="arabicPeriod"/>
              <a:defRPr/>
            </a:pPr>
            <a:r>
              <a:rPr sz="17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Hutto, C. J., &amp; Gilbert, E. (2014). "VADER: A Parsimonious Rule-based Model for Sentiment Analysis of Social Media Text." </a:t>
            </a:r>
            <a:r>
              <a:rPr sz="1700" b="0" i="1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Proceedings of the Eighth International AAAI Conference on Weblogs and Social Media (ICWSM '14)</a:t>
            </a:r>
            <a:r>
              <a:rPr sz="17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.</a:t>
            </a:r>
            <a:endParaRPr sz="1700"/>
          </a:p>
          <a:p>
            <a:pPr marL="349965" indent="-349965">
              <a:buFont typeface="Arial"/>
              <a:buAutoNum type="arabicPeriod"/>
              <a:defRPr/>
            </a:pPr>
            <a:r>
              <a:rPr sz="17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M. C., et al. (2019). "n-of-1-path: a path-analysis approach for finding personalized (n-of-1) health effects from time-series data." </a:t>
            </a:r>
            <a:r>
              <a:rPr sz="1700" b="0" i="1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JMIR Mhealth Uhealth</a:t>
            </a:r>
            <a:r>
              <a:rPr sz="17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.</a:t>
            </a:r>
            <a:endParaRPr sz="1700"/>
          </a:p>
          <a:p>
            <a:pPr marL="349965" indent="-349965">
              <a:buFont typeface="Arial"/>
              <a:buAutoNum type="arabicPeriod"/>
              <a:defRPr/>
            </a:pPr>
            <a:r>
              <a:rPr sz="17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C. J., et al. (2024). "Multimodal Machine Learning in Mental Health: A Survey of Data, Algorithms, and Challenges." </a:t>
            </a:r>
            <a:r>
              <a:rPr sz="1700" b="0" i="1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arXiv preprint arXiv:2407.16804</a:t>
            </a:r>
            <a:r>
              <a:rPr sz="17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.</a:t>
            </a:r>
            <a:endParaRPr sz="1700"/>
          </a:p>
          <a:p>
            <a:pPr marL="349965" indent="-349965">
              <a:buFont typeface="Arial"/>
              <a:buAutoNum type="arabicPeriod"/>
              <a:defRPr/>
            </a:pPr>
            <a:r>
              <a:rPr sz="17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Alghowinem, S., et al. (2018). "A Multi-Modal Approach to Depression Detection using Speech, Activity, and Text." </a:t>
            </a:r>
            <a:r>
              <a:rPr sz="1700" b="0" i="1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Proceedings of the International Conference on Multimodal Interaction (ICMI '18)</a:t>
            </a:r>
            <a:r>
              <a:rPr sz="17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.</a:t>
            </a:r>
            <a:endParaRPr sz="1700"/>
          </a:p>
          <a:p>
            <a:pPr marL="349965" indent="-349965">
              <a:buFont typeface="Arial"/>
              <a:buAutoNum type="arabicPeriod"/>
              <a:defRPr/>
            </a:pPr>
            <a:r>
              <a:rPr sz="17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Wang, R., et al. (2014). "StudentLife: Assessing Mental Health, Academic Performance and Behavioral Trends of College Students using Smartphones." </a:t>
            </a:r>
            <a:r>
              <a:rPr sz="1700" b="0" i="1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Proceedings of the ACM International Joint Conference on Pervasive and Ubiquitous Computing (UbiComp '14)</a:t>
            </a:r>
            <a:r>
              <a:rPr sz="17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.</a:t>
            </a:r>
            <a:endParaRPr sz="1700"/>
          </a:p>
          <a:p>
            <a:pPr marL="349965" indent="-349965">
              <a:buFont typeface="Arial"/>
              <a:buAutoNum type="arabicPeriod"/>
              <a:defRPr/>
            </a:pPr>
            <a:r>
              <a:rPr sz="17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C. A. G., et al. (2025). "Understanding User Perceptions of Personalized Feedback in Digital Health Tools." </a:t>
            </a:r>
            <a:r>
              <a:rPr sz="1700" b="0" i="1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ResearchGate</a:t>
            </a:r>
            <a:r>
              <a:rPr sz="17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.</a:t>
            </a:r>
            <a:endParaRPr sz="1700"/>
          </a:p>
          <a:p>
            <a:pPr marL="349965" indent="-349965">
              <a:buFont typeface="Arial"/>
              <a:buAutoNum type="arabicPeriod"/>
              <a:defRPr/>
            </a:pPr>
            <a:r>
              <a:rPr sz="17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B., R. S., et al. (2025). "EMO Diary: Daily Diary with Sentiment Analysis." </a:t>
            </a:r>
            <a:r>
              <a:rPr sz="1700" b="0" i="1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International Journal of Scientific Research and Engineering Trends (IJSRET)</a:t>
            </a:r>
            <a:r>
              <a:rPr sz="17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.</a:t>
            </a:r>
            <a:endParaRPr sz="1700"/>
          </a:p>
          <a:p>
            <a:pPr marL="349965" indent="-349965">
              <a:buFont typeface="Arial"/>
              <a:buAutoNum type="arabicPeriod"/>
              <a:defRPr/>
            </a:pPr>
            <a:r>
              <a:rPr sz="17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Krafft, P. M., &amp; El-Nasr, M. S. (2018). "Journaling for mental health: A review of the benefits and the role of technology." </a:t>
            </a:r>
            <a:r>
              <a:rPr sz="1700" b="0" i="1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ResearchGate</a:t>
            </a:r>
            <a:r>
              <a:rPr sz="17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.</a:t>
            </a:r>
            <a:endParaRPr sz="1700"/>
          </a:p>
          <a:p>
            <a:pPr marL="349965" indent="-349965">
              <a:buFont typeface="Arial"/>
              <a:buAutoNum type="arabicPeriod"/>
              <a:defRPr/>
            </a:pPr>
            <a:r>
              <a:rPr sz="17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He, L., et al. (2020). "Wearable sensors for monitoring mental health: A systematic review." </a:t>
            </a:r>
            <a:r>
              <a:rPr sz="1700" b="0" i="1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IEEE Transactions on Biomedical Engineering</a:t>
            </a:r>
            <a:endParaRPr sz="17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6934299" name="Title 1"/>
          <p:cNvSpPr>
            <a:spLocks noGrp="1"/>
          </p:cNvSpPr>
          <p:nvPr>
            <p:ph type="title"/>
          </p:nvPr>
        </p:nvSpPr>
        <p:spPr bwMode="auto">
          <a:xfrm>
            <a:off x="0" y="0"/>
            <a:ext cx="12801600" cy="1512146"/>
          </a:xfrm>
          <a:prstGeom prst="rect">
            <a:avLst/>
          </a:prstGeom>
          <a:solidFill>
            <a:srgbClr val="558ED5"/>
          </a:solidFill>
        </p:spPr>
        <p:txBody>
          <a:bodyPr>
            <a:normAutofit/>
          </a:bodyPr>
          <a:lstStyle/>
          <a:p>
            <a:pPr>
              <a:defRPr/>
            </a:pPr>
            <a:r>
              <a:rPr lang="en-US" sz="3700" b="1">
                <a:solidFill>
                  <a:schemeClr val="bg1"/>
                </a:solidFill>
                <a:latin typeface="Times New Roman"/>
                <a:cs typeface="Times New Roman"/>
              </a:rPr>
              <a:t>REFERENCES (CONTD..,)</a:t>
            </a:r>
            <a:endParaRPr/>
          </a:p>
        </p:txBody>
      </p:sp>
      <p:sp>
        <p:nvSpPr>
          <p:cNvPr id="754999294" name="Content Placeholder 2"/>
          <p:cNvSpPr>
            <a:spLocks noGrp="1"/>
          </p:cNvSpPr>
          <p:nvPr>
            <p:ph idx="1"/>
          </p:nvPr>
        </p:nvSpPr>
        <p:spPr bwMode="auto"/>
        <p:txBody>
          <a:bodyPr>
            <a:noAutofit/>
          </a:bodyPr>
          <a:lstStyle/>
          <a:p>
            <a:pPr marL="294893" marR="0" indent="-294893" algn="l" defTabSz="1149447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/>
              <a:buAutoNum type="arabicPeriod" startAt="11"/>
              <a:defRPr/>
            </a:pPr>
            <a:r>
              <a:rPr sz="1700" b="0" i="0" u="none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React Native &amp; Expo:</a:t>
            </a:r>
            <a:r>
              <a:rPr sz="1700" b="0" i="0" u="none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Expo. (2026). </a:t>
            </a:r>
            <a:r>
              <a:rPr sz="1700" b="0" i="1" u="none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Expo Documentation: The framework for universal React Native apps.</a:t>
            </a:r>
            <a:r>
              <a:rPr sz="1700" b="0" i="0" u="none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Retrieved from </a:t>
            </a:r>
            <a:r>
              <a:rPr sz="1700" b="0" i="0" u="sng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hlinkClick r:id="rId3" tooltip=""/>
              </a:rPr>
              <a:t>https://docs.expo.dev/</a:t>
            </a:r>
            <a:endParaRPr sz="1700" b="0" strike="noStrike" cap="none" spc="0"/>
          </a:p>
          <a:p>
            <a:pPr marL="294893" marR="0" indent="-294893" algn="l" defTabSz="1149447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/>
              <a:buAutoNum type="arabicPeriod" startAt="11"/>
              <a:defRPr/>
            </a:pPr>
            <a:r>
              <a:rPr sz="1700" b="0" i="0" u="none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Android Health Connect API:</a:t>
            </a:r>
            <a:r>
              <a:rPr sz="1700" b="0" i="0" u="none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Google Developers. (2026). </a:t>
            </a:r>
            <a:r>
              <a:rPr sz="1700" b="0" i="1" u="none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Health Connect guide.</a:t>
            </a:r>
            <a:r>
              <a:rPr sz="1700" b="0" i="0" u="none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Android Developers. Retrieved from </a:t>
            </a:r>
            <a:r>
              <a:rPr sz="1700" b="0" i="0" u="sng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hlinkClick r:id="rId4" tooltip=""/>
              </a:rPr>
              <a:t>https://developer.android.com/health-and-fitness/guides/health-connect</a:t>
            </a:r>
            <a:endParaRPr sz="1700" b="0" strike="noStrike" cap="none" spc="0"/>
          </a:p>
          <a:p>
            <a:pPr marL="294893" marR="0" indent="-294893" algn="l" defTabSz="1149447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/>
              <a:buAutoNum type="arabicPeriod" startAt="11"/>
              <a:defRPr/>
            </a:pPr>
            <a:r>
              <a:rPr sz="1700" b="0" i="0" u="none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FastAPI Backend:</a:t>
            </a:r>
            <a:r>
              <a:rPr sz="1700" b="0" i="0" u="none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Ramírez, S. (2026). </a:t>
            </a:r>
            <a:r>
              <a:rPr sz="1700" b="0" i="1" u="none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FastAPI: High performance, easy to learn, fast to code, ready for production.</a:t>
            </a:r>
            <a:r>
              <a:rPr sz="1700" b="0" i="0" u="none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Retrieved from </a:t>
            </a:r>
            <a:r>
              <a:rPr sz="1700" b="0" i="0" u="sng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hlinkClick r:id="rId5" tooltip=""/>
              </a:rPr>
              <a:t>https://fastapi.tiangolo.com/</a:t>
            </a:r>
            <a:endParaRPr sz="1700" b="0" strike="noStrike" cap="none" spc="0"/>
          </a:p>
          <a:p>
            <a:pPr marL="294893" marR="0" indent="-294893" algn="l" defTabSz="1149447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/>
              <a:buAutoNum type="arabicPeriod" startAt="11"/>
              <a:defRPr/>
            </a:pPr>
            <a:r>
              <a:rPr sz="1700" b="0" i="0" u="none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Scikit-Learn (Random Forest):</a:t>
            </a:r>
            <a:r>
              <a:rPr sz="1700" b="0" i="0" u="none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Pedregosa, F., et al. (2011). "Scikit-learn: Machine Learning in Python." </a:t>
            </a:r>
            <a:r>
              <a:rPr sz="1700" b="0" i="1" u="none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Journal of Machine Learning Research</a:t>
            </a:r>
            <a:r>
              <a:rPr sz="1700" b="0" i="0" u="none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, 12, 2825-2830.</a:t>
            </a:r>
            <a:endParaRPr sz="1700" b="0" strike="noStrike" cap="none" spc="0"/>
          </a:p>
          <a:p>
            <a:pPr marL="294893" marR="0" indent="-294893" algn="l" defTabSz="1149447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/>
              <a:buAutoNum type="arabicPeriod" startAt="11"/>
              <a:defRPr/>
            </a:pPr>
            <a:r>
              <a:rPr sz="1700" b="0" i="0" u="none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NLTK (Natural Language Toolkit):</a:t>
            </a:r>
            <a:r>
              <a:rPr sz="1700" b="0" i="0" u="none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Bird, S., Klein, E., &amp; Loper, E. (2009). </a:t>
            </a:r>
            <a:r>
              <a:rPr sz="1700" b="0" i="1" u="none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Natural Language Processing with Python.</a:t>
            </a:r>
            <a:r>
              <a:rPr sz="1700" b="0" i="0" u="none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O'Reilly Media Inc.</a:t>
            </a:r>
            <a:endParaRPr sz="1900" strike="noStrike" cap="none" spc="0"/>
          </a:p>
        </p:txBody>
      </p:sp>
      <p:sp>
        <p:nvSpPr>
          <p:cNvPr id="460547044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02A2637-A5A3-49FA-B214-6E67543099EF}" type="slidenum">
              <a:rPr lang="en-US"/>
              <a:t>19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0328405" name="Title 1"/>
          <p:cNvSpPr>
            <a:spLocks noGrp="1"/>
          </p:cNvSpPr>
          <p:nvPr>
            <p:ph type="title"/>
          </p:nvPr>
        </p:nvSpPr>
        <p:spPr bwMode="auto">
          <a:xfrm>
            <a:off x="640080" y="2819401"/>
            <a:ext cx="11521440" cy="1219200"/>
          </a:xfrm>
        </p:spPr>
        <p:txBody>
          <a:bodyPr>
            <a:normAutofit fontScale="90000"/>
          </a:bodyPr>
          <a:lstStyle/>
          <a:p>
            <a:pPr>
              <a:defRPr/>
            </a:pPr>
            <a:r>
              <a:rPr lang="en-US" sz="10000" b="1">
                <a:solidFill>
                  <a:schemeClr val="tx2">
                    <a:lumMod val="60000"/>
                    <a:lumOff val="40000"/>
                  </a:schemeClr>
                </a:solidFill>
                <a:latin typeface="Times New Roman"/>
                <a:cs typeface="Times New Roman"/>
              </a:rPr>
              <a:t>Thank You</a:t>
            </a:r>
            <a:endParaRPr/>
          </a:p>
        </p:txBody>
      </p:sp>
      <p:sp>
        <p:nvSpPr>
          <p:cNvPr id="1370610569" name="Slide Number Placeholder 2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02A2637-A5A3-49FA-B214-6E67543099EF}" type="slidenum">
              <a:rPr lang="en-US"/>
              <a:t>22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ONLYOFFICE/9.2.1.43</Application>
  <PresentationFormat>On-screen Show (4:3)</PresentationFormat>
  <Paragraphs>0</Paragraphs>
  <Slides>20</Slides>
  <Notes>20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1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 APPROACH TO REDUCE LOAD ON CHANGE IMPACT ANALYSIS OVER SOFTWARE DEVELOPMENT</dc:title>
  <dc:creator>admin</dc:creator>
  <cp:lastModifiedBy/>
  <cp:revision>130</cp:revision>
  <dcterms:created xsi:type="dcterms:W3CDTF">2020-07-13T09:49:45Z</dcterms:created>
  <dcterms:modified xsi:type="dcterms:W3CDTF">2026-04-08T15:22:46Z</dcterms:modified>
</cp:coreProperties>
</file>