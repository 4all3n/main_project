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8.xml" ContentType="application/vnd.openxmlformats-officedocument.presentationml.notesSlide+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notesMaster" Target="notesMasters/notesMaster1.xml"/><Relationship Id="rId23" Type="http://schemas.openxmlformats.org/officeDocument/2006/relationships/presProps" Target="presProps.xml" /><Relationship Id="rId24" Type="http://schemas.openxmlformats.org/officeDocument/2006/relationships/tableStyles" Target="tableStyles.xml" /><Relationship Id="rId2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06357870"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624345174"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76543211"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033484722"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211497280"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378786872"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4114039" name="Slide Image Placeholder 1"/>
          <p:cNvSpPr>
            <a:spLocks noChangeAspect="1" noGrp="1" noRot="1"/>
          </p:cNvSpPr>
          <p:nvPr>
            <p:ph type="sldImg"/>
          </p:nvPr>
        </p:nvSpPr>
        <p:spPr bwMode="auto"/>
      </p:sp>
      <p:sp>
        <p:nvSpPr>
          <p:cNvPr id="1245730835" name="Notes Placeholder 2"/>
          <p:cNvSpPr>
            <a:spLocks noGrp="1"/>
          </p:cNvSpPr>
          <p:nvPr>
            <p:ph type="body" idx="1"/>
          </p:nvPr>
        </p:nvSpPr>
        <p:spPr bwMode="auto"/>
        <p:txBody>
          <a:bodyPr/>
          <a:lstStyle/>
          <a:p>
            <a:pPr>
              <a:defRPr/>
            </a:pPr>
            <a:endParaRPr/>
          </a:p>
        </p:txBody>
      </p:sp>
      <p:sp>
        <p:nvSpPr>
          <p:cNvPr id="1182736303" name="Slide Number Placeholder 3"/>
          <p:cNvSpPr>
            <a:spLocks noGrp="1"/>
          </p:cNvSpPr>
          <p:nvPr>
            <p:ph type="sldNum" sz="quarter" idx="10"/>
          </p:nvPr>
        </p:nvSpPr>
        <p:spPr bwMode="auto"/>
        <p:txBody>
          <a:bodyPr/>
          <a:lstStyle/>
          <a:p>
            <a:pPr>
              <a:defRPr/>
            </a:pPr>
            <a:fld id="{58A61BA0-354C-7A6F-925A-41B52FF9A5D0}"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7921230" name="Slide Image Placeholder 1"/>
          <p:cNvSpPr>
            <a:spLocks noChangeAspect="1" noGrp="1" noRot="1"/>
          </p:cNvSpPr>
          <p:nvPr>
            <p:ph type="sldImg"/>
          </p:nvPr>
        </p:nvSpPr>
        <p:spPr bwMode="auto"/>
      </p:sp>
      <p:sp>
        <p:nvSpPr>
          <p:cNvPr id="1123284241" name="Notes Placeholder 2"/>
          <p:cNvSpPr>
            <a:spLocks noGrp="1"/>
          </p:cNvSpPr>
          <p:nvPr>
            <p:ph type="body" idx="1"/>
          </p:nvPr>
        </p:nvSpPr>
        <p:spPr bwMode="auto"/>
        <p:txBody>
          <a:bodyPr/>
          <a:lstStyle/>
          <a:p>
            <a:pPr>
              <a:defRPr/>
            </a:pPr>
            <a:endParaRPr/>
          </a:p>
        </p:txBody>
      </p:sp>
      <p:sp>
        <p:nvSpPr>
          <p:cNvPr id="1033404425" name="Slide Number Placeholder 3"/>
          <p:cNvSpPr>
            <a:spLocks noGrp="1"/>
          </p:cNvSpPr>
          <p:nvPr>
            <p:ph type="sldNum" sz="quarter" idx="10"/>
          </p:nvPr>
        </p:nvSpPr>
        <p:spPr bwMode="auto"/>
        <p:txBody>
          <a:bodyPr/>
          <a:lstStyle/>
          <a:p>
            <a:pPr>
              <a:defRPr/>
            </a:pPr>
            <a:fld id="{8A5A8C42-ABC5-C31E-AAF0-EB925DED24A3}"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5137202" name="Slide Image Placeholder 1"/>
          <p:cNvSpPr>
            <a:spLocks noChangeAspect="1" noGrp="1" noRot="1"/>
          </p:cNvSpPr>
          <p:nvPr>
            <p:ph type="sldImg"/>
          </p:nvPr>
        </p:nvSpPr>
        <p:spPr bwMode="auto"/>
      </p:sp>
      <p:sp>
        <p:nvSpPr>
          <p:cNvPr id="679857382" name="Notes Placeholder 2"/>
          <p:cNvSpPr>
            <a:spLocks noGrp="1"/>
          </p:cNvSpPr>
          <p:nvPr>
            <p:ph type="body" idx="1"/>
          </p:nvPr>
        </p:nvSpPr>
        <p:spPr bwMode="auto"/>
        <p:txBody>
          <a:bodyPr/>
          <a:lstStyle/>
          <a:p>
            <a:pPr>
              <a:defRPr/>
            </a:pPr>
            <a:endParaRPr/>
          </a:p>
        </p:txBody>
      </p:sp>
      <p:sp>
        <p:nvSpPr>
          <p:cNvPr id="944412235" name="Slide Number Placeholder 3"/>
          <p:cNvSpPr>
            <a:spLocks noGrp="1"/>
          </p:cNvSpPr>
          <p:nvPr>
            <p:ph type="sldNum" sz="quarter" idx="10"/>
          </p:nvPr>
        </p:nvSpPr>
        <p:spPr bwMode="auto"/>
        <p:txBody>
          <a:bodyPr/>
          <a:lstStyle/>
          <a:p>
            <a:pPr>
              <a:defRPr/>
            </a:pPr>
            <a:fld id="{16A526FC-E840-B752-48AA-D800D5FD6FC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1041895" name="Slide Image Placeholder 1"/>
          <p:cNvSpPr>
            <a:spLocks noChangeAspect="1" noGrp="1" noRot="1"/>
          </p:cNvSpPr>
          <p:nvPr>
            <p:ph type="sldImg"/>
          </p:nvPr>
        </p:nvSpPr>
        <p:spPr bwMode="auto"/>
      </p:sp>
      <p:sp>
        <p:nvSpPr>
          <p:cNvPr id="632551045" name="Notes Placeholder 2"/>
          <p:cNvSpPr>
            <a:spLocks noGrp="1"/>
          </p:cNvSpPr>
          <p:nvPr>
            <p:ph type="body" idx="1"/>
          </p:nvPr>
        </p:nvSpPr>
        <p:spPr bwMode="auto"/>
        <p:txBody>
          <a:bodyPr/>
          <a:lstStyle/>
          <a:p>
            <a:pPr>
              <a:defRPr/>
            </a:pPr>
            <a:endParaRPr/>
          </a:p>
        </p:txBody>
      </p:sp>
      <p:sp>
        <p:nvSpPr>
          <p:cNvPr id="1002654836" name="Slide Number Placeholder 3"/>
          <p:cNvSpPr>
            <a:spLocks noGrp="1"/>
          </p:cNvSpPr>
          <p:nvPr>
            <p:ph type="sldNum" sz="quarter" idx="10"/>
          </p:nvPr>
        </p:nvSpPr>
        <p:spPr bwMode="auto"/>
        <p:txBody>
          <a:bodyPr/>
          <a:lstStyle/>
          <a:p>
            <a:pPr>
              <a:defRPr/>
            </a:pPr>
            <a:fld id="{1A1C3529-886D-8666-2336-D372C96704D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7640959" name="Slide Image Placeholder 1"/>
          <p:cNvSpPr>
            <a:spLocks noChangeAspect="1" noGrp="1" noRot="1"/>
          </p:cNvSpPr>
          <p:nvPr>
            <p:ph type="sldImg"/>
          </p:nvPr>
        </p:nvSpPr>
        <p:spPr bwMode="auto"/>
      </p:sp>
      <p:sp>
        <p:nvSpPr>
          <p:cNvPr id="226983640" name="Notes Placeholder 2"/>
          <p:cNvSpPr>
            <a:spLocks noGrp="1"/>
          </p:cNvSpPr>
          <p:nvPr>
            <p:ph type="body" idx="1"/>
          </p:nvPr>
        </p:nvSpPr>
        <p:spPr bwMode="auto"/>
        <p:txBody>
          <a:bodyPr/>
          <a:lstStyle/>
          <a:p>
            <a:pPr>
              <a:defRPr/>
            </a:pPr>
            <a:endParaRPr/>
          </a:p>
        </p:txBody>
      </p:sp>
      <p:sp>
        <p:nvSpPr>
          <p:cNvPr id="2118130173" name="Slide Number Placeholder 3"/>
          <p:cNvSpPr>
            <a:spLocks noGrp="1"/>
          </p:cNvSpPr>
          <p:nvPr>
            <p:ph type="sldNum" sz="quarter" idx="10"/>
          </p:nvPr>
        </p:nvSpPr>
        <p:spPr bwMode="auto"/>
        <p:txBody>
          <a:bodyPr/>
          <a:lstStyle/>
          <a:p>
            <a:pPr>
              <a:defRPr/>
            </a:pPr>
            <a:fld id="{2BDFAEBE-D0F9-3D39-13CE-2D3D0FBE3452}"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7027392" name="Slide Image Placeholder 1"/>
          <p:cNvSpPr>
            <a:spLocks noChangeAspect="1" noGrp="1" noRot="1"/>
          </p:cNvSpPr>
          <p:nvPr>
            <p:ph type="sldImg"/>
          </p:nvPr>
        </p:nvSpPr>
        <p:spPr bwMode="auto"/>
      </p:sp>
      <p:sp>
        <p:nvSpPr>
          <p:cNvPr id="1773227210" name="Notes Placeholder 2"/>
          <p:cNvSpPr>
            <a:spLocks noGrp="1"/>
          </p:cNvSpPr>
          <p:nvPr>
            <p:ph type="body" idx="1"/>
          </p:nvPr>
        </p:nvSpPr>
        <p:spPr bwMode="auto"/>
        <p:txBody>
          <a:bodyPr/>
          <a:lstStyle/>
          <a:p>
            <a:pPr>
              <a:defRPr/>
            </a:pPr>
            <a:endParaRPr/>
          </a:p>
        </p:txBody>
      </p:sp>
      <p:sp>
        <p:nvSpPr>
          <p:cNvPr id="44096558" name="Slide Number Placeholder 3"/>
          <p:cNvSpPr>
            <a:spLocks noGrp="1"/>
          </p:cNvSpPr>
          <p:nvPr>
            <p:ph type="sldNum" sz="quarter" idx="10"/>
          </p:nvPr>
        </p:nvSpPr>
        <p:spPr bwMode="auto"/>
        <p:txBody>
          <a:bodyPr/>
          <a:lstStyle/>
          <a:p>
            <a:pPr>
              <a:defRPr/>
            </a:pPr>
            <a:fld id="{773640DE-728C-F86B-C73F-8E18A1C2DE0B}"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139307" name="Slide Image Placeholder 1"/>
          <p:cNvSpPr>
            <a:spLocks noChangeAspect="1" noGrp="1" noRot="1"/>
          </p:cNvSpPr>
          <p:nvPr>
            <p:ph type="sldImg"/>
          </p:nvPr>
        </p:nvSpPr>
        <p:spPr bwMode="auto"/>
      </p:sp>
      <p:sp>
        <p:nvSpPr>
          <p:cNvPr id="1624362018" name="Notes Placeholder 2"/>
          <p:cNvSpPr>
            <a:spLocks noGrp="1"/>
          </p:cNvSpPr>
          <p:nvPr>
            <p:ph type="body" idx="1"/>
          </p:nvPr>
        </p:nvSpPr>
        <p:spPr bwMode="auto"/>
        <p:txBody>
          <a:bodyPr/>
          <a:lstStyle/>
          <a:p>
            <a:pPr>
              <a:defRPr/>
            </a:pPr>
            <a:endParaRPr/>
          </a:p>
        </p:txBody>
      </p:sp>
      <p:sp>
        <p:nvSpPr>
          <p:cNvPr id="717390176" name="Slide Number Placeholder 3"/>
          <p:cNvSpPr>
            <a:spLocks noGrp="1"/>
          </p:cNvSpPr>
          <p:nvPr>
            <p:ph type="sldNum" sz="quarter" idx="10"/>
          </p:nvPr>
        </p:nvSpPr>
        <p:spPr bwMode="auto"/>
        <p:txBody>
          <a:bodyPr/>
          <a:lstStyle/>
          <a:p>
            <a:pPr>
              <a:defRPr/>
            </a:pPr>
            <a:fld id="{C021E309-A070-CF21-9E57-7115B42E308D}"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7212693" name="Slide Image Placeholder 1"/>
          <p:cNvSpPr>
            <a:spLocks noChangeAspect="1" noGrp="1" noRot="1"/>
          </p:cNvSpPr>
          <p:nvPr>
            <p:ph type="sldImg"/>
          </p:nvPr>
        </p:nvSpPr>
        <p:spPr bwMode="auto"/>
      </p:sp>
      <p:sp>
        <p:nvSpPr>
          <p:cNvPr id="996266918" name="Notes Placeholder 2"/>
          <p:cNvSpPr>
            <a:spLocks noGrp="1"/>
          </p:cNvSpPr>
          <p:nvPr>
            <p:ph type="body" idx="1"/>
          </p:nvPr>
        </p:nvSpPr>
        <p:spPr bwMode="auto"/>
        <p:txBody>
          <a:bodyPr/>
          <a:lstStyle/>
          <a:p>
            <a:pPr>
              <a:defRPr/>
            </a:pPr>
            <a:endParaRPr/>
          </a:p>
        </p:txBody>
      </p:sp>
      <p:sp>
        <p:nvSpPr>
          <p:cNvPr id="1694967130" name="Slide Number Placeholder 3"/>
          <p:cNvSpPr>
            <a:spLocks noGrp="1"/>
          </p:cNvSpPr>
          <p:nvPr>
            <p:ph type="sldNum" sz="quarter" idx="10"/>
          </p:nvPr>
        </p:nvSpPr>
        <p:spPr bwMode="auto"/>
        <p:txBody>
          <a:bodyPr/>
          <a:lstStyle/>
          <a:p>
            <a:pPr>
              <a:defRPr/>
            </a:pPr>
            <a:fld id="{8DFDA038-093B-76BF-2A59-C442E13EEC08}"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5909959" name="Slide Image Placeholder 1"/>
          <p:cNvSpPr>
            <a:spLocks noChangeAspect="1" noGrp="1" noRot="1"/>
          </p:cNvSpPr>
          <p:nvPr>
            <p:ph type="sldImg"/>
          </p:nvPr>
        </p:nvSpPr>
        <p:spPr bwMode="auto"/>
      </p:sp>
      <p:sp>
        <p:nvSpPr>
          <p:cNvPr id="512636428" name="Notes Placeholder 2"/>
          <p:cNvSpPr>
            <a:spLocks noGrp="1"/>
          </p:cNvSpPr>
          <p:nvPr>
            <p:ph type="body" idx="1"/>
          </p:nvPr>
        </p:nvSpPr>
        <p:spPr bwMode="auto"/>
        <p:txBody>
          <a:bodyPr/>
          <a:lstStyle/>
          <a:p>
            <a:pPr>
              <a:defRPr/>
            </a:pPr>
            <a:endParaRPr/>
          </a:p>
        </p:txBody>
      </p:sp>
      <p:sp>
        <p:nvSpPr>
          <p:cNvPr id="278220471" name="Slide Number Placeholder 3"/>
          <p:cNvSpPr>
            <a:spLocks noGrp="1"/>
          </p:cNvSpPr>
          <p:nvPr>
            <p:ph type="sldNum" sz="quarter" idx="10"/>
          </p:nvPr>
        </p:nvSpPr>
        <p:spPr bwMode="auto"/>
        <p:txBody>
          <a:bodyPr/>
          <a:lstStyle/>
          <a:p>
            <a:pPr>
              <a:defRPr/>
            </a:pPr>
            <a:fld id="{B79B7E59-6EE6-4039-3481-BC5997E410B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839679" name="Slide Image Placeholder 1"/>
          <p:cNvSpPr>
            <a:spLocks noChangeAspect="1" noGrp="1" noRot="1"/>
          </p:cNvSpPr>
          <p:nvPr>
            <p:ph type="sldImg"/>
          </p:nvPr>
        </p:nvSpPr>
        <p:spPr bwMode="auto"/>
      </p:sp>
      <p:sp>
        <p:nvSpPr>
          <p:cNvPr id="1919533073" name="Notes Placeholder 2"/>
          <p:cNvSpPr>
            <a:spLocks noGrp="1"/>
          </p:cNvSpPr>
          <p:nvPr>
            <p:ph type="body" idx="1"/>
          </p:nvPr>
        </p:nvSpPr>
        <p:spPr bwMode="auto"/>
        <p:txBody>
          <a:bodyPr/>
          <a:lstStyle/>
          <a:p>
            <a:pPr>
              <a:defRPr/>
            </a:pPr>
            <a:endParaRPr/>
          </a:p>
        </p:txBody>
      </p:sp>
      <p:sp>
        <p:nvSpPr>
          <p:cNvPr id="351321748" name="Slide Number Placeholder 3"/>
          <p:cNvSpPr>
            <a:spLocks noGrp="1"/>
          </p:cNvSpPr>
          <p:nvPr>
            <p:ph type="sldNum" sz="quarter" idx="10"/>
          </p:nvPr>
        </p:nvSpPr>
        <p:spPr bwMode="auto"/>
        <p:txBody>
          <a:bodyPr/>
          <a:lstStyle/>
          <a:p>
            <a:pPr>
              <a:defRPr/>
            </a:pPr>
            <a:fld id="{ED9E91C3-F03E-012F-8FC4-2E67782B7D7C}"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007799" name="Slide Image Placeholder 1"/>
          <p:cNvSpPr>
            <a:spLocks noChangeAspect="1" noGrp="1" noRot="1"/>
          </p:cNvSpPr>
          <p:nvPr>
            <p:ph type="sldImg"/>
          </p:nvPr>
        </p:nvSpPr>
        <p:spPr bwMode="auto"/>
      </p:sp>
      <p:sp>
        <p:nvSpPr>
          <p:cNvPr id="2007175554" name="Notes Placeholder 2"/>
          <p:cNvSpPr>
            <a:spLocks noGrp="1"/>
          </p:cNvSpPr>
          <p:nvPr>
            <p:ph type="body" idx="1"/>
          </p:nvPr>
        </p:nvSpPr>
        <p:spPr bwMode="auto"/>
        <p:txBody>
          <a:bodyPr/>
          <a:lstStyle/>
          <a:p>
            <a:pPr>
              <a:defRPr/>
            </a:pPr>
            <a:endParaRPr/>
          </a:p>
        </p:txBody>
      </p:sp>
      <p:sp>
        <p:nvSpPr>
          <p:cNvPr id="863678298" name="Slide Number Placeholder 3"/>
          <p:cNvSpPr>
            <a:spLocks noGrp="1"/>
          </p:cNvSpPr>
          <p:nvPr>
            <p:ph type="sldNum" sz="quarter" idx="10"/>
          </p:nvPr>
        </p:nvSpPr>
        <p:spPr bwMode="auto"/>
        <p:txBody>
          <a:bodyPr/>
          <a:lstStyle/>
          <a:p>
            <a:pPr>
              <a:defRPr/>
            </a:pPr>
            <a:fld id="{003B62C9-51FF-8B3B-A840-4AC8612CFB26}"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620557" name="Slide Image Placeholder 1"/>
          <p:cNvSpPr>
            <a:spLocks noChangeAspect="1" noGrp="1" noRot="1"/>
          </p:cNvSpPr>
          <p:nvPr>
            <p:ph type="sldImg"/>
          </p:nvPr>
        </p:nvSpPr>
        <p:spPr bwMode="auto"/>
      </p:sp>
      <p:sp>
        <p:nvSpPr>
          <p:cNvPr id="1977137300" name="Notes Placeholder 2"/>
          <p:cNvSpPr>
            <a:spLocks noGrp="1"/>
          </p:cNvSpPr>
          <p:nvPr>
            <p:ph type="body" idx="1"/>
          </p:nvPr>
        </p:nvSpPr>
        <p:spPr bwMode="auto"/>
        <p:txBody>
          <a:bodyPr/>
          <a:lstStyle/>
          <a:p>
            <a:pPr>
              <a:defRPr/>
            </a:pPr>
            <a:endParaRPr/>
          </a:p>
        </p:txBody>
      </p:sp>
      <p:sp>
        <p:nvSpPr>
          <p:cNvPr id="713378049" name="Slide Number Placeholder 3"/>
          <p:cNvSpPr>
            <a:spLocks noGrp="1"/>
          </p:cNvSpPr>
          <p:nvPr>
            <p:ph type="sldNum" sz="quarter" idx="10"/>
          </p:nvPr>
        </p:nvSpPr>
        <p:spPr bwMode="auto"/>
        <p:txBody>
          <a:bodyPr/>
          <a:lstStyle/>
          <a:p>
            <a:pPr>
              <a:defRPr/>
            </a:pPr>
            <a:fld id="{805E0984-077D-21F9-D67E-126C64776ADE}"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3978121" name="Slide Image Placeholder 1"/>
          <p:cNvSpPr>
            <a:spLocks noChangeAspect="1" noGrp="1" noRot="1"/>
          </p:cNvSpPr>
          <p:nvPr>
            <p:ph type="sldImg"/>
          </p:nvPr>
        </p:nvSpPr>
        <p:spPr bwMode="auto"/>
      </p:sp>
      <p:sp>
        <p:nvSpPr>
          <p:cNvPr id="469565700" name="Notes Placeholder 2"/>
          <p:cNvSpPr>
            <a:spLocks noGrp="1"/>
          </p:cNvSpPr>
          <p:nvPr>
            <p:ph type="body" idx="1"/>
          </p:nvPr>
        </p:nvSpPr>
        <p:spPr bwMode="auto"/>
        <p:txBody>
          <a:bodyPr/>
          <a:lstStyle/>
          <a:p>
            <a:pPr>
              <a:defRPr/>
            </a:pPr>
            <a:endParaRPr/>
          </a:p>
        </p:txBody>
      </p:sp>
      <p:sp>
        <p:nvSpPr>
          <p:cNvPr id="1622029960" name="Slide Number Placeholder 3"/>
          <p:cNvSpPr>
            <a:spLocks noGrp="1"/>
          </p:cNvSpPr>
          <p:nvPr>
            <p:ph type="sldNum" sz="quarter" idx="10"/>
          </p:nvPr>
        </p:nvSpPr>
        <p:spPr bwMode="auto"/>
        <p:txBody>
          <a:bodyPr/>
          <a:lstStyle/>
          <a:p>
            <a:pPr>
              <a:defRPr/>
            </a:pPr>
            <a:fld id="{0BFD6DB3-A352-8D20-E135-A4007DED823E}"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0293022" name="Slide Image Placeholder 1"/>
          <p:cNvSpPr>
            <a:spLocks noChangeAspect="1" noGrp="1" noRot="1"/>
          </p:cNvSpPr>
          <p:nvPr>
            <p:ph type="sldImg"/>
          </p:nvPr>
        </p:nvSpPr>
        <p:spPr bwMode="auto"/>
      </p:sp>
      <p:sp>
        <p:nvSpPr>
          <p:cNvPr id="1060681571" name="Notes Placeholder 2"/>
          <p:cNvSpPr>
            <a:spLocks noGrp="1"/>
          </p:cNvSpPr>
          <p:nvPr>
            <p:ph type="body" idx="1"/>
          </p:nvPr>
        </p:nvSpPr>
        <p:spPr bwMode="auto"/>
        <p:txBody>
          <a:bodyPr/>
          <a:lstStyle/>
          <a:p>
            <a:pPr>
              <a:defRPr/>
            </a:pPr>
            <a:endParaRPr/>
          </a:p>
        </p:txBody>
      </p:sp>
      <p:sp>
        <p:nvSpPr>
          <p:cNvPr id="1815373994" name="Slide Number Placeholder 3"/>
          <p:cNvSpPr>
            <a:spLocks noGrp="1"/>
          </p:cNvSpPr>
          <p:nvPr>
            <p:ph type="sldNum" sz="quarter" idx="10"/>
          </p:nvPr>
        </p:nvSpPr>
        <p:spPr bwMode="auto"/>
        <p:txBody>
          <a:bodyPr/>
          <a:lstStyle/>
          <a:p>
            <a:pPr>
              <a:defRPr/>
            </a:pPr>
            <a:fld id="{C40FEB13-06A8-7AFE-E348-C640E4F171E9}"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0BFFF6C-55C9-8230-F5AD-1F371ACB5EC6}"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19F766-0284-6355-5254-565311AF347B}"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DECA3C3-D2FC-C5DD-BCBE-B97ECEDE569D}"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8182836" name="Slide Image Placeholder 1"/>
          <p:cNvSpPr>
            <a:spLocks noChangeAspect="1" noGrp="1" noRot="1"/>
          </p:cNvSpPr>
          <p:nvPr>
            <p:ph type="sldImg"/>
          </p:nvPr>
        </p:nvSpPr>
        <p:spPr bwMode="auto"/>
      </p:sp>
      <p:sp>
        <p:nvSpPr>
          <p:cNvPr id="202814788" name="Notes Placeholder 2"/>
          <p:cNvSpPr>
            <a:spLocks noGrp="1"/>
          </p:cNvSpPr>
          <p:nvPr>
            <p:ph type="body" idx="1"/>
          </p:nvPr>
        </p:nvSpPr>
        <p:spPr bwMode="auto"/>
        <p:txBody>
          <a:bodyPr/>
          <a:lstStyle/>
          <a:p>
            <a:pPr>
              <a:defRPr/>
            </a:pPr>
            <a:endParaRPr/>
          </a:p>
        </p:txBody>
      </p:sp>
      <p:sp>
        <p:nvSpPr>
          <p:cNvPr id="190715068" name="Slide Number Placeholder 3"/>
          <p:cNvSpPr>
            <a:spLocks noGrp="1"/>
          </p:cNvSpPr>
          <p:nvPr>
            <p:ph type="sldNum" sz="quarter" idx="10"/>
          </p:nvPr>
        </p:nvSpPr>
        <p:spPr bwMode="auto"/>
        <p:txBody>
          <a:bodyPr/>
          <a:lstStyle/>
          <a:p>
            <a:pPr>
              <a:defRPr/>
            </a:pPr>
            <a:fld id="{2753B898-08AA-CBB8-742A-8EBF326B4F64}"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554371039"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11745225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842185735"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588447915" name="Footer Placeholder 4"/>
          <p:cNvSpPr>
            <a:spLocks noGrp="1"/>
          </p:cNvSpPr>
          <p:nvPr>
            <p:ph type="ftr" sz="quarter" idx="11"/>
          </p:nvPr>
        </p:nvSpPr>
        <p:spPr bwMode="auto"/>
        <p:txBody>
          <a:bodyPr/>
          <a:lstStyle/>
          <a:p>
            <a:pPr>
              <a:defRPr/>
            </a:pPr>
            <a:endParaRPr lang="en-US"/>
          </a:p>
        </p:txBody>
      </p:sp>
      <p:sp>
        <p:nvSpPr>
          <p:cNvPr id="203966353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142623603" name="Title 1"/>
          <p:cNvSpPr>
            <a:spLocks noGrp="1"/>
          </p:cNvSpPr>
          <p:nvPr>
            <p:ph type="title"/>
          </p:nvPr>
        </p:nvSpPr>
        <p:spPr bwMode="auto"/>
        <p:txBody>
          <a:bodyPr/>
          <a:lstStyle/>
          <a:p>
            <a:pPr>
              <a:defRPr/>
            </a:pPr>
            <a:r>
              <a:rPr lang="en-US"/>
              <a:t>Click to edit Master title style</a:t>
            </a:r>
            <a:endParaRPr lang="en-US"/>
          </a:p>
        </p:txBody>
      </p:sp>
      <p:sp>
        <p:nvSpPr>
          <p:cNvPr id="1552001837"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8844935"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72267597" name="Footer Placeholder 4"/>
          <p:cNvSpPr>
            <a:spLocks noGrp="1"/>
          </p:cNvSpPr>
          <p:nvPr>
            <p:ph type="ftr" sz="quarter" idx="11"/>
          </p:nvPr>
        </p:nvSpPr>
        <p:spPr bwMode="auto"/>
        <p:txBody>
          <a:bodyPr/>
          <a:lstStyle/>
          <a:p>
            <a:pPr>
              <a:defRPr/>
            </a:pPr>
            <a:endParaRPr lang="en-US"/>
          </a:p>
        </p:txBody>
      </p:sp>
      <p:sp>
        <p:nvSpPr>
          <p:cNvPr id="140579648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9916347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663547782"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997714199"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997237877" name="Footer Placeholder 4"/>
          <p:cNvSpPr>
            <a:spLocks noGrp="1"/>
          </p:cNvSpPr>
          <p:nvPr>
            <p:ph type="ftr" sz="quarter" idx="11"/>
          </p:nvPr>
        </p:nvSpPr>
        <p:spPr bwMode="auto"/>
        <p:txBody>
          <a:bodyPr/>
          <a:lstStyle/>
          <a:p>
            <a:pPr>
              <a:defRPr/>
            </a:pPr>
            <a:endParaRPr lang="en-US"/>
          </a:p>
        </p:txBody>
      </p:sp>
      <p:sp>
        <p:nvSpPr>
          <p:cNvPr id="162802723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998699856" name="Title 1"/>
          <p:cNvSpPr>
            <a:spLocks noGrp="1"/>
          </p:cNvSpPr>
          <p:nvPr>
            <p:ph type="title"/>
          </p:nvPr>
        </p:nvSpPr>
        <p:spPr bwMode="auto"/>
        <p:txBody>
          <a:bodyPr/>
          <a:lstStyle/>
          <a:p>
            <a:pPr>
              <a:defRPr/>
            </a:pPr>
            <a:r>
              <a:rPr lang="en-US"/>
              <a:t>Click to edit Master title style</a:t>
            </a:r>
            <a:endParaRPr lang="en-US"/>
          </a:p>
        </p:txBody>
      </p:sp>
      <p:sp>
        <p:nvSpPr>
          <p:cNvPr id="1773722225"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8234323"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51795002"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65069211" name="Footer Placeholder 5"/>
          <p:cNvSpPr>
            <a:spLocks noGrp="1"/>
          </p:cNvSpPr>
          <p:nvPr>
            <p:ph type="ftr" sz="quarter" idx="11"/>
          </p:nvPr>
        </p:nvSpPr>
        <p:spPr bwMode="auto"/>
        <p:txBody>
          <a:bodyPr/>
          <a:lstStyle/>
          <a:p>
            <a:pPr>
              <a:defRPr/>
            </a:pPr>
            <a:endParaRPr lang="en-US"/>
          </a:p>
        </p:txBody>
      </p:sp>
      <p:sp>
        <p:nvSpPr>
          <p:cNvPr id="1391575162"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282694354"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61750581"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1600215"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13865274"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81448503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38483365"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974642793" name="Footer Placeholder 7"/>
          <p:cNvSpPr>
            <a:spLocks noGrp="1"/>
          </p:cNvSpPr>
          <p:nvPr>
            <p:ph type="ftr" sz="quarter" idx="11"/>
          </p:nvPr>
        </p:nvSpPr>
        <p:spPr bwMode="auto"/>
        <p:txBody>
          <a:bodyPr/>
          <a:lstStyle/>
          <a:p>
            <a:pPr>
              <a:defRPr/>
            </a:pPr>
            <a:endParaRPr lang="en-US"/>
          </a:p>
        </p:txBody>
      </p:sp>
      <p:sp>
        <p:nvSpPr>
          <p:cNvPr id="900044176"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06662336" name="Title 1"/>
          <p:cNvSpPr>
            <a:spLocks noGrp="1"/>
          </p:cNvSpPr>
          <p:nvPr>
            <p:ph type="title"/>
          </p:nvPr>
        </p:nvSpPr>
        <p:spPr bwMode="auto"/>
        <p:txBody>
          <a:bodyPr/>
          <a:lstStyle/>
          <a:p>
            <a:pPr>
              <a:defRPr/>
            </a:pPr>
            <a:r>
              <a:rPr lang="en-US"/>
              <a:t>Click to edit Master title style</a:t>
            </a:r>
            <a:endParaRPr lang="en-US"/>
          </a:p>
        </p:txBody>
      </p:sp>
      <p:sp>
        <p:nvSpPr>
          <p:cNvPr id="1249961445"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337766528" name="Footer Placeholder 3"/>
          <p:cNvSpPr>
            <a:spLocks noGrp="1"/>
          </p:cNvSpPr>
          <p:nvPr>
            <p:ph type="ftr" sz="quarter" idx="11"/>
          </p:nvPr>
        </p:nvSpPr>
        <p:spPr bwMode="auto"/>
        <p:txBody>
          <a:bodyPr/>
          <a:lstStyle/>
          <a:p>
            <a:pPr>
              <a:defRPr/>
            </a:pPr>
            <a:endParaRPr lang="en-US"/>
          </a:p>
        </p:txBody>
      </p:sp>
      <p:sp>
        <p:nvSpPr>
          <p:cNvPr id="89746377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10739625"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098270420" name="Footer Placeholder 2"/>
          <p:cNvSpPr>
            <a:spLocks noGrp="1"/>
          </p:cNvSpPr>
          <p:nvPr>
            <p:ph type="ftr" sz="quarter" idx="11"/>
          </p:nvPr>
        </p:nvSpPr>
        <p:spPr bwMode="auto"/>
        <p:txBody>
          <a:bodyPr/>
          <a:lstStyle/>
          <a:p>
            <a:pPr>
              <a:defRPr/>
            </a:pPr>
            <a:endParaRPr lang="en-US"/>
          </a:p>
        </p:txBody>
      </p:sp>
      <p:sp>
        <p:nvSpPr>
          <p:cNvPr id="39158862"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145051469"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391380508"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28090888"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237220098"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48315764" name="Footer Placeholder 5"/>
          <p:cNvSpPr>
            <a:spLocks noGrp="1"/>
          </p:cNvSpPr>
          <p:nvPr>
            <p:ph type="ftr" sz="quarter" idx="11"/>
          </p:nvPr>
        </p:nvSpPr>
        <p:spPr bwMode="auto"/>
        <p:txBody>
          <a:bodyPr/>
          <a:lstStyle/>
          <a:p>
            <a:pPr>
              <a:defRPr/>
            </a:pPr>
            <a:endParaRPr lang="en-US"/>
          </a:p>
        </p:txBody>
      </p:sp>
      <p:sp>
        <p:nvSpPr>
          <p:cNvPr id="1686272863"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24401234"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460312094"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90099495"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93866918"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78593800" name="Footer Placeholder 5"/>
          <p:cNvSpPr>
            <a:spLocks noGrp="1"/>
          </p:cNvSpPr>
          <p:nvPr>
            <p:ph type="ftr" sz="quarter" idx="11"/>
          </p:nvPr>
        </p:nvSpPr>
        <p:spPr bwMode="auto"/>
        <p:txBody>
          <a:bodyPr/>
          <a:lstStyle/>
          <a:p>
            <a:pPr>
              <a:defRPr/>
            </a:pPr>
            <a:endParaRPr lang="en-US"/>
          </a:p>
        </p:txBody>
      </p:sp>
      <p:sp>
        <p:nvSpPr>
          <p:cNvPr id="1577499348"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931997340" name="Title 1"/>
          <p:cNvSpPr>
            <a:spLocks noGrp="1"/>
          </p:cNvSpPr>
          <p:nvPr>
            <p:ph type="title"/>
          </p:nvPr>
        </p:nvSpPr>
        <p:spPr bwMode="auto"/>
        <p:txBody>
          <a:bodyPr/>
          <a:lstStyle/>
          <a:p>
            <a:pPr>
              <a:defRPr/>
            </a:pPr>
            <a:r>
              <a:rPr lang="en-US"/>
              <a:t>Click to edit Master title style</a:t>
            </a:r>
            <a:endParaRPr lang="en-US"/>
          </a:p>
        </p:txBody>
      </p:sp>
      <p:sp>
        <p:nvSpPr>
          <p:cNvPr id="544618899"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854060"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051758732" name="Footer Placeholder 4"/>
          <p:cNvSpPr>
            <a:spLocks noGrp="1"/>
          </p:cNvSpPr>
          <p:nvPr>
            <p:ph type="ftr" sz="quarter" idx="11"/>
          </p:nvPr>
        </p:nvSpPr>
        <p:spPr bwMode="auto"/>
        <p:txBody>
          <a:bodyPr/>
          <a:lstStyle/>
          <a:p>
            <a:pPr>
              <a:defRPr/>
            </a:pPr>
            <a:endParaRPr lang="en-US"/>
          </a:p>
        </p:txBody>
      </p:sp>
      <p:sp>
        <p:nvSpPr>
          <p:cNvPr id="117762489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083126726"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2050955642"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83500547"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65415674" name="Footer Placeholder 4"/>
          <p:cNvSpPr>
            <a:spLocks noGrp="1"/>
          </p:cNvSpPr>
          <p:nvPr>
            <p:ph type="ftr" sz="quarter" idx="11"/>
          </p:nvPr>
        </p:nvSpPr>
        <p:spPr bwMode="auto"/>
        <p:txBody>
          <a:bodyPr/>
          <a:lstStyle/>
          <a:p>
            <a:pPr>
              <a:defRPr/>
            </a:pPr>
            <a:endParaRPr lang="en-US"/>
          </a:p>
        </p:txBody>
      </p:sp>
      <p:sp>
        <p:nvSpPr>
          <p:cNvPr id="22271488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02889629"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111640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54450129"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1425084612"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200261032"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oleObject" Target="../embeddings/oleObject1.bin"/></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5312612" name="Title 1"/>
          <p:cNvSpPr>
            <a:spLocks noGrp="1"/>
          </p:cNvSpPr>
          <p:nvPr/>
        </p:nvSpPr>
        <p:spPr bwMode="auto">
          <a:xfrm flipH="0" flipV="0">
            <a:off x="0" y="0"/>
            <a:ext cx="18301999" cy="2971798"/>
          </a:xfrm>
          <a:prstGeom prst="rect">
            <a:avLst/>
          </a:prstGeom>
          <a:solidFill>
            <a:schemeClr val="tx2">
              <a:lumMod val="60000"/>
              <a:lumOff val="40000"/>
            </a:schemeClr>
          </a:solidFill>
        </p:spPr>
        <p:txBody>
          <a:bodyPr vert="horz" lIns="91440" tIns="45720" rIns="91440" bIns="45720" rtlCol="0" anchor="ctr">
            <a:noAutofit/>
          </a:bodyPr>
          <a:lstStyle>
            <a:lvl1pPr algn="ctr" defTabSz="914400" rtl="0">
              <a:spcBef>
                <a:spcPts val="0"/>
              </a:spcBef>
              <a:buNone/>
              <a:defRPr sz="4400">
                <a:solidFill>
                  <a:schemeClr val="tx1"/>
                </a:solidFill>
                <a:latin typeface="+mj-lt"/>
                <a:ea typeface="+mj-ea"/>
                <a:cs typeface="+mj-cs"/>
              </a:defRPr>
            </a:lvl1pPr>
          </a:lstStyle>
          <a:p>
            <a:pPr algn="ctr">
              <a:lnSpc>
                <a:spcPct val="150000"/>
              </a:lnSpc>
              <a:defRPr/>
            </a:pPr>
            <a:r>
              <a:rPr lang="en-US" sz="4800" b="1" i="0" u="none" strike="noStrike" cap="none" spc="0">
                <a:solidFill>
                  <a:schemeClr val="bg1"/>
                </a:solidFill>
                <a:latin typeface="Times New Roman"/>
                <a:ea typeface="Times New Roman"/>
                <a:cs typeface="Times New Roman"/>
              </a:rPr>
              <a:t>AN AI-POWERED SYSTEM FOR CORRELATING PHYSICAL ACTIVITY AND SUBJECTIVE MENTAL WELL-BEING</a:t>
            </a:r>
            <a:endParaRPr sz="4800">
              <a:solidFill>
                <a:schemeClr val="bg1"/>
              </a:solidFill>
              <a:latin typeface="Times New Roman"/>
              <a:cs typeface="Times New Roman"/>
            </a:endParaRPr>
          </a:p>
        </p:txBody>
      </p:sp>
      <p:pic>
        <p:nvPicPr>
          <p:cNvPr id="1861176741" name="image2.png"/>
          <p:cNvPicPr/>
          <p:nvPr/>
        </p:nvPicPr>
        <p:blipFill>
          <a:blip r:embed="rId3"/>
          <a:stretch/>
        </p:blipFill>
        <p:spPr bwMode="auto">
          <a:xfrm flipH="0" flipV="0">
            <a:off x="6214109" y="3136899"/>
            <a:ext cx="4721889" cy="1600200"/>
          </a:xfrm>
          <a:prstGeom prst="rect">
            <a:avLst/>
          </a:prstGeom>
          <a:ln/>
        </p:spPr>
      </p:pic>
      <p:sp>
        <p:nvSpPr>
          <p:cNvPr id="1113297073" name=""/>
          <p:cNvSpPr txBox="1"/>
          <p:nvPr/>
        </p:nvSpPr>
        <p:spPr bwMode="auto">
          <a:xfrm rot="0" flipH="0" flipV="0">
            <a:off x="5949042" y="4960620"/>
            <a:ext cx="6406793" cy="61268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lnSpc>
                <a:spcPct val="150000"/>
              </a:lnSpc>
              <a:defRPr/>
            </a:pPr>
            <a:r>
              <a:rPr lang="en-US" sz="2400">
                <a:solidFill>
                  <a:schemeClr val="accent1">
                    <a:lumMod val="50000"/>
                  </a:schemeClr>
                </a:solidFill>
                <a:latin typeface="Times New Roman"/>
                <a:ea typeface="Times New Roman"/>
                <a:cs typeface="Times New Roman"/>
              </a:rPr>
              <a:t>Project Work Review-1 </a:t>
            </a:r>
            <a:endParaRPr lang="en-US" sz="2400">
              <a:solidFill>
                <a:schemeClr val="accent1">
                  <a:lumMod val="50000"/>
                </a:schemeClr>
              </a:solidFill>
              <a:latin typeface="Times New Roman"/>
              <a:ea typeface="Times New Roman"/>
              <a:cs typeface="Times New Roman"/>
            </a:endParaRPr>
          </a:p>
          <a:p>
            <a:pPr algn="ctr">
              <a:lnSpc>
                <a:spcPct val="150000"/>
              </a:lnSpc>
              <a:defRPr/>
            </a:pPr>
            <a:r>
              <a:rPr lang="en-US" sz="2400">
                <a:solidFill>
                  <a:schemeClr val="accent1">
                    <a:lumMod val="50000"/>
                  </a:schemeClr>
                </a:solidFill>
                <a:latin typeface="Times New Roman"/>
                <a:ea typeface="Times New Roman"/>
                <a:cs typeface="Times New Roman"/>
              </a:rPr>
              <a:t>Presented by</a:t>
            </a:r>
            <a:endParaRPr sz="2400">
              <a:solidFill>
                <a:schemeClr val="accent1">
                  <a:lumMod val="50000"/>
                </a:schemeClr>
              </a:solidFill>
              <a:latin typeface="Times New Roman"/>
              <a:cs typeface="Times New Roman"/>
            </a:endParaRPr>
          </a:p>
          <a:p>
            <a:pPr algn="ctr">
              <a:lnSpc>
                <a:spcPct val="150000"/>
              </a:lnSpc>
              <a:defRPr/>
            </a:pPr>
            <a:r>
              <a:rPr lang="en-US" sz="2400">
                <a:solidFill>
                  <a:schemeClr val="accent1">
                    <a:lumMod val="50000"/>
                  </a:schemeClr>
                </a:solidFill>
                <a:latin typeface="Times New Roman"/>
                <a:ea typeface="Times New Roman"/>
                <a:cs typeface="Times New Roman"/>
              </a:rPr>
              <a:t>Harsh Pratap Singh (25MCA1027)</a:t>
            </a:r>
            <a:endParaRPr sz="2400">
              <a:solidFill>
                <a:schemeClr val="accent1">
                  <a:lumMod val="50000"/>
                </a:schemeClr>
              </a:solidFill>
              <a:latin typeface="Times New Roman"/>
              <a:cs typeface="Times New Roman"/>
            </a:endParaRPr>
          </a:p>
          <a:p>
            <a:pPr algn="ctr">
              <a:lnSpc>
                <a:spcPct val="150000"/>
              </a:lnSpc>
              <a:defRPr/>
            </a:pPr>
            <a:endParaRPr sz="2400">
              <a:latin typeface="Times New Roman"/>
              <a:cs typeface="Times New Roman"/>
            </a:endParaRPr>
          </a:p>
          <a:p>
            <a:pPr algn="ctr">
              <a:lnSpc>
                <a:spcPct val="150000"/>
              </a:lnSpc>
              <a:defRPr/>
            </a:pPr>
            <a:r>
              <a:rPr lang="en-US" sz="2400" b="0" i="0" u="none" strike="noStrike" cap="none" spc="0">
                <a:solidFill>
                  <a:schemeClr val="accent1">
                    <a:lumMod val="50000"/>
                  </a:schemeClr>
                </a:solidFill>
                <a:latin typeface="Times New Roman"/>
                <a:ea typeface="Times New Roman"/>
                <a:cs typeface="Times New Roman"/>
              </a:rPr>
              <a:t>Under the Guidance of</a:t>
            </a:r>
            <a:endParaRPr sz="2400">
              <a:solidFill>
                <a:schemeClr val="accent1">
                  <a:lumMod val="50000"/>
                </a:schemeClr>
              </a:solidFill>
              <a:latin typeface="Times New Roman"/>
              <a:cs typeface="Times New Roman"/>
            </a:endParaRPr>
          </a:p>
          <a:p>
            <a:pPr algn="ctr">
              <a:lnSpc>
                <a:spcPct val="150000"/>
              </a:lnSpc>
              <a:defRPr/>
            </a:pPr>
            <a:r>
              <a:rPr lang="en-US" sz="2400">
                <a:solidFill>
                  <a:schemeClr val="accent1">
                    <a:lumMod val="50000"/>
                  </a:schemeClr>
                </a:solidFill>
                <a:latin typeface="Times New Roman"/>
                <a:ea typeface="Times New Roman"/>
                <a:cs typeface="Times New Roman"/>
              </a:rPr>
              <a:t>Dr. Saranya G</a:t>
            </a:r>
            <a:endParaRPr sz="2400">
              <a:solidFill>
                <a:schemeClr val="accent1">
                  <a:lumMod val="50000"/>
                </a:schemeClr>
              </a:solidFill>
              <a:latin typeface="Times New Roman"/>
              <a:cs typeface="Times New Roman"/>
            </a:endParaRPr>
          </a:p>
          <a:p>
            <a:pPr algn="ctr">
              <a:lnSpc>
                <a:spcPct val="150000"/>
              </a:lnSpc>
              <a:defRPr/>
            </a:pPr>
            <a:r>
              <a:rPr lang="en-US" sz="2400">
                <a:solidFill>
                  <a:schemeClr val="accent1">
                    <a:lumMod val="50000"/>
                  </a:schemeClr>
                </a:solidFill>
                <a:latin typeface="Times New Roman"/>
                <a:ea typeface="Times New Roman"/>
                <a:cs typeface="Times New Roman"/>
              </a:rPr>
              <a:t>Assistant professor-Senior Grade</a:t>
            </a:r>
            <a:endParaRPr sz="2400">
              <a:solidFill>
                <a:schemeClr val="accent1">
                  <a:lumMod val="50000"/>
                </a:schemeClr>
              </a:solidFill>
              <a:latin typeface="Times New Roman"/>
              <a:cs typeface="Times New Roman"/>
            </a:endParaRPr>
          </a:p>
          <a:p>
            <a:pPr algn="ctr">
              <a:lnSpc>
                <a:spcPct val="150000"/>
              </a:lnSpc>
              <a:defRPr/>
            </a:pPr>
            <a:r>
              <a:rPr lang="en-US" sz="2400" b="0" i="0" u="none" strike="noStrike" cap="none" spc="0">
                <a:solidFill>
                  <a:schemeClr val="accent1">
                    <a:lumMod val="50000"/>
                  </a:schemeClr>
                </a:solidFill>
                <a:latin typeface="Times New Roman"/>
                <a:ea typeface="Times New Roman"/>
                <a:cs typeface="Times New Roman"/>
              </a:rPr>
              <a:t>School of Computer Science and Engineering</a:t>
            </a:r>
            <a:endParaRPr sz="2400">
              <a:latin typeface="Times New Roman"/>
              <a:cs typeface="Times New Roman"/>
            </a:endParaRPr>
          </a:p>
          <a:p>
            <a:pPr algn="ctr">
              <a:lnSpc>
                <a:spcPct val="150000"/>
              </a:lnSpc>
              <a:defRPr/>
            </a:pPr>
            <a:r>
              <a:rPr lang="en-US" sz="2400" b="0" i="0" u="none" strike="noStrike" cap="none" spc="0">
                <a:solidFill>
                  <a:schemeClr val="accent1">
                    <a:lumMod val="50000"/>
                  </a:schemeClr>
                </a:solidFill>
                <a:latin typeface="Times New Roman"/>
                <a:ea typeface="Times New Roman"/>
                <a:cs typeface="Times New Roman"/>
              </a:rPr>
              <a:t>Vellore Institute of Technology, Chennai</a:t>
            </a:r>
            <a:r>
              <a:rPr lang="en-US" sz="2400" b="0" i="0" u="none" strike="noStrike" cap="none" spc="0">
                <a:solidFill>
                  <a:schemeClr val="tx1"/>
                </a:solidFill>
                <a:latin typeface="Times New Roman"/>
                <a:ea typeface="Times New Roman"/>
                <a:cs typeface="Times New Roman"/>
              </a:rPr>
              <a:t>.</a:t>
            </a:r>
            <a:endParaRPr sz="2400">
              <a:latin typeface="Times New Roman"/>
              <a:cs typeface="Times New Roman"/>
            </a:endParaRPr>
          </a:p>
          <a:p>
            <a:pPr algn="l">
              <a:lnSpc>
                <a:spcPct val="150000"/>
              </a:lnSpc>
              <a:defRPr/>
            </a:pPr>
            <a:endParaRPr sz="2400">
              <a:latin typeface="Times New Roman"/>
              <a:cs typeface="Times New Roman"/>
            </a:endParaRPr>
          </a:p>
          <a:p>
            <a:pPr algn="l">
              <a:lnSpc>
                <a:spcPct val="150000"/>
              </a:lnSpc>
              <a:defRPr/>
            </a:pPr>
            <a:endParaRPr sz="240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805007" name="TextBox 4"/>
          <p:cNvSpPr txBox="1"/>
          <p:nvPr/>
        </p:nvSpPr>
        <p:spPr bwMode="auto">
          <a:xfrm rot="0">
            <a:off x="801477" y="2722141"/>
            <a:ext cx="16896389" cy="6221709"/>
          </a:xfrm>
          <a:prstGeom prst="rect">
            <a:avLst/>
          </a:prstGeom>
        </p:spPr>
        <p:txBody>
          <a:bodyPr lIns="0" tIns="0" rIns="0" bIns="0" rtlCol="0" anchor="t">
            <a:spAutoFit/>
          </a:bodyPr>
          <a:lstStyle/>
          <a:p>
            <a:pPr algn="just">
              <a:lnSpc>
                <a:spcPts val="3359"/>
              </a:lnSpc>
              <a:defRPr/>
            </a:pPr>
            <a:r>
              <a:rPr lang="en-US" sz="2400">
                <a:solidFill>
                  <a:schemeClr val="tx1"/>
                </a:solidFill>
                <a:latin typeface="Times New Roman"/>
                <a:ea typeface="Times New Roman"/>
                <a:cs typeface="Times New Roman"/>
              </a:rPr>
              <a:t>Societal Relevance: There is a growing global focus on mental health and </a:t>
            </a:r>
            <a:endParaRPr sz="2400">
              <a:solidFill>
                <a:schemeClr val="tx1"/>
              </a:solidFill>
              <a:latin typeface="Times New Roman"/>
              <a:cs typeface="Times New Roman"/>
            </a:endParaRPr>
          </a:p>
          <a:p>
            <a:pPr algn="just">
              <a:lnSpc>
                <a:spcPts val="3359"/>
              </a:lnSpc>
              <a:defRPr/>
            </a:pPr>
            <a:r>
              <a:rPr lang="en-US" sz="2400">
                <a:solidFill>
                  <a:schemeClr val="tx1"/>
                </a:solidFill>
                <a:latin typeface="Times New Roman"/>
                <a:ea typeface="Times New Roman"/>
                <a:cs typeface="Times New Roman"/>
              </a:rPr>
              <a:t>well-being. The WHO reports a significant rise in stress, anxiety, and depressive disorders.</a:t>
            </a:r>
            <a:endParaRPr sz="2400">
              <a:solidFill>
                <a:schemeClr val="tx1"/>
              </a:solidFill>
              <a:latin typeface="Times New Roman"/>
              <a:cs typeface="Times New Roman"/>
            </a:endParaRPr>
          </a:p>
          <a:p>
            <a:pPr algn="just">
              <a:lnSpc>
                <a:spcPts val="3359"/>
              </a:lnSpc>
              <a:defRPr/>
            </a:pPr>
            <a:endParaRPr sz="2400">
              <a:solidFill>
                <a:schemeClr val="tx1"/>
              </a:solidFill>
              <a:latin typeface="Times New Roman"/>
              <a:cs typeface="Times New Roman"/>
            </a:endParaRPr>
          </a:p>
          <a:p>
            <a:pPr algn="just">
              <a:lnSpc>
                <a:spcPts val="3359"/>
              </a:lnSpc>
              <a:defRPr/>
            </a:pPr>
            <a:r>
              <a:rPr lang="en-US" sz="2400">
                <a:solidFill>
                  <a:schemeClr val="tx1"/>
                </a:solidFill>
                <a:latin typeface="Times New Roman"/>
                <a:ea typeface="Times New Roman"/>
                <a:cs typeface="Times New Roman"/>
              </a:rPr>
              <a:t>Technological Convergence:</a:t>
            </a:r>
            <a:endParaRPr sz="2400">
              <a:solidFill>
                <a:schemeClr val="tx1"/>
              </a:solidFill>
              <a:latin typeface="Times New Roman"/>
              <a:cs typeface="Times New Roman"/>
            </a:endParaRPr>
          </a:p>
          <a:p>
            <a:pPr algn="just">
              <a:lnSpc>
                <a:spcPts val="4423"/>
              </a:lnSpc>
              <a:defRPr/>
            </a:pPr>
            <a:endParaRPr sz="2400">
              <a:solidFill>
                <a:schemeClr val="tx1"/>
              </a:solidFill>
              <a:latin typeface="Times New Roman"/>
              <a:cs typeface="Times New Roman"/>
            </a:endParaRPr>
          </a:p>
          <a:p>
            <a:pPr marL="604519" lvl="1" indent="-302260" algn="just">
              <a:lnSpc>
                <a:spcPts val="4423"/>
              </a:lnSpc>
              <a:buAutoNum type="arabicPeriod" startAt="1"/>
              <a:defRPr/>
            </a:pPr>
            <a:r>
              <a:rPr lang="en-US" sz="2400">
                <a:solidFill>
                  <a:schemeClr val="tx1"/>
                </a:solidFill>
                <a:latin typeface="Times New Roman"/>
                <a:ea typeface="Times New Roman"/>
                <a:cs typeface="Times New Roman"/>
              </a:rPr>
              <a:t>IoT Ubiquity: The explosive growth of wearable sensors (smartwatches, fitness trackers) provides an unprecedented, continuous stream of objective physiological data.</a:t>
            </a:r>
            <a:endParaRPr sz="2400">
              <a:solidFill>
                <a:schemeClr val="tx1"/>
              </a:solidFill>
              <a:latin typeface="Times New Roman"/>
              <a:cs typeface="Times New Roman"/>
            </a:endParaRPr>
          </a:p>
          <a:p>
            <a:pPr marL="604519" lvl="1" indent="-302260" algn="just">
              <a:lnSpc>
                <a:spcPts val="4423"/>
              </a:lnSpc>
              <a:buAutoNum type="arabicPeriod" startAt="1"/>
              <a:defRPr/>
            </a:pPr>
            <a:r>
              <a:rPr lang="en-US" sz="2400">
                <a:solidFill>
                  <a:schemeClr val="tx1"/>
                </a:solidFill>
                <a:latin typeface="Times New Roman"/>
                <a:ea typeface="Times New Roman"/>
                <a:cs typeface="Times New Roman"/>
              </a:rPr>
              <a:t>AI Maturity: Advances in Natural Language Processing (NLP) and Machine Learning (ML) now allow us to analyze complex, unstructured human data (like text) at scale.</a:t>
            </a:r>
            <a:endParaRPr sz="2400">
              <a:solidFill>
                <a:schemeClr val="tx1"/>
              </a:solidFill>
              <a:latin typeface="Times New Roman"/>
              <a:cs typeface="Times New Roman"/>
            </a:endParaRPr>
          </a:p>
          <a:p>
            <a:pPr algn="just">
              <a:lnSpc>
                <a:spcPts val="3359"/>
              </a:lnSpc>
              <a:defRPr/>
            </a:pPr>
            <a:endParaRPr sz="2400">
              <a:solidFill>
                <a:schemeClr val="tx1"/>
              </a:solidFill>
              <a:latin typeface="Times New Roman"/>
              <a:cs typeface="Times New Roman"/>
            </a:endParaRPr>
          </a:p>
          <a:p>
            <a:pPr algn="just">
              <a:lnSpc>
                <a:spcPts val="3359"/>
              </a:lnSpc>
              <a:defRPr/>
            </a:pPr>
            <a:r>
              <a:rPr lang="en-US" sz="2400">
                <a:solidFill>
                  <a:schemeClr val="tx1"/>
                </a:solidFill>
                <a:latin typeface="Times New Roman"/>
                <a:ea typeface="Times New Roman"/>
                <a:cs typeface="Times New Roman"/>
              </a:rPr>
              <a:t>The Opportunity: This project is at the intersection of these two fields, with the potential to shift healthcare from a reactive treatment model to a proactive, personalized wellness model.</a:t>
            </a:r>
            <a:endParaRPr sz="2400">
              <a:solidFill>
                <a:schemeClr val="tx1"/>
              </a:solidFill>
              <a:latin typeface="Times New Roman"/>
              <a:cs typeface="Times New Roman"/>
            </a:endParaRPr>
          </a:p>
          <a:p>
            <a:pPr algn="just">
              <a:lnSpc>
                <a:spcPts val="3359"/>
              </a:lnSpc>
              <a:defRPr/>
            </a:pPr>
            <a:endParaRPr sz="2400">
              <a:solidFill>
                <a:schemeClr val="tx1"/>
              </a:solidFill>
              <a:latin typeface="Times New Roman"/>
              <a:cs typeface="Times New Roman"/>
            </a:endParaRPr>
          </a:p>
        </p:txBody>
      </p:sp>
      <p:sp>
        <p:nvSpPr>
          <p:cNvPr id="1406636010" name="Title 1"/>
          <p:cNvSpPr>
            <a:spLocks noGrp="1"/>
          </p:cNvSpPr>
          <p:nvPr/>
        </p:nvSpPr>
        <p:spPr bwMode="auto">
          <a:xfrm flipH="0" flipV="0">
            <a:off x="1299" y="0"/>
            <a:ext cx="18288000" cy="2578099"/>
          </a:xfrm>
          <a:prstGeom prst="rect">
            <a:avLst/>
          </a:prstGeom>
          <a:solidFill>
            <a:schemeClr val="tx2">
              <a:lumMod val="60000"/>
              <a:lumOff val="40000"/>
            </a:schemeClr>
          </a:solidFill>
        </p:spPr>
        <p:txBody>
          <a:bodyPr vertOverflow="overflow" horzOverflow="overflow" vert="horz" wrap="square" lIns="91440" tIns="45720" rIns="91440" bIns="45720" numCol="1" spcCol="0" rtlCol="0" fromWordArt="0" anchor="ctr" anchorCtr="0" forceAA="0" upright="0" compatLnSpc="0">
            <a:normAutofit/>
          </a:bodyPr>
          <a:lstStyle>
            <a:lvl1pPr algn="ctr" defTabSz="914400" rtl="0">
              <a:spcBef>
                <a:spcPts val="0"/>
              </a:spcBef>
              <a:buNone/>
              <a:defRPr sz="4400">
                <a:solidFill>
                  <a:schemeClr val="tx1"/>
                </a:solidFill>
                <a:latin typeface="+mj-lt"/>
                <a:ea typeface="+mj-ea"/>
                <a:cs typeface="+mj-cs"/>
              </a:defRPr>
            </a:lvl1pPr>
          </a:lstStyle>
          <a:p>
            <a:pPr algn="ctr">
              <a:lnSpc>
                <a:spcPts val="4949"/>
              </a:lnSpc>
              <a:defRPr/>
            </a:pPr>
            <a:r>
              <a:rPr lang="en-US" sz="4800" b="1" i="0" u="none" strike="noStrike" cap="none" spc="0">
                <a:solidFill>
                  <a:schemeClr val="bg1"/>
                </a:solidFill>
                <a:latin typeface="Times New Roman"/>
                <a:ea typeface="Times New Roman"/>
                <a:cs typeface="Times New Roman"/>
              </a:rPr>
              <a:t>DOMAIN: </a:t>
            </a:r>
            <a:r>
              <a:rPr lang="en-US" sz="4800" b="1" i="0" u="none" strike="noStrike" cap="none" spc="0">
                <a:solidFill>
                  <a:schemeClr val="bg1"/>
                </a:solidFill>
                <a:latin typeface="Times New Roman"/>
                <a:ea typeface="Times New Roman"/>
                <a:cs typeface="Times New Roman"/>
              </a:rPr>
              <a:t>DIGITAL </a:t>
            </a:r>
            <a:r>
              <a:rPr lang="en-US" sz="4800" b="1" i="0" u="none" strike="noStrike" cap="none" spc="0">
                <a:solidFill>
                  <a:schemeClr val="bg1"/>
                </a:solidFill>
                <a:latin typeface="Times New Roman"/>
                <a:ea typeface="Times New Roman"/>
                <a:cs typeface="Times New Roman"/>
              </a:rPr>
              <a:t>HEALTH &amp; AFFECTIVE COMPUTING</a:t>
            </a:r>
            <a:endParaRPr sz="4800">
              <a:solidFill>
                <a:schemeClr val="bg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4176466" name="TextBox 5"/>
          <p:cNvSpPr txBox="1"/>
          <p:nvPr/>
        </p:nvSpPr>
        <p:spPr bwMode="auto">
          <a:xfrm rot="0">
            <a:off x="312642" y="3246656"/>
            <a:ext cx="9812121" cy="1920091"/>
          </a:xfrm>
          <a:prstGeom prst="rect">
            <a:avLst/>
          </a:prstGeom>
        </p:spPr>
        <p:txBody>
          <a:bodyPr lIns="0" tIns="0" rIns="0" bIns="0" rtlCol="0" anchor="t">
            <a:spAutoFit/>
          </a:bodyPr>
          <a:lstStyle/>
          <a:p>
            <a:pPr algn="l">
              <a:lnSpc>
                <a:spcPts val="3779"/>
              </a:lnSpc>
              <a:defRPr/>
            </a:pPr>
            <a:r>
              <a:rPr lang="en-US" sz="2400">
                <a:solidFill>
                  <a:schemeClr val="tx1"/>
                </a:solidFill>
                <a:latin typeface="Times New Roman"/>
                <a:ea typeface="Times New Roman"/>
                <a:cs typeface="Times New Roman"/>
              </a:rPr>
              <a:t>Currently, our health data lives separately</a:t>
            </a:r>
            <a:endParaRPr sz="2400">
              <a:solidFill>
                <a:schemeClr val="tx1"/>
              </a:solidFill>
              <a:latin typeface="Times New Roman"/>
              <a:cs typeface="Times New Roman"/>
            </a:endParaRPr>
          </a:p>
          <a:p>
            <a:pPr marL="582928" lvl="1" indent="-291464" algn="l">
              <a:lnSpc>
                <a:spcPts val="3779"/>
              </a:lnSpc>
              <a:buFont typeface="Arial"/>
              <a:buChar char="•"/>
              <a:defRPr/>
            </a:pPr>
            <a:r>
              <a:rPr lang="en-US" sz="2400">
                <a:solidFill>
                  <a:schemeClr val="tx1"/>
                </a:solidFill>
                <a:latin typeface="Times New Roman"/>
                <a:ea typeface="Times New Roman"/>
                <a:cs typeface="Times New Roman"/>
              </a:rPr>
              <a:t>Physical Data (Steps, Sleep, Heart Rate) tracked by our phones or smart watch.</a:t>
            </a:r>
            <a:endParaRPr sz="2400">
              <a:solidFill>
                <a:schemeClr val="tx1"/>
              </a:solidFill>
              <a:latin typeface="Times New Roman"/>
              <a:cs typeface="Times New Roman"/>
            </a:endParaRPr>
          </a:p>
          <a:p>
            <a:pPr marL="582928" lvl="1" indent="-291464" algn="l">
              <a:lnSpc>
                <a:spcPts val="3779"/>
              </a:lnSpc>
              <a:buFont typeface="Arial"/>
              <a:buChar char="•"/>
              <a:defRPr/>
            </a:pPr>
            <a:r>
              <a:rPr lang="en-US" sz="2400">
                <a:solidFill>
                  <a:schemeClr val="tx1"/>
                </a:solidFill>
                <a:latin typeface="Times New Roman"/>
                <a:ea typeface="Times New Roman"/>
                <a:cs typeface="Times New Roman"/>
              </a:rPr>
              <a:t>Mental Data (Mood, stress, anxiety) often tracked by journaling app.</a:t>
            </a:r>
            <a:endParaRPr sz="2400">
              <a:solidFill>
                <a:schemeClr val="tx1"/>
              </a:solidFill>
              <a:latin typeface="Times New Roman"/>
              <a:cs typeface="Times New Roman"/>
            </a:endParaRPr>
          </a:p>
        </p:txBody>
      </p:sp>
      <p:sp>
        <p:nvSpPr>
          <p:cNvPr id="416582308" name="TextBox 6"/>
          <p:cNvSpPr txBox="1"/>
          <p:nvPr/>
        </p:nvSpPr>
        <p:spPr bwMode="auto">
          <a:xfrm rot="0">
            <a:off x="312642" y="5838250"/>
            <a:ext cx="13245976" cy="1920091"/>
          </a:xfrm>
          <a:prstGeom prst="rect">
            <a:avLst/>
          </a:prstGeom>
        </p:spPr>
        <p:txBody>
          <a:bodyPr lIns="0" tIns="0" rIns="0" bIns="0" rtlCol="0" anchor="t">
            <a:spAutoFit/>
          </a:bodyPr>
          <a:lstStyle/>
          <a:p>
            <a:pPr algn="l">
              <a:lnSpc>
                <a:spcPts val="3779"/>
              </a:lnSpc>
              <a:defRPr/>
            </a:pPr>
            <a:r>
              <a:rPr lang="en-US" sz="2400">
                <a:solidFill>
                  <a:schemeClr val="tx1"/>
                </a:solidFill>
                <a:latin typeface="Times New Roman"/>
                <a:ea typeface="Times New Roman"/>
                <a:cs typeface="Times New Roman"/>
              </a:rPr>
              <a:t>There is no system that intelligently fuses these two</a:t>
            </a:r>
            <a:r>
              <a:rPr lang="en-US" sz="2400">
                <a:solidFill>
                  <a:schemeClr val="tx1"/>
                </a:solidFill>
                <a:latin typeface="Times New Roman"/>
                <a:ea typeface="Times New Roman"/>
                <a:cs typeface="Times New Roman"/>
              </a:rPr>
              <a:t> data streams to find personalized connections.</a:t>
            </a:r>
            <a:endParaRPr sz="2400">
              <a:solidFill>
                <a:schemeClr val="tx1"/>
              </a:solidFill>
              <a:latin typeface="Times New Roman"/>
              <a:cs typeface="Times New Roman"/>
            </a:endParaRPr>
          </a:p>
          <a:p>
            <a:pPr algn="l">
              <a:lnSpc>
                <a:spcPts val="3779"/>
              </a:lnSpc>
              <a:defRPr/>
            </a:pPr>
            <a:r>
              <a:rPr lang="en-US" sz="2400">
                <a:solidFill>
                  <a:schemeClr val="tx1"/>
                </a:solidFill>
                <a:latin typeface="Times New Roman"/>
                <a:ea typeface="Times New Roman"/>
                <a:cs typeface="Times New Roman"/>
              </a:rPr>
              <a:t>As a result, users receive generic advice (e.g., "Walk 10,000 steps") but miss the personalized insights (e.g., "For you, a 20-minute walk is more impactful on mood than 8 hours of sleep").</a:t>
            </a:r>
            <a:endParaRPr sz="2400">
              <a:solidFill>
                <a:schemeClr val="tx1"/>
              </a:solidFill>
              <a:latin typeface="Times New Roman"/>
              <a:cs typeface="Times New Roman"/>
            </a:endParaRPr>
          </a:p>
          <a:p>
            <a:pPr algn="l">
              <a:lnSpc>
                <a:spcPts val="3779"/>
              </a:lnSpc>
              <a:defRPr/>
            </a:pPr>
            <a:endParaRPr sz="2400">
              <a:solidFill>
                <a:schemeClr val="tx1"/>
              </a:solidFill>
              <a:latin typeface="Times New Roman"/>
              <a:cs typeface="Times New Roman"/>
            </a:endParaRPr>
          </a:p>
        </p:txBody>
      </p:sp>
      <p:sp>
        <p:nvSpPr>
          <p:cNvPr id="1071129452" name="Title 1"/>
          <p:cNvSpPr>
            <a:spLocks noGrp="1"/>
          </p:cNvSpPr>
          <p:nvPr/>
        </p:nvSpPr>
        <p:spPr bwMode="auto">
          <a:xfrm flipH="0" flipV="0">
            <a:off x="-20319" y="-11853"/>
            <a:ext cx="18284220" cy="2786321"/>
          </a:xfrm>
          <a:prstGeom prst="rect">
            <a:avLst/>
          </a:prstGeom>
          <a:solidFill>
            <a:schemeClr val="tx2">
              <a:lumMod val="60000"/>
              <a:lumOff val="40000"/>
            </a:schemeClr>
          </a:solidFill>
        </p:spPr>
        <p:txBody>
          <a:bodyPr vertOverflow="overflow" horzOverflow="overflow" vert="horz" wrap="square" lIns="91440" tIns="45720" rIns="91440" bIns="45720" numCol="1" spcCol="0" rtlCol="0" fromWordArt="0" anchor="ctr" anchorCtr="0" forceAA="0" upright="0" compatLnSpc="0">
            <a:normAutofit/>
          </a:bodyPr>
          <a:lstStyle>
            <a:lvl1pPr algn="ctr" defTabSz="914400" rtl="0">
              <a:spcBef>
                <a:spcPts val="0"/>
              </a:spcBef>
              <a:buNone/>
              <a:defRPr sz="4400">
                <a:solidFill>
                  <a:schemeClr val="tx1"/>
                </a:solidFill>
                <a:latin typeface="+mj-lt"/>
                <a:ea typeface="+mj-ea"/>
                <a:cs typeface="+mj-cs"/>
              </a:defRPr>
            </a:lvl1pPr>
          </a:lstStyle>
          <a:p>
            <a:pPr algn="ctr">
              <a:lnSpc>
                <a:spcPct val="150000"/>
              </a:lnSpc>
              <a:defRPr/>
            </a:pPr>
            <a:r>
              <a:rPr lang="en-US" sz="4800" b="1" i="0" u="none" strike="noStrike" cap="none" spc="0">
                <a:solidFill>
                  <a:schemeClr val="bg1"/>
                </a:solidFill>
                <a:latin typeface="Times New Roman"/>
                <a:ea typeface="Times New Roman"/>
                <a:cs typeface="Times New Roman"/>
              </a:rPr>
              <a:t>THE PROBLEM: </a:t>
            </a:r>
            <a:r>
              <a:rPr lang="en-US" sz="4800" b="0" i="0" u="none" strike="noStrike" cap="none" spc="0">
                <a:solidFill>
                  <a:schemeClr val="bg1"/>
                </a:solidFill>
                <a:latin typeface="Times New Roman"/>
                <a:ea typeface="Times New Roman"/>
                <a:cs typeface="Times New Roman"/>
              </a:rPr>
              <a:t>A DISCONNECT BETWEEN MIND AND BODY DATA</a:t>
            </a:r>
            <a:endParaRPr sz="4800">
              <a:solidFill>
                <a:schemeClr val="bg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3952399" name="Freeform 2"/>
          <p:cNvSpPr/>
          <p:nvPr/>
        </p:nvSpPr>
        <p:spPr bwMode="auto">
          <a:xfrm rot="0" flipH="0" flipV="0">
            <a:off x="0" y="0"/>
            <a:ext cx="18288000" cy="10287000"/>
          </a:xfrm>
          <a:custGeom>
            <a:avLst/>
            <a:gdLst/>
            <a:ahLst/>
            <a:cxnLst/>
            <a:rect l="l" t="t" r="r" b="b"/>
            <a:pathLst>
              <a:path w="18288000" h="10287000" fill="norm" stroke="1" extrusionOk="0">
                <a:moveTo>
                  <a:pt x="0" y="0"/>
                </a:moveTo>
                <a:lnTo>
                  <a:pt x="18288000" y="0"/>
                </a:lnTo>
                <a:lnTo>
                  <a:pt x="18288000" y="10287000"/>
                </a:lnTo>
                <a:lnTo>
                  <a:pt x="0" y="10287000"/>
                </a:lnTo>
                <a:lnTo>
                  <a:pt x="0" y="0"/>
                </a:lnTo>
                <a:close/>
              </a:path>
            </a:pathLst>
          </a:custGeom>
          <a:blipFill>
            <a:blip r:embed="rId3"/>
            <a:srcRect l="0" t="7785" r="0" b="7784"/>
            <a:stretch/>
          </a:blipFill>
        </p:spPr>
      </p:sp>
      <p:graphicFrame>
        <p:nvGraphicFramePr>
          <p:cNvPr id="2008538778" name="Table 4"/>
          <p:cNvGraphicFramePr>
            <a:graphicFrameLocks xmlns:a="http://schemas.openxmlformats.org/drawingml/2006/main" noGrp="1"/>
          </p:cNvGraphicFramePr>
          <p:nvPr/>
        </p:nvGraphicFramePr>
        <p:xfrm>
          <a:off x="0" y="1629401"/>
          <a:ext cx="18288000" cy="8657599"/>
        </p:xfrm>
        <a:graphic>
          <a:graphicData uri="http://schemas.openxmlformats.org/drawingml/2006/table">
            <a:tbl>
              <a:tblPr firstRow="0" firstCol="0" lastRow="0" lastCol="0" bandRow="0" bandCol="0"/>
              <a:tblGrid>
                <a:gridCol w="2182002"/>
                <a:gridCol w="1980496"/>
                <a:gridCol w="1980496"/>
                <a:gridCol w="1980496"/>
                <a:gridCol w="1980496"/>
                <a:gridCol w="1980496"/>
                <a:gridCol w="1980496"/>
                <a:gridCol w="1980496"/>
                <a:gridCol w="2242525"/>
              </a:tblGrid>
              <a:tr h="533897">
                <a:tc>
                  <a:txBody>
                    <a:bodyPr/>
                    <a:p>
                      <a:pPr algn="l">
                        <a:lnSpc>
                          <a:spcPts val="1400"/>
                        </a:lnSpc>
                        <a:defRPr/>
                      </a:pPr>
                      <a:r>
                        <a:rPr lang="en-US" sz="1400" b="1">
                          <a:solidFill>
                            <a:srgbClr val="1B1C1D"/>
                          </a:solidFill>
                          <a:latin typeface="Times New Roman"/>
                          <a:ea typeface="Times New Roman"/>
                          <a:cs typeface="Times New Roman"/>
                        </a:rPr>
                        <a:t>S. No</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Paper Title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Authors &amp; Year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Objectives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Methodology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Algorithms Used</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Features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Merits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b="1">
                          <a:solidFill>
                            <a:srgbClr val="1B1C1D"/>
                          </a:solidFill>
                          <a:latin typeface="Times New Roman"/>
                          <a:ea typeface="Times New Roman"/>
                          <a:cs typeface="Times New Roman"/>
                        </a:rPr>
                        <a:t>Limitations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69201">
                <a:tc>
                  <a:txBody>
                    <a:bodyPr/>
                    <a:p>
                      <a:pPr algn="r">
                        <a:lnSpc>
                          <a:spcPts val="1400"/>
                        </a:lnSpc>
                        <a:defRPr/>
                      </a:pPr>
                      <a:r>
                        <a:rPr lang="en-US" sz="1400">
                          <a:solidFill>
                            <a:srgbClr val="1B1C1D"/>
                          </a:solidFill>
                          <a:latin typeface="Times New Roman"/>
                          <a:ea typeface="Times New Roman"/>
                          <a:cs typeface="Times New Roman"/>
                        </a:rPr>
                        <a:t>1</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The relationship between physical activity and mental health: a meta-analysis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Schuch, F. B. et al. (2018)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quantify the effect of physical activity on depression and anxiety.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Meta-analysis of longitudinal and cross-sectional studies.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Statistical analysis (meta-regression)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Physical activity levels, depression scores (e.g., PHQ-9)</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Establishes a strong, quantitative link between exercise and positive mental health outcomes.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Does not explore </a:t>
                      </a:r>
                      <a:r>
                        <a:rPr lang="en-US" sz="1400" i="1">
                          <a:solidFill>
                            <a:srgbClr val="1B1C1D"/>
                          </a:solidFill>
                          <a:latin typeface="Times New Roman"/>
                          <a:ea typeface="Times New Roman"/>
                          <a:cs typeface="Times New Roman"/>
                        </a:rPr>
                        <a:t>personalized</a:t>
                      </a:r>
                      <a:r>
                        <a:rPr lang="en-US" sz="1400">
                          <a:solidFill>
                            <a:srgbClr val="1B1C1D"/>
                          </a:solidFill>
                          <a:latin typeface="Times New Roman"/>
                          <a:ea typeface="Times New Roman"/>
                          <a:cs typeface="Times New Roman"/>
                        </a:rPr>
                        <a:t> relationships or real-time data; analysis is at a large population level, not individual (n-of-1).</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722594">
                <a:tc>
                  <a:txBody>
                    <a:bodyPr/>
                    <a:p>
                      <a:pPr algn="r">
                        <a:lnSpc>
                          <a:spcPts val="1400"/>
                        </a:lnSpc>
                        <a:defRPr/>
                      </a:pPr>
                      <a:r>
                        <a:rPr lang="en-US" sz="1400">
                          <a:solidFill>
                            <a:srgbClr val="1B1C1D"/>
                          </a:solidFill>
                          <a:latin typeface="Times New Roman"/>
                          <a:ea typeface="Times New Roman"/>
                          <a:cs typeface="Times New Roman"/>
                        </a:rPr>
                        <a:t>2</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Wearable sensors for monitoring mental health: A 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He, L. et al. (2020)</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review the use of wearable sensors (activity, HRV, sleep) in detecting and monitoring mental health conditions.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Systematic literature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Steps, Heart Rate Variability (HRV), Sleep, Electrodermal Activity (EDA)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Comprehensive overview of which sensors map to which conditions (e.g., HRV to stress).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Highlights that most studies are </a:t>
                      </a:r>
                      <a:r>
                        <a:rPr lang="en-US" sz="1400" i="1">
                          <a:solidFill>
                            <a:srgbClr val="1B1C1D"/>
                          </a:solidFill>
                          <a:latin typeface="Times New Roman"/>
                          <a:ea typeface="Times New Roman"/>
                          <a:cs typeface="Times New Roman"/>
                        </a:rPr>
                        <a:t>observational</a:t>
                      </a:r>
                      <a:r>
                        <a:rPr lang="en-US" sz="1400">
                          <a:solidFill>
                            <a:srgbClr val="1B1C1D"/>
                          </a:solidFill>
                          <a:latin typeface="Times New Roman"/>
                          <a:ea typeface="Times New Roman"/>
                          <a:cs typeface="Times New Roman"/>
                        </a:rPr>
                        <a:t>; very few systems use this data for a real-time, actionable </a:t>
                      </a:r>
                      <a:r>
                        <a:rPr lang="en-US" sz="1400" i="1">
                          <a:solidFill>
                            <a:srgbClr val="1B1C1D"/>
                          </a:solidFill>
                          <a:latin typeface="Times New Roman"/>
                          <a:ea typeface="Times New Roman"/>
                          <a:cs typeface="Times New Roman"/>
                        </a:rPr>
                        <a:t>feedback loop</a:t>
                      </a:r>
                      <a:r>
                        <a:rPr lang="en-US" sz="1400">
                          <a:solidFill>
                            <a:srgbClr val="1B1C1D"/>
                          </a:solidFill>
                          <a:latin typeface="Times New Roman"/>
                          <a:ea typeface="Times New Roman"/>
                          <a:cs typeface="Times New Roman"/>
                        </a:rPr>
                        <a:t> for the user.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605600">
                <a:tc>
                  <a:txBody>
                    <a:bodyPr/>
                    <a:p>
                      <a:pPr algn="r">
                        <a:lnSpc>
                          <a:spcPts val="1400"/>
                        </a:lnSpc>
                        <a:defRPr/>
                      </a:pPr>
                      <a:r>
                        <a:rPr lang="en-US" sz="1400">
                          <a:solidFill>
                            <a:srgbClr val="1B1C1D"/>
                          </a:solidFill>
                          <a:latin typeface="Times New Roman"/>
                          <a:ea typeface="Times New Roman"/>
                          <a:cs typeface="Times New Roman"/>
                        </a:rPr>
                        <a:t>3</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Sleep, Health, and Wellness: A Review of the National Sleep Foundation's key findings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Czeisler, C. A. (2015)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summarize the scientific literature on the relationship between sleep duration/quality and health outcomes.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Literature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 </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Sleep duration, sleep quality, health metrics (mood, cognition)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Strongly validates that sleep is a critical and measurable predictor of mood and cognitive performance.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Lacks integration with other lifestyle data (like journaling or daily stress) in a single platform.</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612095">
                <a:tc>
                  <a:txBody>
                    <a:bodyPr/>
                    <a:p>
                      <a:pPr algn="r">
                        <a:lnSpc>
                          <a:spcPts val="1400"/>
                        </a:lnSpc>
                        <a:defRPr/>
                      </a:pPr>
                      <a:r>
                        <a:rPr lang="en-US" sz="1400">
                          <a:solidFill>
                            <a:srgbClr val="1B1C1D"/>
                          </a:solidFill>
                          <a:latin typeface="Times New Roman"/>
                          <a:ea typeface="Times New Roman"/>
                          <a:cs typeface="Times New Roman"/>
                        </a:rPr>
                        <a:t>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Passive sensing of daily routines and social interactions to predict mood in bipolar disorder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Wang, R. et al. (2018)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use passive smartphone sensor data to predict mood state changes in individuals with bipolar disorder.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Longitudinal study with 40 participants using a custom app (EmotionSense).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Logistic Regression, Random Forest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GPS location, phone usage (screen time), activity (accelerometer)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High accuracy in predicting mood state. Proves passive sensing is a powerful, non-invasive tool.</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Relies on a clinical population; does not incorporate </a:t>
                      </a:r>
                      <a:r>
                        <a:rPr lang="en-US" sz="1400" i="1">
                          <a:solidFill>
                            <a:srgbClr val="1B1C1D"/>
                          </a:solidFill>
                          <a:latin typeface="Times New Roman"/>
                          <a:ea typeface="Times New Roman"/>
                          <a:cs typeface="Times New Roman"/>
                        </a:rPr>
                        <a:t>subjective user input</a:t>
                      </a:r>
                      <a:r>
                        <a:rPr lang="en-US" sz="1400">
                          <a:solidFill>
                            <a:srgbClr val="1B1C1D"/>
                          </a:solidFill>
                          <a:latin typeface="Times New Roman"/>
                          <a:ea typeface="Times New Roman"/>
                          <a:cs typeface="Times New Roman"/>
                        </a:rPr>
                        <a:t> (like a journal) to explain </a:t>
                      </a:r>
                      <a:r>
                        <a:rPr lang="en-US" sz="1400" i="1">
                          <a:solidFill>
                            <a:srgbClr val="1B1C1D"/>
                          </a:solidFill>
                          <a:latin typeface="Times New Roman"/>
                          <a:ea typeface="Times New Roman"/>
                          <a:cs typeface="Times New Roman"/>
                        </a:rPr>
                        <a:t>why</a:t>
                      </a:r>
                      <a:r>
                        <a:rPr lang="en-US" sz="1400">
                          <a:solidFill>
                            <a:srgbClr val="1B1C1D"/>
                          </a:solidFill>
                          <a:latin typeface="Times New Roman"/>
                          <a:ea typeface="Times New Roman"/>
                          <a:cs typeface="Times New Roman"/>
                        </a:rPr>
                        <a:t> a mood change occurred.</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714212">
                <a:tc>
                  <a:txBody>
                    <a:bodyPr/>
                    <a:p>
                      <a:pPr algn="r">
                        <a:lnSpc>
                          <a:spcPts val="1400"/>
                        </a:lnSpc>
                        <a:defRPr/>
                      </a:pPr>
                      <a:r>
                        <a:rPr lang="en-US" sz="1400">
                          <a:solidFill>
                            <a:srgbClr val="1B1C1D"/>
                          </a:solidFill>
                          <a:latin typeface="Times New Roman"/>
                          <a:ea typeface="Times New Roman"/>
                          <a:cs typeface="Times New Roman"/>
                        </a:rPr>
                        <a:t>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Stress and Heart Rate Variability: A Meta-Analysis and Review of the Literature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Kim, H. G. et al. (2018)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meta-analyze the relationship between psychological stress and HRV.</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Meta-analysis and 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Statistical analysis (Meta-analysis)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HRV (Time and Frequency domain), self-reported stress levels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Quantifies that low HRV is strongly associated with high psychological stress.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Confirms HRV is a valid biomarker but does not propose a </a:t>
                      </a:r>
                      <a:r>
                        <a:rPr lang="en-US" sz="1400" i="1">
                          <a:solidFill>
                            <a:srgbClr val="1B1C1D"/>
                          </a:solidFill>
                          <a:latin typeface="Times New Roman"/>
                          <a:ea typeface="Times New Roman"/>
                          <a:cs typeface="Times New Roman"/>
                        </a:rPr>
                        <a:t>system</a:t>
                      </a:r>
                      <a:r>
                        <a:rPr lang="en-US" sz="1400">
                          <a:solidFill>
                            <a:srgbClr val="1B1C1D"/>
                          </a:solidFill>
                          <a:latin typeface="Times New Roman"/>
                          <a:ea typeface="Times New Roman"/>
                          <a:cs typeface="Times New Roman"/>
                        </a:rPr>
                        <a:t> for continuous monitoring and feedback.</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bl>
          </a:graphicData>
        </a:graphic>
      </p:graphicFrame>
      <p:sp>
        <p:nvSpPr>
          <p:cNvPr id="1481671420" name="Title 1"/>
          <p:cNvSpPr>
            <a:spLocks noGrp="1"/>
          </p:cNvSpPr>
          <p:nvPr/>
        </p:nvSpPr>
        <p:spPr bwMode="auto">
          <a:xfrm flipH="0" flipV="0">
            <a:off x="0" y="0"/>
            <a:ext cx="18288000" cy="162940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9"/>
              </a:lnSpc>
              <a:defRPr/>
            </a:pPr>
            <a:r>
              <a:rPr lang="en-US" sz="4800" b="1" i="0" u="none" strike="noStrike" cap="none" spc="0">
                <a:solidFill>
                  <a:srgbClr val="F0F0F0"/>
                </a:solidFill>
                <a:latin typeface="Times New Roman"/>
                <a:ea typeface="Times New Roman"/>
                <a:cs typeface="Times New Roman"/>
              </a:rPr>
              <a:t>LITERATURE REVIEW SUMMARY</a:t>
            </a:r>
            <a:endParaRPr sz="480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3060A"/>
        </a:solidFill>
      </p:bgPr>
    </p:bg>
    <p:spTree>
      <p:nvGrpSpPr>
        <p:cNvPr id="1" name=""/>
        <p:cNvGrpSpPr/>
        <p:nvPr/>
      </p:nvGrpSpPr>
      <p:grpSpPr bwMode="auto">
        <a:xfrm>
          <a:off x="0" y="0"/>
          <a:ext cx="0" cy="0"/>
          <a:chOff x="0" y="0"/>
          <a:chExt cx="0" cy="0"/>
        </a:xfrm>
      </p:grpSpPr>
      <p:graphicFrame>
        <p:nvGraphicFramePr>
          <p:cNvPr id="1945987876" name="Table 2"/>
          <p:cNvGraphicFramePr>
            <a:graphicFrameLocks xmlns:a="http://schemas.openxmlformats.org/drawingml/2006/main" noGrp="1"/>
          </p:cNvGraphicFramePr>
          <p:nvPr/>
        </p:nvGraphicFramePr>
        <p:xfrm>
          <a:off x="0" y="0"/>
          <a:ext cx="18288000" cy="10287000"/>
        </p:xfrm>
        <a:graphic>
          <a:graphicData uri="http://schemas.openxmlformats.org/drawingml/2006/table">
            <a:tbl>
              <a:tblPr firstRow="0" firstCol="0" lastRow="0" lastCol="0" bandRow="0" bandCol="0"/>
              <a:tblGrid>
                <a:gridCol w="2032000"/>
                <a:gridCol w="2032000"/>
                <a:gridCol w="2032000"/>
                <a:gridCol w="2032000"/>
                <a:gridCol w="2032000"/>
                <a:gridCol w="2032000"/>
                <a:gridCol w="2032000"/>
                <a:gridCol w="2032000"/>
                <a:gridCol w="2032000"/>
              </a:tblGrid>
              <a:tr h="1295432">
                <a:tc>
                  <a:txBody>
                    <a:bodyPr/>
                    <a:p>
                      <a:pPr algn="r">
                        <a:lnSpc>
                          <a:spcPts val="1400"/>
                        </a:lnSpc>
                        <a:defRPr/>
                      </a:pPr>
                      <a:r>
                        <a:rPr lang="en-US" sz="1400">
                          <a:solidFill>
                            <a:srgbClr val="1B1C1D"/>
                          </a:solidFill>
                          <a:latin typeface="Times New Roman"/>
                          <a:ea typeface="Times New Roman"/>
                          <a:cs typeface="Times New Roman"/>
                        </a:rPr>
                        <a:t>6</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The effect of wearables on sleep in healthy individuals: a randomized crossover trial and validation study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de Zambotti, M. et al. (2021)</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study if wearing a sleep-tracking wearable device (Fitbit) improves sleep quality in healthy adults.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Randomized crossover trial.</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Linear mixed models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Wearable sleep data (Fitbit), self-reported sleep quality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Found that wearables can improve self-reported sleep quality and modify sleep behaviors.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Focuses on the </a:t>
                      </a:r>
                      <a:r>
                        <a:rPr lang="en-US" sz="1400" i="1">
                          <a:solidFill>
                            <a:srgbClr val="1B1C1D"/>
                          </a:solidFill>
                          <a:latin typeface="Times New Roman"/>
                          <a:ea typeface="Times New Roman"/>
                          <a:cs typeface="Times New Roman"/>
                        </a:rPr>
                        <a:t>effect</a:t>
                      </a:r>
                      <a:r>
                        <a:rPr lang="en-US" sz="1400">
                          <a:solidFill>
                            <a:srgbClr val="1B1C1D"/>
                          </a:solidFill>
                          <a:latin typeface="Times New Roman"/>
                          <a:ea typeface="Times New Roman"/>
                          <a:cs typeface="Times New Roman"/>
                        </a:rPr>
                        <a:t> of the wearable itself, not on </a:t>
                      </a:r>
                      <a:r>
                        <a:rPr lang="en-US" sz="1400" i="1">
                          <a:solidFill>
                            <a:srgbClr val="1B1C1D"/>
                          </a:solidFill>
                          <a:latin typeface="Times New Roman"/>
                          <a:ea typeface="Times New Roman"/>
                          <a:cs typeface="Times New Roman"/>
                        </a:rPr>
                        <a:t>correlating</a:t>
                      </a:r>
                      <a:r>
                        <a:rPr lang="en-US" sz="1400">
                          <a:solidFill>
                            <a:srgbClr val="1B1C1D"/>
                          </a:solidFill>
                          <a:latin typeface="Times New Roman"/>
                          <a:ea typeface="Times New Roman"/>
                          <a:cs typeface="Times New Roman"/>
                        </a:rPr>
                        <a:t> the wearable's data with other inputs like mood journals.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41976">
                <a:tc>
                  <a:txBody>
                    <a:bodyPr/>
                    <a:p>
                      <a:pPr algn="r">
                        <a:lnSpc>
                          <a:spcPts val="1400"/>
                        </a:lnSpc>
                        <a:defRPr/>
                      </a:pPr>
                      <a:r>
                        <a:rPr lang="en-US" sz="1400">
                          <a:solidFill>
                            <a:srgbClr val="1B1C1D"/>
                          </a:solidFill>
                          <a:latin typeface="Times New Roman"/>
                          <a:ea typeface="Times New Roman"/>
                          <a:cs typeface="Times New Roman"/>
                        </a:rPr>
                        <a:t>7</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Passive Sensing for Mental Health Monitoring Using Machine Learning With Wearables and Smartphones: Scoping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Zhang, Y. et al. (2023)</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review the current state of passive sensing and ML models for monitoring mental disorders.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Scoping review of 42 studies.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 </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HR, step count, movement index, sleep, GPS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Provides a recent overview of biomarkers. Shows Deep Learning models are highly accurate.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Most studies focus on </a:t>
                      </a:r>
                      <a:r>
                        <a:rPr lang="en-US" sz="1400" i="1">
                          <a:solidFill>
                            <a:srgbClr val="1B1C1D"/>
                          </a:solidFill>
                          <a:latin typeface="Times New Roman"/>
                          <a:ea typeface="Times New Roman"/>
                          <a:cs typeface="Times New Roman"/>
                        </a:rPr>
                        <a:t>clinical disorders</a:t>
                      </a:r>
                      <a:r>
                        <a:rPr lang="en-US" sz="1400">
                          <a:solidFill>
                            <a:srgbClr val="1B1C1D"/>
                          </a:solidFill>
                          <a:latin typeface="Times New Roman"/>
                          <a:ea typeface="Times New Roman"/>
                          <a:cs typeface="Times New Roman"/>
                        </a:rPr>
                        <a:t> (e.g., depression) and are cohort designs, not general wellness tools.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35315">
                <a:tc>
                  <a:txBody>
                    <a:bodyPr/>
                    <a:p>
                      <a:pPr algn="r">
                        <a:lnSpc>
                          <a:spcPts val="1400"/>
                        </a:lnSpc>
                        <a:defRPr/>
                      </a:pPr>
                      <a:r>
                        <a:rPr lang="en-US" sz="1400">
                          <a:solidFill>
                            <a:srgbClr val="1B1C1D"/>
                          </a:solidFill>
                          <a:latin typeface="Times New Roman"/>
                          <a:ea typeface="Times New Roman"/>
                          <a:cs typeface="Times New Roman"/>
                        </a:rPr>
                        <a:t>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Exploring the relationship between resting heart rate and mood in daily life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Verkuil, B. et al. (2016)</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investigate the link between resting heart rate (RHR) and daily mood.</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Ecological Momentary Assessment (EMA) study.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Multilevel models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RHR (wearable), self-reported mood (app)</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Found that a higher RHR in the morning is associated with lower positive affect and higher negative affect during the day.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 key correlational finding, but does not build an AI model to </a:t>
                      </a:r>
                      <a:r>
                        <a:rPr lang="en-US" sz="1400" i="1">
                          <a:solidFill>
                            <a:srgbClr val="1B1C1D"/>
                          </a:solidFill>
                          <a:latin typeface="Times New Roman"/>
                          <a:ea typeface="Times New Roman"/>
                          <a:cs typeface="Times New Roman"/>
                        </a:rPr>
                        <a:t>predict</a:t>
                      </a:r>
                      <a:r>
                        <a:rPr lang="en-US" sz="1400">
                          <a:solidFill>
                            <a:srgbClr val="1B1C1D"/>
                          </a:solidFill>
                          <a:latin typeface="Times New Roman"/>
                          <a:ea typeface="Times New Roman"/>
                          <a:cs typeface="Times New Roman"/>
                        </a:rPr>
                        <a:t> or </a:t>
                      </a:r>
                      <a:r>
                        <a:rPr lang="en-US" sz="1400" i="1">
                          <a:solidFill>
                            <a:srgbClr val="1B1C1D"/>
                          </a:solidFill>
                          <a:latin typeface="Times New Roman"/>
                          <a:ea typeface="Times New Roman"/>
                          <a:cs typeface="Times New Roman"/>
                        </a:rPr>
                        <a:t>provide feedback</a:t>
                      </a:r>
                      <a:r>
                        <a:rPr lang="en-US" sz="1400">
                          <a:solidFill>
                            <a:srgbClr val="1B1C1D"/>
                          </a:solidFill>
                          <a:latin typeface="Times New Roman"/>
                          <a:ea typeface="Times New Roman"/>
                          <a:cs typeface="Times New Roman"/>
                        </a:rPr>
                        <a:t> based on this.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288771">
                <a:tc>
                  <a:txBody>
                    <a:bodyPr/>
                    <a:p>
                      <a:pPr algn="r">
                        <a:lnSpc>
                          <a:spcPts val="1400"/>
                        </a:lnSpc>
                        <a:defRPr/>
                      </a:pPr>
                      <a:r>
                        <a:rPr lang="en-US" sz="1400">
                          <a:solidFill>
                            <a:srgbClr val="1B1C1D"/>
                          </a:solidFill>
                          <a:latin typeface="Times New Roman"/>
                          <a:ea typeface="Times New Roman"/>
                          <a:cs typeface="Times New Roman"/>
                        </a:rPr>
                        <a:t>9</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Detection and monitoring of stress using wearables: a 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E-N, L. et al. (2024)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systematically review wearable-based approaches for stress detection.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 </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EDA, HRV, ECG, skin temp.</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Confirms that ML models trained on wearable data can detect stress.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Highlights data heterogeneity and small sample sizes as major challenges in the field.</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08670">
                <a:tc>
                  <a:txBody>
                    <a:bodyPr/>
                    <a:p>
                      <a:pPr algn="r">
                        <a:lnSpc>
                          <a:spcPts val="1400"/>
                        </a:lnSpc>
                        <a:defRPr/>
                      </a:pPr>
                      <a:r>
                        <a:rPr lang="en-US" sz="1400">
                          <a:solidFill>
                            <a:srgbClr val="1B1C1D"/>
                          </a:solidFill>
                          <a:latin typeface="Times New Roman"/>
                          <a:ea typeface="Times New Roman"/>
                          <a:cs typeface="Times New Roman"/>
                        </a:rPr>
                        <a:t>10</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VADER: A Parsimonious Rule-based Model for Sentiment Analysis of Social Media Text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Hutto, C. J., &amp; Gilbert, E. (2014)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create and validate a sentiment analysis tool (VADER) optimized for informal text.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Model development and validation against other sentiment classifiers.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Rule-based, lexicon-based (VADER)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Sentiment score (valence), intensity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High accuracy on informal text (e.g., journals). Fast, lightweight, and doesn't require training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Lacks deep contextual understanding (e.g., sarcasm) that larger models might capture; provides a score, but not deeper </a:t>
                      </a:r>
                      <a:r>
                        <a:rPr lang="en-US" sz="1400" i="1">
                          <a:solidFill>
                            <a:srgbClr val="1B1C1D"/>
                          </a:solidFill>
                          <a:latin typeface="Times New Roman"/>
                          <a:ea typeface="Times New Roman"/>
                          <a:cs typeface="Times New Roman"/>
                        </a:rPr>
                        <a:t>themes</a:t>
                      </a:r>
                      <a:r>
                        <a:rPr lang="en-US" sz="1400">
                          <a:solidFill>
                            <a:srgbClr val="1B1C1D"/>
                          </a:solidFill>
                          <a:latin typeface="Times New Roman"/>
                          <a:ea typeface="Times New Roman"/>
                          <a:cs typeface="Times New Roman"/>
                        </a:rPr>
                        <a: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2061455">
                <a:tc>
                  <a:txBody>
                    <a:bodyPr/>
                    <a:p>
                      <a:pPr algn="r">
                        <a:lnSpc>
                          <a:spcPts val="1400"/>
                        </a:lnSpc>
                        <a:defRPr/>
                      </a:pPr>
                      <a:r>
                        <a:rPr lang="en-US" sz="1400">
                          <a:solidFill>
                            <a:srgbClr val="1B1C1D"/>
                          </a:solidFill>
                          <a:latin typeface="Times New Roman"/>
                          <a:ea typeface="Times New Roman"/>
                          <a:cs typeface="Times New Roman"/>
                        </a:rPr>
                        <a:t>11</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Deep learning for language in health</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Wu, S. et al. (2020)</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review how deep learning models (like BERT) are used to extract insights from clinical text and personal health narratives.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Literature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BERT, LSTMs, CNNs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Text from clinical notes, social media, journals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Demonstrates that deep learning can move beyond simple sentiment to identify complex themes like "social isolation" or "medication side effects."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These models are computationally heavy and require large datasets. Often lack a direct link to </a:t>
                      </a:r>
                      <a:r>
                        <a:rPr lang="en-US" sz="1400" i="1">
                          <a:solidFill>
                            <a:srgbClr val="1B1C1D"/>
                          </a:solidFill>
                          <a:latin typeface="Times New Roman"/>
                          <a:ea typeface="Times New Roman"/>
                          <a:cs typeface="Times New Roman"/>
                        </a:rPr>
                        <a:t>quantifiable</a:t>
                      </a:r>
                      <a:r>
                        <a:rPr lang="en-US" sz="1400">
                          <a:solidFill>
                            <a:srgbClr val="1B1C1D"/>
                          </a:solidFill>
                          <a:latin typeface="Times New Roman"/>
                          <a:ea typeface="Times New Roman"/>
                          <a:cs typeface="Times New Roman"/>
                        </a:rPr>
                        <a:t> sensor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355382">
                <a:tc>
                  <a:txBody>
                    <a:bodyPr/>
                    <a:p>
                      <a:pPr algn="r">
                        <a:lnSpc>
                          <a:spcPts val="1400"/>
                        </a:lnSpc>
                        <a:defRPr/>
                      </a:pPr>
                      <a:r>
                        <a:rPr lang="en-US" sz="1400">
                          <a:solidFill>
                            <a:srgbClr val="1B1C1D"/>
                          </a:solidFill>
                          <a:latin typeface="Times New Roman"/>
                          <a:ea typeface="Times New Roman"/>
                          <a:cs typeface="Times New Roman"/>
                        </a:rPr>
                        <a:t>12</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Mental health and social media: A computational approach to understanding the user's "voice"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Gkotsis, G. et al. (2017)</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use NLP to analyze the language of users on social media to identify markers of depression.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Data collection from Twitter; comparative analysis of NLP classifiers.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SVM, Naive Bayes, BERT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N-grams, emotional valence, topics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Successfully identifies linguistic markers associated with depression.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Ethical concerns with passive social media monitoring; data is public, not a private, self-reflective journal.</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3060A"/>
        </a:solidFill>
      </p:bgPr>
    </p:bg>
    <p:spTree>
      <p:nvGrpSpPr>
        <p:cNvPr id="1" name=""/>
        <p:cNvGrpSpPr/>
        <p:nvPr/>
      </p:nvGrpSpPr>
      <p:grpSpPr bwMode="auto">
        <a:xfrm>
          <a:off x="0" y="0"/>
          <a:ext cx="0" cy="0"/>
          <a:chOff x="0" y="0"/>
          <a:chExt cx="0" cy="0"/>
        </a:xfrm>
      </p:grpSpPr>
      <p:graphicFrame>
        <p:nvGraphicFramePr>
          <p:cNvPr id="606561297" name="Table 2"/>
          <p:cNvGraphicFramePr>
            <a:graphicFrameLocks xmlns:a="http://schemas.openxmlformats.org/drawingml/2006/main" noGrp="1"/>
          </p:cNvGraphicFramePr>
          <p:nvPr/>
        </p:nvGraphicFramePr>
        <p:xfrm>
          <a:off x="0" y="0"/>
          <a:ext cx="18288000" cy="10287000"/>
        </p:xfrm>
        <a:graphic>
          <a:graphicData uri="http://schemas.openxmlformats.org/drawingml/2006/table">
            <a:tbl>
              <a:tblPr firstRow="0" firstCol="0" lastRow="0" lastCol="0" bandRow="0" bandCol="0"/>
              <a:tblGrid>
                <a:gridCol w="2032000"/>
                <a:gridCol w="2032000"/>
                <a:gridCol w="2032000"/>
                <a:gridCol w="2032000"/>
                <a:gridCol w="2032000"/>
                <a:gridCol w="2032000"/>
                <a:gridCol w="2032000"/>
                <a:gridCol w="2032000"/>
                <a:gridCol w="2032000"/>
              </a:tblGrid>
              <a:tr h="1680210">
                <a:tc>
                  <a:txBody>
                    <a:bodyPr/>
                    <a:p>
                      <a:pPr algn="r">
                        <a:lnSpc>
                          <a:spcPts val="1400"/>
                        </a:lnSpc>
                        <a:defRPr/>
                      </a:pPr>
                      <a:r>
                        <a:rPr lang="en-US" sz="1400">
                          <a:solidFill>
                            <a:srgbClr val="1B1C1D"/>
                          </a:solidFill>
                          <a:latin typeface="Times New Roman"/>
                          <a:ea typeface="Times New Roman"/>
                          <a:cs typeface="Times New Roman"/>
                        </a:rPr>
                        <a:t>13</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Journaling for mental health: A review of the benefits and the role of technology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Krafft, P. M., &amp; El-Nasr, M. S. (2018)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review the psychological benefits of journaling and how technology can support it.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Literature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 </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Journaling frequency, content, user engagement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Confirms journaling is clinically effective. Suggests AI can help by prompting users or identifying themes.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Most "smart journals" only offer prompts or basic sentiment. They do </a:t>
                      </a:r>
                      <a:r>
                        <a:rPr lang="en-US" sz="1400" i="1">
                          <a:solidFill>
                            <a:srgbClr val="1B1C1D"/>
                          </a:solidFill>
                          <a:latin typeface="Times New Roman"/>
                          <a:ea typeface="Times New Roman"/>
                          <a:cs typeface="Times New Roman"/>
                        </a:rPr>
                        <a:t>not</a:t>
                      </a:r>
                      <a:r>
                        <a:rPr lang="en-US" sz="1400">
                          <a:solidFill>
                            <a:srgbClr val="1B1C1D"/>
                          </a:solidFill>
                          <a:latin typeface="Times New Roman"/>
                          <a:ea typeface="Times New Roman"/>
                          <a:cs typeface="Times New Roman"/>
                        </a:rPr>
                        <a:t> correlate the journal with the user's physical life (activity/sleep).</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241298">
                <a:tc>
                  <a:txBody>
                    <a:bodyPr/>
                    <a:p>
                      <a:pPr algn="r">
                        <a:lnSpc>
                          <a:spcPts val="1400"/>
                        </a:lnSpc>
                        <a:defRPr/>
                      </a:pPr>
                      <a:r>
                        <a:rPr lang="en-US" sz="1400">
                          <a:solidFill>
                            <a:srgbClr val="1B1C1D"/>
                          </a:solidFill>
                          <a:latin typeface="Times New Roman"/>
                          <a:ea typeface="Times New Roman"/>
                          <a:cs typeface="Times New Roman"/>
                        </a:rPr>
                        <a:t>14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EMO Diary: Daily Diary with Sentiment Analysis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B, R. S. et al. (2025)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develop a full-stack web application for daily journaling with built-in sentiment analysis.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System development.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NLP, ML Classification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Text and voice input, sentiment classification (e.g., happy, sad)</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 practical implementation of a "smart journal" for personal well-being.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The system analyzes the journal in isolation. It is not </a:t>
                      </a:r>
                      <a:r>
                        <a:rPr lang="en-US" sz="1400" i="1">
                          <a:solidFill>
                            <a:srgbClr val="1B1C1D"/>
                          </a:solidFill>
                          <a:latin typeface="Times New Roman"/>
                          <a:ea typeface="Times New Roman"/>
                          <a:cs typeface="Times New Roman"/>
                        </a:rPr>
                        <a:t>fused</a:t>
                      </a:r>
                      <a:r>
                        <a:rPr lang="en-US" sz="1400">
                          <a:solidFill>
                            <a:srgbClr val="1B1C1D"/>
                          </a:solidFill>
                          <a:latin typeface="Times New Roman"/>
                          <a:ea typeface="Times New Roman"/>
                          <a:cs typeface="Times New Roman"/>
                        </a:rPr>
                        <a:t> with any physiological or activity sensor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88186">
                <a:tc>
                  <a:txBody>
                    <a:bodyPr/>
                    <a:p>
                      <a:pPr algn="r">
                        <a:lnSpc>
                          <a:spcPts val="1400"/>
                        </a:lnSpc>
                        <a:defRPr/>
                      </a:pPr>
                      <a:r>
                        <a:rPr lang="en-US" sz="1400">
                          <a:solidFill>
                            <a:srgbClr val="1B1C1D"/>
                          </a:solidFill>
                          <a:latin typeface="Times New Roman"/>
                          <a:ea typeface="Times New Roman"/>
                          <a:cs typeface="Times New Roman"/>
                        </a:rPr>
                        <a:t>15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Natural language processing for mental health interventions: a 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 A. M. et al. (2023)</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review the growth and types of NLP used in mental health interventions (MHI).</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LLMs, Transformers, rule-based</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Therapy transcripts, online messages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Shows rapid growth in NLP for MHI since 2019, with a shift to larger models.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Most interventions are </a:t>
                      </a:r>
                      <a:r>
                        <a:rPr lang="en-US" sz="1400" i="1">
                          <a:solidFill>
                            <a:srgbClr val="1B1C1D"/>
                          </a:solidFill>
                          <a:latin typeface="Times New Roman"/>
                          <a:ea typeface="Times New Roman"/>
                          <a:cs typeface="Times New Roman"/>
                        </a:rPr>
                        <a:t>therapy-based</a:t>
                      </a:r>
                      <a:r>
                        <a:rPr lang="en-US" sz="1400">
                          <a:solidFill>
                            <a:srgbClr val="1B1C1D"/>
                          </a:solidFill>
                          <a:latin typeface="Times New Roman"/>
                          <a:ea typeface="Times New Roman"/>
                          <a:cs typeface="Times New Roman"/>
                        </a:rPr>
                        <a:t> (e.g., analyzing clinical transcripts), not self-management tools for everyday wellness.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309878">
                <a:tc>
                  <a:txBody>
                    <a:bodyPr/>
                    <a:p>
                      <a:pPr algn="r">
                        <a:lnSpc>
                          <a:spcPts val="1400"/>
                        </a:lnSpc>
                        <a:defRPr/>
                      </a:pPr>
                      <a:r>
                        <a:rPr lang="en-US" sz="1400">
                          <a:solidFill>
                            <a:srgbClr val="1B1C1D"/>
                          </a:solidFill>
                          <a:latin typeface="Times New Roman"/>
                          <a:ea typeface="Times New Roman"/>
                          <a:cs typeface="Times New Roman"/>
                        </a:rPr>
                        <a:t>16</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Effectiveness of an AI-based NLP intervention for depression and anxiety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Fulmer, R. et al. (2018)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test if an AI chatbot (Tess) based on CBT can reduce depression and anxiety symptoms.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Randomized controlled trial (RCT).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Rule-based NLP, CBT principles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Chatbot (Tess)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Showed that an NLP-based intervention significantly reduced symptoms compared to a control group.</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This is a </a:t>
                      </a:r>
                      <a:r>
                        <a:rPr lang="en-US" sz="1400" i="1">
                          <a:solidFill>
                            <a:srgbClr val="1B1C1D"/>
                          </a:solidFill>
                          <a:latin typeface="Times New Roman"/>
                          <a:ea typeface="Times New Roman"/>
                          <a:cs typeface="Times New Roman"/>
                        </a:rPr>
                        <a:t>chatbot</a:t>
                      </a:r>
                      <a:r>
                        <a:rPr lang="en-US" sz="1400">
                          <a:solidFill>
                            <a:srgbClr val="1B1C1D"/>
                          </a:solidFill>
                          <a:latin typeface="Times New Roman"/>
                          <a:ea typeface="Times New Roman"/>
                          <a:cs typeface="Times New Roman"/>
                        </a:rPr>
                        <a:t> (conversational agent), not a </a:t>
                      </a:r>
                      <a:r>
                        <a:rPr lang="en-US" sz="1400" i="1">
                          <a:solidFill>
                            <a:srgbClr val="1B1C1D"/>
                          </a:solidFill>
                          <a:latin typeface="Times New Roman"/>
                          <a:ea typeface="Times New Roman"/>
                          <a:cs typeface="Times New Roman"/>
                        </a:rPr>
                        <a:t>passive analysis tool</a:t>
                      </a:r>
                      <a:r>
                        <a:rPr lang="en-US" sz="1400">
                          <a:solidFill>
                            <a:srgbClr val="1B1C1D"/>
                          </a:solidFill>
                          <a:latin typeface="Times New Roman"/>
                          <a:ea typeface="Times New Roman"/>
                          <a:cs typeface="Times New Roman"/>
                        </a:rPr>
                        <a:t> that correlates journal data with sensor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536192">
                <a:tc>
                  <a:txBody>
                    <a:bodyPr/>
                    <a:p>
                      <a:pPr algn="r">
                        <a:lnSpc>
                          <a:spcPts val="1400"/>
                        </a:lnSpc>
                        <a:defRPr/>
                      </a:pPr>
                      <a:r>
                        <a:rPr lang="en-US" sz="1400">
                          <a:solidFill>
                            <a:srgbClr val="1B1C1D"/>
                          </a:solidFill>
                          <a:latin typeface="Times New Roman"/>
                          <a:ea typeface="Times New Roman"/>
                          <a:cs typeface="Times New Roman"/>
                        </a:rPr>
                        <a:t>17</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Sentiment Analysis for Mental Health: Challenges and Opportunities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Isreal, O. et al. (2025)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explore the challenges and opportunities of applying sentiment analysis to mental health.</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Literature review / Position paper.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 </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NLP, sentiment, context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Discusses key challenges: detecting subtle emotions, understanding context, and cultural differences.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simple sentiment analysis is not enough; it must be combined with other data (like wearables) for a full picture.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60754">
                <a:tc>
                  <a:txBody>
                    <a:bodyPr/>
                    <a:p>
                      <a:pPr algn="r">
                        <a:lnSpc>
                          <a:spcPts val="1400"/>
                        </a:lnSpc>
                        <a:defRPr/>
                      </a:pPr>
                      <a:r>
                        <a:rPr lang="en-US" sz="1400">
                          <a:solidFill>
                            <a:srgbClr val="1B1C1D"/>
                          </a:solidFill>
                          <a:latin typeface="Times New Roman"/>
                          <a:ea typeface="Times New Roman"/>
                          <a:cs typeface="Times New Roman"/>
                        </a:rPr>
                        <a:t>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 Multi-Modal Approach to Depression Detection using Speech, Activity, and Text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Alghowinem, S. et al. (2018)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fuse data from speech, text, and activity sensors to improve depression detection.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Data collection from 100 participants; fusion of multiple data streams.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Random Forest, SVM, Deep Learning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Vocal features, sentiment scores, step count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Fusion of all three modes achieved significantly higher accuracy (over 85%) than any single data mode alone.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Focus is on </a:t>
                      </a:r>
                      <a:r>
                        <a:rPr lang="en-US" sz="1400" i="1">
                          <a:solidFill>
                            <a:srgbClr val="1B1C1D"/>
                          </a:solidFill>
                          <a:latin typeface="Times New Roman"/>
                          <a:ea typeface="Times New Roman"/>
                          <a:cs typeface="Times New Roman"/>
                        </a:rPr>
                        <a:t>clinical diagnosis</a:t>
                      </a:r>
                      <a:r>
                        <a:rPr lang="en-US" sz="1400">
                          <a:solidFill>
                            <a:srgbClr val="1B1C1D"/>
                          </a:solidFill>
                          <a:latin typeface="Times New Roman"/>
                          <a:ea typeface="Times New Roman"/>
                          <a:cs typeface="Times New Roman"/>
                        </a:rPr>
                        <a:t> (depression) for a doctor, not on </a:t>
                      </a:r>
                      <a:r>
                        <a:rPr lang="en-US" sz="1400" i="1">
                          <a:solidFill>
                            <a:srgbClr val="1B1C1D"/>
                          </a:solidFill>
                          <a:latin typeface="Times New Roman"/>
                          <a:ea typeface="Times New Roman"/>
                          <a:cs typeface="Times New Roman"/>
                        </a:rPr>
                        <a:t>proactive wellness insights</a:t>
                      </a:r>
                      <a:r>
                        <a:rPr lang="en-US" sz="1400">
                          <a:solidFill>
                            <a:srgbClr val="1B1C1D"/>
                          </a:solidFill>
                          <a:latin typeface="Times New Roman"/>
                          <a:ea typeface="Times New Roman"/>
                          <a:cs typeface="Times New Roman"/>
                        </a:rPr>
                        <a:t> for a general user.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570482">
                <a:tc>
                  <a:txBody>
                    <a:bodyPr/>
                    <a:p>
                      <a:pPr algn="r">
                        <a:lnSpc>
                          <a:spcPts val="1400"/>
                        </a:lnSpc>
                        <a:defRPr/>
                      </a:pPr>
                      <a:r>
                        <a:rPr lang="en-US" sz="1400">
                          <a:solidFill>
                            <a:srgbClr val="1B1C1D"/>
                          </a:solidFill>
                          <a:latin typeface="Times New Roman"/>
                          <a:ea typeface="Times New Roman"/>
                          <a:cs typeface="Times New Roman"/>
                        </a:rPr>
                        <a:t>19</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Cross-modal Correlation Learning for Multi-modal Health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Du, Y. et al. (2019)</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propose a model that can find correlations between different data types (e.g., images and text) in health records.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Model development on public datasets (MIMIC-III).</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Deep Cross-Modal Hashing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Medical images, clinical notes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Presents a sophisticated AI technique for finding complex, non-linear correlations between different data types.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Highly theoretical; complex to implement; not applied to real-time personal wellness data (activity + journal).</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3060A"/>
        </a:solidFill>
      </p:bgPr>
    </p:bg>
    <p:spTree>
      <p:nvGrpSpPr>
        <p:cNvPr id="1" name=""/>
        <p:cNvGrpSpPr/>
        <p:nvPr/>
      </p:nvGrpSpPr>
      <p:grpSpPr bwMode="auto">
        <a:xfrm>
          <a:off x="0" y="0"/>
          <a:ext cx="0" cy="0"/>
          <a:chOff x="0" y="0"/>
          <a:chExt cx="0" cy="0"/>
        </a:xfrm>
      </p:grpSpPr>
      <p:graphicFrame>
        <p:nvGraphicFramePr>
          <p:cNvPr id="190933917" name="Table 2"/>
          <p:cNvGraphicFramePr>
            <a:graphicFrameLocks xmlns:a="http://schemas.openxmlformats.org/drawingml/2006/main" noGrp="1"/>
          </p:cNvGraphicFramePr>
          <p:nvPr/>
        </p:nvGraphicFramePr>
        <p:xfrm>
          <a:off x="0" y="0"/>
          <a:ext cx="18288000" cy="10287000"/>
        </p:xfrm>
        <a:graphic>
          <a:graphicData uri="http://schemas.openxmlformats.org/drawingml/2006/table">
            <a:tbl>
              <a:tblPr firstRow="0" firstCol="0" lastRow="0" lastCol="0" bandRow="0" bandCol="0"/>
              <a:tblGrid>
                <a:gridCol w="2032000"/>
                <a:gridCol w="2032000"/>
                <a:gridCol w="2032000"/>
                <a:gridCol w="2032000"/>
                <a:gridCol w="2032000"/>
                <a:gridCol w="2032000"/>
                <a:gridCol w="2032000"/>
                <a:gridCol w="2032000"/>
                <a:gridCol w="2032000"/>
              </a:tblGrid>
              <a:tr h="1290648">
                <a:tc>
                  <a:txBody>
                    <a:bodyPr/>
                    <a:p>
                      <a:pPr algn="r">
                        <a:lnSpc>
                          <a:spcPts val="1400"/>
                        </a:lnSpc>
                        <a:defRPr/>
                      </a:pPr>
                      <a:r>
                        <a:rPr lang="en-US" sz="1400">
                          <a:solidFill>
                            <a:srgbClr val="1B1C1D"/>
                          </a:solidFill>
                          <a:latin typeface="Times New Roman"/>
                          <a:ea typeface="Times New Roman"/>
                          <a:cs typeface="Times New Roman"/>
                        </a:rPr>
                        <a:t>20</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Digital Phenotyping for Mental Health: A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Torous, J. et al. (2017)</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define "Digital Phenotyping" and review its application in mental health.</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N/A </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Smartphone sensors, GPS, call logs, text, wearables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Establishes the entire field of using personal device data to create a "phenotype" of a user's mental state.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Most systems </a:t>
                      </a:r>
                      <a:r>
                        <a:rPr lang="en-US" sz="1400" i="1">
                          <a:solidFill>
                            <a:srgbClr val="1B1C1D"/>
                          </a:solidFill>
                          <a:latin typeface="Times New Roman"/>
                          <a:ea typeface="Times New Roman"/>
                          <a:cs typeface="Times New Roman"/>
                        </a:rPr>
                        <a:t>collect</a:t>
                      </a:r>
                      <a:r>
                        <a:rPr lang="en-US" sz="1400">
                          <a:solidFill>
                            <a:srgbClr val="1B1C1D"/>
                          </a:solidFill>
                          <a:latin typeface="Times New Roman"/>
                          <a:ea typeface="Times New Roman"/>
                          <a:cs typeface="Times New Roman"/>
                        </a:rPr>
                        <a:t> data, but few </a:t>
                      </a:r>
                      <a:r>
                        <a:rPr lang="en-US" sz="1400" i="1">
                          <a:solidFill>
                            <a:srgbClr val="1B1C1D"/>
                          </a:solidFill>
                          <a:latin typeface="Times New Roman"/>
                          <a:ea typeface="Times New Roman"/>
                          <a:cs typeface="Times New Roman"/>
                        </a:rPr>
                        <a:t>return</a:t>
                      </a:r>
                      <a:r>
                        <a:rPr lang="en-US" sz="1400">
                          <a:solidFill>
                            <a:srgbClr val="1B1C1D"/>
                          </a:solidFill>
                          <a:latin typeface="Times New Roman"/>
                          <a:ea typeface="Times New Roman"/>
                          <a:cs typeface="Times New Roman"/>
                        </a:rPr>
                        <a:t> meaningful, personalized, and actionable insights to the user.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974380">
                <a:tc>
                  <a:txBody>
                    <a:bodyPr/>
                    <a:p>
                      <a:pPr algn="r">
                        <a:lnSpc>
                          <a:spcPts val="1400"/>
                        </a:lnSpc>
                        <a:defRPr/>
                      </a:pPr>
                      <a:r>
                        <a:rPr lang="en-US" sz="1400">
                          <a:solidFill>
                            <a:srgbClr val="1B1C1D"/>
                          </a:solidFill>
                          <a:latin typeface="Times New Roman"/>
                          <a:ea typeface="Times New Roman"/>
                          <a:cs typeface="Times New Roman"/>
                        </a:rPr>
                        <a:t>21</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StudentLife: Assessing Mental Health, Academic Performance and Behavioral Trends of College Students using Smartphones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Wang, R. et al. (2014)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passively track a cohort of students using smartphones to find correlations between sensor data and academic/mental health outcomes.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Longitudinal study with 48 students.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Correlation analysis, Decision Trees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Activity, sleep, social interaction (audio), location (GPS)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Successfully correlated sensor data with GPA and depression scores. A landmark paper in passive sensing.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The insights were for the researchers, not the students. The system did not provide a personalized feedback loop.</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26040">
                <a:tc>
                  <a:txBody>
                    <a:bodyPr/>
                    <a:p>
                      <a:pPr algn="r">
                        <a:lnSpc>
                          <a:spcPts val="1400"/>
                        </a:lnSpc>
                        <a:defRPr/>
                      </a:pPr>
                      <a:r>
                        <a:rPr lang="en-US" sz="1400">
                          <a:solidFill>
                            <a:srgbClr val="1B1C1D"/>
                          </a:solidFill>
                          <a:latin typeface="Times New Roman"/>
                          <a:ea typeface="Times New Roman"/>
                          <a:cs typeface="Times New Roman"/>
                        </a:rPr>
                        <a:t>22</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Multimodal Machine Learning in Mental Health: A Survey of Data, Algorithms, and Challenges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 J. et al. (2024)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survey the landscape of multi-modal ML in mental health, including datasets and fusion strategies.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Survey paper.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Transformers, GNNs, Hybrid Fusion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Audio, visual, physiological, text modalities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Catalogs public datasets and fusion strategies. Confirms MML yields higher accuracy than any single channel alone.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Highlights fragmented data, privacy, and lack of longitudinal, "in-the-wild" benchmarks as major open challenges.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290648">
                <a:tc>
                  <a:txBody>
                    <a:bodyPr/>
                    <a:p>
                      <a:pPr algn="r">
                        <a:lnSpc>
                          <a:spcPts val="1400"/>
                        </a:lnSpc>
                        <a:defRPr/>
                      </a:pPr>
                      <a:r>
                        <a:rPr lang="en-US" sz="1400">
                          <a:solidFill>
                            <a:srgbClr val="1B1C1D"/>
                          </a:solidFill>
                          <a:latin typeface="Times New Roman"/>
                          <a:ea typeface="Times New Roman"/>
                          <a:cs typeface="Times New Roman"/>
                        </a:rPr>
                        <a:t>23</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Fusing Wearable Biosensors with Artificial Intelligence for Mental Health Monitoring: A Systematic Review</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L. H. et al. (2025)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review AI models using wearable biosensor data to predict mental health conditions.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Systematic review of 48 studies.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AI, ML models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HRV, EDA/GSR, ACC, PPG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Observes a strong upward trend in AI-driven biosensing for mental health.</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Notes that lack of ecological validity, small sample sizes, and data heterogeneity are key methodological challenges.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615674">
                <a:tc>
                  <a:txBody>
                    <a:bodyPr/>
                    <a:p>
                      <a:pPr algn="r">
                        <a:lnSpc>
                          <a:spcPts val="1400"/>
                        </a:lnSpc>
                        <a:defRPr/>
                      </a:pPr>
                      <a:r>
                        <a:rPr lang="en-US" sz="1400">
                          <a:solidFill>
                            <a:srgbClr val="1B1C1D"/>
                          </a:solidFill>
                          <a:latin typeface="Times New Roman"/>
                          <a:ea typeface="Times New Roman"/>
                          <a:cs typeface="Times New Roman"/>
                        </a:rPr>
                        <a:t>24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Harnessing Digital Phenotyping for Early Self-Detection of Psychological Distress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B. N. et al. (2025)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explore how digital phenotyping can be used for </a:t>
                      </a:r>
                      <a:r>
                        <a:rPr lang="en-US" sz="1400" i="1">
                          <a:solidFill>
                            <a:srgbClr val="1B1C1D"/>
                          </a:solidFill>
                          <a:latin typeface="Times New Roman"/>
                          <a:ea typeface="Times New Roman"/>
                          <a:cs typeface="Times New Roman"/>
                        </a:rPr>
                        <a:t>self-detection</a:t>
                      </a:r>
                      <a:r>
                        <a:rPr lang="en-US" sz="1400">
                          <a:solidFill>
                            <a:srgbClr val="1B1C1D"/>
                          </a:solidFill>
                          <a:latin typeface="Times New Roman"/>
                          <a:ea typeface="Times New Roman"/>
                          <a:cs typeface="Times New Roman"/>
                        </a:rPr>
                        <a:t> of emotional distress.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System design and mixed-method evaluation.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Digital Phenotyping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Active (mood entries) and Passive (smartphone sensors)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Proposes a prototype system (ESFY) for self-detection.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Focus is on </a:t>
                      </a:r>
                      <a:r>
                        <a:rPr lang="en-US" sz="1400" i="1">
                          <a:solidFill>
                            <a:srgbClr val="1B1C1D"/>
                          </a:solidFill>
                          <a:latin typeface="Times New Roman"/>
                          <a:ea typeface="Times New Roman"/>
                          <a:cs typeface="Times New Roman"/>
                        </a:rPr>
                        <a:t>detection</a:t>
                      </a:r>
                      <a:r>
                        <a:rPr lang="en-US" sz="1400">
                          <a:solidFill>
                            <a:srgbClr val="1B1C1D"/>
                          </a:solidFill>
                          <a:latin typeface="Times New Roman"/>
                          <a:ea typeface="Times New Roman"/>
                          <a:cs typeface="Times New Roman"/>
                        </a:rPr>
                        <a:t> of distress, not on </a:t>
                      </a:r>
                      <a:r>
                        <a:rPr lang="en-US" sz="1400" i="1">
                          <a:solidFill>
                            <a:srgbClr val="1B1C1D"/>
                          </a:solidFill>
                          <a:latin typeface="Times New Roman"/>
                          <a:ea typeface="Times New Roman"/>
                          <a:cs typeface="Times New Roman"/>
                        </a:rPr>
                        <a:t>correlating</a:t>
                      </a:r>
                      <a:r>
                        <a:rPr lang="en-US" sz="1400">
                          <a:solidFill>
                            <a:srgbClr val="1B1C1D"/>
                          </a:solidFill>
                          <a:latin typeface="Times New Roman"/>
                          <a:ea typeface="Times New Roman"/>
                          <a:cs typeface="Times New Roman"/>
                        </a:rPr>
                        <a:t> specific lifestyle factors (like sleep/steps) with mood to provide </a:t>
                      </a:r>
                      <a:r>
                        <a:rPr lang="en-US" sz="1400" i="1">
                          <a:solidFill>
                            <a:srgbClr val="1B1C1D"/>
                          </a:solidFill>
                          <a:latin typeface="Times New Roman"/>
                          <a:ea typeface="Times New Roman"/>
                          <a:cs typeface="Times New Roman"/>
                        </a:rPr>
                        <a:t>actionable suggestions</a:t>
                      </a:r>
                      <a:r>
                        <a:rPr lang="en-US" sz="1400">
                          <a:solidFill>
                            <a:srgbClr val="1B1C1D"/>
                          </a:solidFill>
                          <a:latin typeface="Times New Roman"/>
                          <a:ea typeface="Times New Roman"/>
                          <a:cs typeface="Times New Roman"/>
                        </a:rPr>
                        <a: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277109">
                <a:tc>
                  <a:txBody>
                    <a:bodyPr/>
                    <a:p>
                      <a:pPr algn="r">
                        <a:lnSpc>
                          <a:spcPts val="1400"/>
                        </a:lnSpc>
                        <a:defRPr/>
                      </a:pPr>
                      <a:r>
                        <a:rPr lang="en-US" sz="1400">
                          <a:solidFill>
                            <a:srgbClr val="1B1C1D"/>
                          </a:solidFill>
                          <a:latin typeface="Times New Roman"/>
                          <a:ea typeface="Times New Roman"/>
                          <a:cs typeface="Times New Roman"/>
                        </a:rPr>
                        <a:t>25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 review of physiological and behavioral monitoring with digital sensors for neuropsychiatric illnesses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 K. et al. (2018)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review how digital sensors can monitor neuropsychiatric illness.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Review paper.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ML algorithms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Actigraphy, location, word sentiment, voice tone, HR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Explicitly mentions fusing multiple data types (e.g., sentiment + HR).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Reinforces that data is high-dimensional and requires new methods, but focuses on clinical illness, not general wellness.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1412501">
                <a:tc>
                  <a:txBody>
                    <a:bodyPr/>
                    <a:p>
                      <a:pPr algn="r">
                        <a:lnSpc>
                          <a:spcPts val="1400"/>
                        </a:lnSpc>
                        <a:defRPr/>
                      </a:pPr>
                      <a:r>
                        <a:rPr lang="en-US" sz="1400">
                          <a:solidFill>
                            <a:srgbClr val="1B1C1D"/>
                          </a:solidFill>
                          <a:latin typeface="Times New Roman"/>
                          <a:ea typeface="Times New Roman"/>
                          <a:cs typeface="Times New Roman"/>
                        </a:rPr>
                        <a:t>26</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Multimodal Data Fusion for Depression Detection Approach</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 B. et al. (2024)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To propose and compare early and late fusion networks for depression detection using audio and text.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Model development and comparison.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CNNs, TF-IDF, Early &amp; Late Fusion</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Audio (MFCCs), Text (TF-IDF)</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Demonstrates that fusing audio and text is highly effective, with early fusion performing best.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This is audio + text, not </a:t>
                      </a:r>
                      <a:r>
                        <a:rPr lang="en-US" sz="1400" i="1">
                          <a:solidFill>
                            <a:srgbClr val="1B1C1D"/>
                          </a:solidFill>
                          <a:latin typeface="Times New Roman"/>
                          <a:ea typeface="Times New Roman"/>
                          <a:cs typeface="Times New Roman"/>
                        </a:rPr>
                        <a:t>sensor data</a:t>
                      </a:r>
                      <a:r>
                        <a:rPr lang="en-US" sz="1400">
                          <a:solidFill>
                            <a:srgbClr val="1B1C1D"/>
                          </a:solidFill>
                          <a:latin typeface="Times New Roman"/>
                          <a:ea typeface="Times New Roman"/>
                          <a:cs typeface="Times New Roman"/>
                        </a:rPr>
                        <a:t> (activity/sleep) + text. The core idea of fusion is similar, but the data types are different.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3060A"/>
        </a:solidFill>
      </p:bgPr>
    </p:bg>
    <p:spTree>
      <p:nvGrpSpPr>
        <p:cNvPr id="1" name=""/>
        <p:cNvGrpSpPr/>
        <p:nvPr/>
      </p:nvGrpSpPr>
      <p:grpSpPr bwMode="auto">
        <a:xfrm>
          <a:off x="0" y="0"/>
          <a:ext cx="0" cy="0"/>
          <a:chOff x="0" y="0"/>
          <a:chExt cx="0" cy="0"/>
        </a:xfrm>
      </p:grpSpPr>
      <p:graphicFrame>
        <p:nvGraphicFramePr>
          <p:cNvPr id="875087484" name="Table 2"/>
          <p:cNvGraphicFramePr>
            <a:graphicFrameLocks xmlns:a="http://schemas.openxmlformats.org/drawingml/2006/main" noGrp="1"/>
          </p:cNvGraphicFramePr>
          <p:nvPr/>
        </p:nvGraphicFramePr>
        <p:xfrm>
          <a:off x="0" y="0"/>
          <a:ext cx="18288000" cy="10271461"/>
        </p:xfrm>
        <a:graphic>
          <a:graphicData uri="http://schemas.openxmlformats.org/drawingml/2006/table">
            <a:tbl>
              <a:tblPr firstRow="0" firstCol="0" lastRow="0" lastCol="0" bandRow="0" bandCol="0"/>
              <a:tblGrid>
                <a:gridCol w="2032000"/>
                <a:gridCol w="2032000"/>
                <a:gridCol w="2032000"/>
                <a:gridCol w="2032000"/>
                <a:gridCol w="2032000"/>
                <a:gridCol w="2032000"/>
                <a:gridCol w="2032000"/>
                <a:gridCol w="2032000"/>
                <a:gridCol w="2032000"/>
              </a:tblGrid>
              <a:tr h="2205308">
                <a:tc>
                  <a:txBody>
                    <a:bodyPr/>
                    <a:p>
                      <a:pPr algn="r">
                        <a:lnSpc>
                          <a:spcPts val="1764"/>
                        </a:lnSpc>
                        <a:defRPr/>
                      </a:pPr>
                      <a:r>
                        <a:rPr lang="en-US" sz="1400">
                          <a:solidFill>
                            <a:srgbClr val="1B1C1D"/>
                          </a:solidFill>
                          <a:latin typeface="Times New Roman"/>
                          <a:ea typeface="Times New Roman"/>
                          <a:cs typeface="Times New Roman"/>
                        </a:rPr>
                        <a:t>27</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A Comprehensive Survey on Wearable Computing for Mental and Physical Health Monitoring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B. T. et al. (2024)</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To provide a survey on wearable computing for health, including AI/ML algorithms.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Survey paper.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AI, ML, Embedded AI</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Physiological and behavioral parameters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Positions wearable computing as a cornerstone of preventive and </a:t>
                      </a:r>
                      <a:r>
                        <a:rPr lang="en-US" sz="1400" i="1">
                          <a:solidFill>
                            <a:srgbClr val="1B1C1D"/>
                          </a:solidFill>
                          <a:latin typeface="Times New Roman"/>
                          <a:ea typeface="Times New Roman"/>
                          <a:cs typeface="Times New Roman"/>
                        </a:rPr>
                        <a:t>personalized</a:t>
                      </a:r>
                      <a:r>
                        <a:rPr lang="en-US" sz="1400">
                          <a:solidFill>
                            <a:srgbClr val="1B1C1D"/>
                          </a:solidFill>
                          <a:latin typeface="Times New Roman"/>
                          <a:ea typeface="Times New Roman"/>
                          <a:cs typeface="Times New Roman"/>
                        </a:rPr>
                        <a:t> healthcare.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Survey is broad; does not detail a specific system for fusing wearable data with </a:t>
                      </a:r>
                      <a:r>
                        <a:rPr lang="en-US" sz="1400" i="1">
                          <a:solidFill>
                            <a:srgbClr val="1B1C1D"/>
                          </a:solidFill>
                          <a:latin typeface="Times New Roman"/>
                          <a:ea typeface="Times New Roman"/>
                          <a:cs typeface="Times New Roman"/>
                        </a:rPr>
                        <a:t>journal text</a:t>
                      </a:r>
                      <a:r>
                        <a:rPr lang="en-US" sz="1400">
                          <a:solidFill>
                            <a:srgbClr val="1B1C1D"/>
                          </a:solidFill>
                          <a:latin typeface="Times New Roman"/>
                          <a:ea typeface="Times New Roman"/>
                          <a:cs typeface="Times New Roman"/>
                        </a:rPr>
                        <a: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2900459">
                <a:tc>
                  <a:txBody>
                    <a:bodyPr/>
                    <a:p>
                      <a:pPr algn="r">
                        <a:lnSpc>
                          <a:spcPts val="1764"/>
                        </a:lnSpc>
                        <a:defRPr/>
                      </a:pPr>
                      <a:r>
                        <a:rPr lang="en-US" sz="1400">
                          <a:solidFill>
                            <a:srgbClr val="1B1C1D"/>
                          </a:solidFill>
                          <a:latin typeface="Times New Roman"/>
                          <a:ea typeface="Times New Roman"/>
                          <a:cs typeface="Times New Roman"/>
                        </a:rPr>
                        <a:t>28</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Understanding User Perceptions of Personalized Feedback in Digital Health Tools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C. A. G. et al. (2025)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To explore how users perceive and respond to personalized feedback from digital health tools.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Qualitative study (semi-structured interviews).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Thematic Analysis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Personalized feedback, user engagement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Finds that users value </a:t>
                      </a:r>
                      <a:r>
                        <a:rPr lang="en-US" sz="1400" i="1">
                          <a:solidFill>
                            <a:srgbClr val="1B1C1D"/>
                          </a:solidFill>
                          <a:latin typeface="Times New Roman"/>
                          <a:ea typeface="Times New Roman"/>
                          <a:cs typeface="Times New Roman"/>
                        </a:rPr>
                        <a:t>adaptive, empathetic, and contextually relevant</a:t>
                      </a:r>
                      <a:r>
                        <a:rPr lang="en-US" sz="1400">
                          <a:solidFill>
                            <a:srgbClr val="1B1C1D"/>
                          </a:solidFill>
                          <a:latin typeface="Times New Roman"/>
                          <a:ea typeface="Times New Roman"/>
                          <a:cs typeface="Times New Roman"/>
                        </a:rPr>
                        <a:t> feedback. Trust is a key factor.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This paper explains </a:t>
                      </a:r>
                      <a:r>
                        <a:rPr lang="en-US" sz="1400" i="1">
                          <a:solidFill>
                            <a:srgbClr val="1B1C1D"/>
                          </a:solidFill>
                          <a:latin typeface="Times New Roman"/>
                          <a:ea typeface="Times New Roman"/>
                          <a:cs typeface="Times New Roman"/>
                        </a:rPr>
                        <a:t>how</a:t>
                      </a:r>
                      <a:r>
                        <a:rPr lang="en-US" sz="1400">
                          <a:solidFill>
                            <a:srgbClr val="1B1C1D"/>
                          </a:solidFill>
                          <a:latin typeface="Times New Roman"/>
                          <a:ea typeface="Times New Roman"/>
                          <a:cs typeface="Times New Roman"/>
                        </a:rPr>
                        <a:t> the feedback should be, but doesn't build the </a:t>
                      </a:r>
                      <a:r>
                        <a:rPr lang="en-US" sz="1400" i="1">
                          <a:solidFill>
                            <a:srgbClr val="1B1C1D"/>
                          </a:solidFill>
                          <a:latin typeface="Times New Roman"/>
                          <a:ea typeface="Times New Roman"/>
                          <a:cs typeface="Times New Roman"/>
                        </a:rPr>
                        <a:t>AI system</a:t>
                      </a:r>
                      <a:r>
                        <a:rPr lang="en-US" sz="1400">
                          <a:solidFill>
                            <a:srgbClr val="1B1C1D"/>
                          </a:solidFill>
                          <a:latin typeface="Times New Roman"/>
                          <a:ea typeface="Times New Roman"/>
                          <a:cs typeface="Times New Roman"/>
                        </a:rPr>
                        <a:t> that generates it. This justifies your "Insight Generation Layer."</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3008328">
                <a:tc>
                  <a:txBody>
                    <a:bodyPr/>
                    <a:p>
                      <a:pPr algn="r">
                        <a:lnSpc>
                          <a:spcPts val="1764"/>
                        </a:lnSpc>
                        <a:defRPr/>
                      </a:pPr>
                      <a:r>
                        <a:rPr lang="en-US" sz="1400">
                          <a:solidFill>
                            <a:srgbClr val="1B1C1D"/>
                          </a:solidFill>
                          <a:latin typeface="Times New Roman"/>
                          <a:ea typeface="Times New Roman"/>
                          <a:cs typeface="Times New Roman"/>
                        </a:rPr>
                        <a:t>29</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n-of-1-path: a path-analysis approach for finding personalized (n-of-1) health effects from time-series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M. C. et al. (2019)</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To propose a novel statistical method for finding personalized (n-of-1) causal relationships from individual time-series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Methodological development.</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Path Analysis, Statistical modeling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Time-series data (e.g., sensor data)</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400"/>
                        </a:lnSpc>
                        <a:defRPr/>
                      </a:pPr>
                      <a:r>
                        <a:rPr lang="en-US" sz="1400">
                          <a:solidFill>
                            <a:srgbClr val="1B1C1D"/>
                          </a:solidFill>
                          <a:latin typeface="Times New Roman"/>
                          <a:ea typeface="Times New Roman"/>
                          <a:cs typeface="Times New Roman"/>
                        </a:rPr>
                        <a:t>Proposes a specific, advanced method for finding </a:t>
                      </a:r>
                      <a:r>
                        <a:rPr lang="en-US" sz="1400" i="1">
                          <a:solidFill>
                            <a:srgbClr val="1B1C1D"/>
                          </a:solidFill>
                          <a:latin typeface="Times New Roman"/>
                          <a:ea typeface="Times New Roman"/>
                          <a:cs typeface="Times New Roman"/>
                        </a:rPr>
                        <a:t>personalized</a:t>
                      </a:r>
                      <a:r>
                        <a:rPr lang="en-US" sz="1400">
                          <a:solidFill>
                            <a:srgbClr val="1B1C1D"/>
                          </a:solidFill>
                          <a:latin typeface="Times New Roman"/>
                          <a:ea typeface="Times New Roman"/>
                          <a:cs typeface="Times New Roman"/>
                        </a:rPr>
                        <a:t> effects, which is exactly what your project aims to do.</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lgn="l">
                        <a:lnSpc>
                          <a:spcPts val="1764"/>
                        </a:lnSpc>
                        <a:defRPr/>
                      </a:pPr>
                      <a:r>
                        <a:rPr lang="en-US" sz="1400">
                          <a:solidFill>
                            <a:srgbClr val="1B1C1D"/>
                          </a:solidFill>
                          <a:latin typeface="Times New Roman"/>
                          <a:ea typeface="Times New Roman"/>
                          <a:cs typeface="Times New Roman"/>
                        </a:rPr>
                        <a:t>Highly statistical and complex. A full implementation may be beyond the scope of one project, but it proves the need for "n-of-1" models.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r h="2157366">
                <a:tc>
                  <a:txBody>
                    <a:bodyPr/>
                    <a:p>
                      <a:pPr algn="r">
                        <a:defRPr/>
                      </a:pPr>
                      <a:r>
                        <a:rPr sz="1400" b="0" i="0" u="none">
                          <a:solidFill>
                            <a:srgbClr val="000000"/>
                          </a:solidFill>
                          <a:latin typeface="Times New Roman"/>
                          <a:ea typeface="Times New Roman"/>
                          <a:cs typeface="Times New Roman"/>
                        </a:rPr>
                        <a:t>30</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MyBehavior: A System for Long-Term Personalized Health Coaching</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Rabbi, M. et al. (2015)</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To develop a mobile system that models the relationships between an individual's behavior (activity, sleep) and their self-reported well-being to provide personalized feedback.</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Deployed a mobile app that passively tracks sensor data and uses Ecological Momentary Assessment (EMA) for self-reports.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N-of-1 statistical modeling (Vector Autoregression - VAR), Correlation analysis.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Passive sensing (activity, sleep, location), EMA prompts for mood/stress, personalized correlation models.</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A pioneering system in personalized, n-of-1 health coaching. It's one of the first to build a </a:t>
                      </a:r>
                      <a:r>
                        <a:rPr sz="1400" b="0" i="1" u="none">
                          <a:solidFill>
                            <a:srgbClr val="000000"/>
                          </a:solidFill>
                          <a:latin typeface="Times New Roman"/>
                          <a:ea typeface="Times New Roman"/>
                          <a:cs typeface="Times New Roman"/>
                        </a:rPr>
                        <a:t>personalized</a:t>
                      </a:r>
                      <a:r>
                        <a:rPr sz="1400" b="0" i="0" u="none">
                          <a:solidFill>
                            <a:srgbClr val="000000"/>
                          </a:solidFill>
                          <a:latin typeface="Times New Roman"/>
                          <a:ea typeface="Times New Roman"/>
                          <a:cs typeface="Times New Roman"/>
                        </a:rPr>
                        <a:t> model for </a:t>
                      </a:r>
                      <a:r>
                        <a:rPr sz="1400" b="0" i="1" u="none">
                          <a:solidFill>
                            <a:srgbClr val="000000"/>
                          </a:solidFill>
                          <a:latin typeface="Times New Roman"/>
                          <a:ea typeface="Times New Roman"/>
                          <a:cs typeface="Times New Roman"/>
                        </a:rPr>
                        <a:t>each user</a:t>
                      </a:r>
                      <a:r>
                        <a:rPr sz="1400" b="0" i="0" u="none">
                          <a:solidFill>
                            <a:srgbClr val="000000"/>
                          </a:solidFill>
                          <a:latin typeface="Times New Roman"/>
                          <a:ea typeface="Times New Roman"/>
                          <a:cs typeface="Times New Roman"/>
                        </a:rPr>
                        <a:t> instead of a general one.</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c>
                  <a:txBody>
                    <a:bodyPr/>
                    <a:p>
                      <a:pPr>
                        <a:defRPr/>
                      </a:pPr>
                      <a:r>
                        <a:rPr sz="1400" b="0" i="0" u="none">
                          <a:solidFill>
                            <a:srgbClr val="000000"/>
                          </a:solidFill>
                          <a:latin typeface="Times New Roman"/>
                          <a:ea typeface="Times New Roman"/>
                          <a:cs typeface="Times New Roman"/>
                        </a:rPr>
                        <a:t>The self-reports are structured (e.g., "Mood: 1-5"), not unstructured </a:t>
                      </a:r>
                      <a:r>
                        <a:rPr sz="1400" b="0" i="1" u="none">
                          <a:solidFill>
                            <a:srgbClr val="000000"/>
                          </a:solidFill>
                          <a:latin typeface="Times New Roman"/>
                          <a:ea typeface="Times New Roman"/>
                          <a:cs typeface="Times New Roman"/>
                        </a:rPr>
                        <a:t>journals</a:t>
                      </a:r>
                      <a:r>
                        <a:rPr sz="1400" b="0" i="0" u="none">
                          <a:solidFill>
                            <a:srgbClr val="000000"/>
                          </a:solidFill>
                          <a:latin typeface="Times New Roman"/>
                          <a:ea typeface="Times New Roman"/>
                          <a:cs typeface="Times New Roman"/>
                        </a:rPr>
                        <a:t>. It </a:t>
                      </a:r>
                      <a:r>
                        <a:rPr sz="1400" b="0" i="0" u="none">
                          <a:solidFill>
                            <a:srgbClr val="000000"/>
                          </a:solidFill>
                          <a:latin typeface="Times New Roman"/>
                          <a:ea typeface="Times New Roman"/>
                          <a:cs typeface="Times New Roman"/>
                        </a:rPr>
                        <a:t>does not use NLP</a:t>
                      </a:r>
                      <a:r>
                        <a:rPr sz="1400" b="0" i="0" u="none">
                          <a:solidFill>
                            <a:srgbClr val="000000"/>
                          </a:solidFill>
                          <a:latin typeface="Times New Roman"/>
                          <a:ea typeface="Times New Roman"/>
                          <a:cs typeface="Times New Roman"/>
                        </a:rPr>
                        <a:t> to analyze the </a:t>
                      </a:r>
                      <a:r>
                        <a:rPr sz="1400" b="0" i="1" u="none">
                          <a:solidFill>
                            <a:srgbClr val="000000"/>
                          </a:solidFill>
                          <a:latin typeface="Times New Roman"/>
                          <a:ea typeface="Times New Roman"/>
                          <a:cs typeface="Times New Roman"/>
                        </a:rPr>
                        <a:t>context</a:t>
                      </a:r>
                      <a:r>
                        <a:rPr sz="1400" b="0" i="0" u="none">
                          <a:solidFill>
                            <a:srgbClr val="000000"/>
                          </a:solidFill>
                          <a:latin typeface="Times New Roman"/>
                          <a:ea typeface="Times New Roman"/>
                          <a:cs typeface="Times New Roman"/>
                        </a:rPr>
                        <a:t> or </a:t>
                      </a:r>
                      <a:r>
                        <a:rPr sz="1400" b="0" i="1" u="none">
                          <a:solidFill>
                            <a:srgbClr val="000000"/>
                          </a:solidFill>
                          <a:latin typeface="Times New Roman"/>
                          <a:ea typeface="Times New Roman"/>
                          <a:cs typeface="Times New Roman"/>
                        </a:rPr>
                        <a:t>themes</a:t>
                      </a:r>
                      <a:r>
                        <a:rPr sz="1400" b="0" i="0" u="none">
                          <a:solidFill>
                            <a:srgbClr val="000000"/>
                          </a:solidFill>
                          <a:latin typeface="Times New Roman"/>
                          <a:ea typeface="Times New Roman"/>
                          <a:cs typeface="Times New Roman"/>
                        </a:rPr>
                        <a:t> of a user's day, which is a key part of your project's novelty.</a:t>
                      </a:r>
                      <a:endParaRPr sz="1400">
                        <a:latin typeface="Times New Roman"/>
                        <a:cs typeface="Times New Roman"/>
                      </a:endParaRPr>
                    </a:p>
                  </a:txBody>
                  <a:tcPr marL="76200" marR="76200" marT="76200" marB="76200"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8FAFD"/>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993856215" name="Group 5"/>
          <p:cNvGrpSpPr/>
          <p:nvPr/>
        </p:nvGrpSpPr>
        <p:grpSpPr bwMode="auto">
          <a:xfrm rot="0">
            <a:off x="312642" y="2043527"/>
            <a:ext cx="16187128" cy="6730838"/>
            <a:chOff x="0" y="0"/>
            <a:chExt cx="4263277" cy="1772731"/>
          </a:xfrm>
        </p:grpSpPr>
        <p:sp>
          <p:nvSpPr>
            <p:cNvPr id="6" name="Freeform 6"/>
            <p:cNvSpPr/>
            <p:nvPr/>
          </p:nvSpPr>
          <p:spPr bwMode="auto">
            <a:xfrm rot="0" flipH="0" flipV="0">
              <a:off x="0" y="0"/>
              <a:ext cx="4263277" cy="1772731"/>
            </a:xfrm>
            <a:custGeom>
              <a:avLst/>
              <a:gdLst/>
              <a:ahLst/>
              <a:cxnLst/>
              <a:rect l="l" t="t" r="r" b="b"/>
              <a:pathLst>
                <a:path w="4263277" h="1772731" fill="norm" stroke="1" extrusionOk="0">
                  <a:moveTo>
                    <a:pt x="22001" y="0"/>
                  </a:moveTo>
                  <a:lnTo>
                    <a:pt x="4241276" y="0"/>
                  </a:lnTo>
                  <a:cubicBezTo>
                    <a:pt x="4253426" y="0"/>
                    <a:pt x="4263277" y="9850"/>
                    <a:pt x="4263277" y="22001"/>
                  </a:cubicBezTo>
                  <a:lnTo>
                    <a:pt x="4263277" y="1750730"/>
                  </a:lnTo>
                  <a:cubicBezTo>
                    <a:pt x="4263277" y="1762881"/>
                    <a:pt x="4253426" y="1772731"/>
                    <a:pt x="4241276" y="1772731"/>
                  </a:cubicBezTo>
                  <a:lnTo>
                    <a:pt x="22001" y="1772731"/>
                  </a:lnTo>
                  <a:cubicBezTo>
                    <a:pt x="9850" y="1772731"/>
                    <a:pt x="0" y="1762881"/>
                    <a:pt x="0" y="1750730"/>
                  </a:cubicBezTo>
                  <a:lnTo>
                    <a:pt x="0" y="22001"/>
                  </a:lnTo>
                  <a:cubicBezTo>
                    <a:pt x="0" y="9850"/>
                    <a:pt x="9850" y="0"/>
                    <a:pt x="22001" y="0"/>
                  </a:cubicBezTo>
                  <a:close/>
                </a:path>
              </a:pathLst>
            </a:custGeom>
            <a:solidFill>
              <a:srgbClr val="FFFFFF">
                <a:alpha val="25882"/>
              </a:srgbClr>
            </a:solidFill>
          </p:spPr>
          <p:txBody>
            <a:bodyPr/>
            <a:p>
              <a:pPr>
                <a:defRPr/>
              </a:pPr>
              <a:endParaRPr>
                <a:solidFill>
                  <a:schemeClr val="tx1"/>
                </a:solidFill>
              </a:endParaRPr>
            </a:p>
          </p:txBody>
        </p:sp>
        <p:sp>
          <p:nvSpPr>
            <p:cNvPr id="7" name="TextBox 7"/>
            <p:cNvSpPr txBox="1"/>
            <p:nvPr/>
          </p:nvSpPr>
          <p:spPr bwMode="auto">
            <a:xfrm>
              <a:off x="0" y="-47625"/>
              <a:ext cx="4263277" cy="1820356"/>
            </a:xfrm>
            <a:prstGeom prst="rect">
              <a:avLst/>
            </a:prstGeom>
            <a:grpFill/>
          </p:spPr>
          <p:txBody>
            <a:bodyPr lIns="50800" tIns="50800" rIns="50800" bIns="50800" rtlCol="0" anchor="ctr"/>
            <a:lstStyle/>
            <a:p>
              <a:pPr algn="ctr">
                <a:lnSpc>
                  <a:spcPts val="3218"/>
                </a:lnSpc>
                <a:defRPr/>
              </a:pPr>
              <a:endParaRPr>
                <a:solidFill>
                  <a:schemeClr val="tx1"/>
                </a:solidFill>
              </a:endParaRPr>
            </a:p>
          </p:txBody>
        </p:sp>
      </p:grpSp>
      <p:sp>
        <p:nvSpPr>
          <p:cNvPr id="358530656" name="TextBox 8"/>
          <p:cNvSpPr txBox="1"/>
          <p:nvPr/>
        </p:nvSpPr>
        <p:spPr bwMode="auto">
          <a:xfrm rot="0">
            <a:off x="539656" y="2576480"/>
            <a:ext cx="15734176" cy="5630015"/>
          </a:xfrm>
          <a:prstGeom prst="rect">
            <a:avLst/>
          </a:prstGeom>
        </p:spPr>
        <p:txBody>
          <a:bodyPr lIns="0" tIns="0" rIns="0" bIns="0" rtlCol="0" anchor="t">
            <a:spAutoFit/>
          </a:bodyPr>
          <a:lstStyle/>
          <a:p>
            <a:pPr algn="l">
              <a:lnSpc>
                <a:spcPts val="3694"/>
              </a:lnSpc>
              <a:defRPr/>
            </a:pPr>
            <a:r>
              <a:rPr lang="en-US" sz="2400" b="1">
                <a:solidFill>
                  <a:schemeClr val="tx1"/>
                </a:solidFill>
                <a:latin typeface="Times New Roman"/>
                <a:ea typeface="Times New Roman"/>
                <a:cs typeface="Times New Roman"/>
              </a:rPr>
              <a:t>The Personalization Gap (n-of-1):</a:t>
            </a:r>
            <a:endParaRPr sz="2400">
              <a:solidFill>
                <a:schemeClr val="tx1"/>
              </a:solidFill>
              <a:latin typeface="Times New Roman"/>
              <a:cs typeface="Times New Roman"/>
            </a:endParaRPr>
          </a:p>
          <a:p>
            <a:pPr marL="531972" lvl="1" indent="-265986" algn="l">
              <a:lnSpc>
                <a:spcPts val="3694"/>
              </a:lnSpc>
              <a:buFont typeface="Arial"/>
              <a:buChar char="•"/>
              <a:defRPr/>
            </a:pPr>
            <a:r>
              <a:rPr lang="en-US" sz="2400">
                <a:solidFill>
                  <a:schemeClr val="tx1"/>
                </a:solidFill>
                <a:latin typeface="Times New Roman"/>
                <a:ea typeface="Times New Roman"/>
                <a:cs typeface="Times New Roman"/>
              </a:rPr>
              <a:t>Most studies stop at general correlations (e.g., "sleep affects mood in a 1000-person study").</a:t>
            </a:r>
            <a:endParaRPr sz="2400">
              <a:solidFill>
                <a:schemeClr val="tx1"/>
              </a:solidFill>
              <a:latin typeface="Times New Roman"/>
              <a:cs typeface="Times New Roman"/>
            </a:endParaRPr>
          </a:p>
          <a:p>
            <a:pPr marL="531972" lvl="1" indent="-265986" algn="l">
              <a:lnSpc>
                <a:spcPts val="3694"/>
              </a:lnSpc>
              <a:buFont typeface="Arial"/>
              <a:buChar char="•"/>
              <a:defRPr/>
            </a:pPr>
            <a:r>
              <a:rPr lang="en-US" sz="2400">
                <a:solidFill>
                  <a:schemeClr val="tx1"/>
                </a:solidFill>
                <a:latin typeface="Times New Roman"/>
                <a:ea typeface="Times New Roman"/>
                <a:cs typeface="Times New Roman"/>
              </a:rPr>
              <a:t>Gap: There is a distinct lack of systems designed to find personalized, individual-specific (n-of-1) correlations and present them to the user.</a:t>
            </a:r>
            <a:endParaRPr sz="2400">
              <a:solidFill>
                <a:schemeClr val="tx1"/>
              </a:solidFill>
              <a:latin typeface="Times New Roman"/>
              <a:cs typeface="Times New Roman"/>
            </a:endParaRPr>
          </a:p>
          <a:p>
            <a:pPr algn="l">
              <a:lnSpc>
                <a:spcPts val="3694"/>
              </a:lnSpc>
              <a:defRPr/>
            </a:pPr>
            <a:r>
              <a:rPr lang="en-US" sz="2400" b="1">
                <a:solidFill>
                  <a:schemeClr val="tx1"/>
                </a:solidFill>
                <a:latin typeface="Times New Roman"/>
                <a:ea typeface="Times New Roman"/>
                <a:cs typeface="Times New Roman"/>
              </a:rPr>
              <a:t>The Integration Gap (Siloed Systems):</a:t>
            </a:r>
            <a:endParaRPr sz="2400">
              <a:solidFill>
                <a:schemeClr val="tx1"/>
              </a:solidFill>
              <a:latin typeface="Times New Roman"/>
              <a:cs typeface="Times New Roman"/>
            </a:endParaRPr>
          </a:p>
          <a:p>
            <a:pPr marL="531972" lvl="1" indent="-265986" algn="l">
              <a:lnSpc>
                <a:spcPts val="3694"/>
              </a:lnSpc>
              <a:buFont typeface="Arial"/>
              <a:buChar char="•"/>
              <a:defRPr/>
            </a:pPr>
            <a:r>
              <a:rPr lang="en-US" sz="2400">
                <a:solidFill>
                  <a:schemeClr val="tx1"/>
                </a:solidFill>
                <a:latin typeface="Times New Roman"/>
                <a:ea typeface="Times New Roman"/>
                <a:cs typeface="Times New Roman"/>
              </a:rPr>
              <a:t>Activity trackers track activity. Journaling apps are for journals.</a:t>
            </a:r>
            <a:endParaRPr sz="2400">
              <a:solidFill>
                <a:schemeClr val="tx1"/>
              </a:solidFill>
              <a:latin typeface="Times New Roman"/>
              <a:cs typeface="Times New Roman"/>
            </a:endParaRPr>
          </a:p>
          <a:p>
            <a:pPr marL="531972" lvl="1" indent="-265986" algn="l">
              <a:lnSpc>
                <a:spcPts val="3694"/>
              </a:lnSpc>
              <a:buFont typeface="Arial"/>
              <a:buChar char="•"/>
              <a:defRPr/>
            </a:pPr>
            <a:r>
              <a:rPr lang="en-US" sz="2400">
                <a:solidFill>
                  <a:schemeClr val="tx1"/>
                </a:solidFill>
                <a:latin typeface="Times New Roman"/>
                <a:ea typeface="Times New Roman"/>
                <a:cs typeface="Times New Roman"/>
              </a:rPr>
              <a:t>Gap: Few, if any, commercially available systems nativ</a:t>
            </a:r>
            <a:r>
              <a:rPr lang="en-US" sz="2400">
                <a:solidFill>
                  <a:schemeClr val="tx1"/>
                </a:solidFill>
                <a:latin typeface="Times New Roman"/>
                <a:ea typeface="Times New Roman"/>
                <a:cs typeface="Times New Roman"/>
              </a:rPr>
              <a:t>ely integrate and deeply analyze these two data streams within a single, unified platform.</a:t>
            </a:r>
            <a:endParaRPr sz="2400">
              <a:solidFill>
                <a:schemeClr val="tx1"/>
              </a:solidFill>
              <a:latin typeface="Times New Roman"/>
              <a:cs typeface="Times New Roman"/>
            </a:endParaRPr>
          </a:p>
          <a:p>
            <a:pPr algn="l">
              <a:lnSpc>
                <a:spcPts val="3694"/>
              </a:lnSpc>
              <a:defRPr/>
            </a:pPr>
            <a:r>
              <a:rPr lang="en-US" sz="2400" b="1">
                <a:solidFill>
                  <a:schemeClr val="tx1"/>
                </a:solidFill>
                <a:latin typeface="Times New Roman"/>
                <a:ea typeface="Times New Roman"/>
                <a:cs typeface="Times New Roman"/>
              </a:rPr>
              <a:t>The Actionability Gap (The "Feedback Loop"):</a:t>
            </a:r>
            <a:endParaRPr sz="2400">
              <a:solidFill>
                <a:schemeClr val="tx1"/>
              </a:solidFill>
              <a:latin typeface="Times New Roman"/>
              <a:cs typeface="Times New Roman"/>
            </a:endParaRPr>
          </a:p>
          <a:p>
            <a:pPr marL="531972" lvl="1" indent="-265986" algn="l">
              <a:lnSpc>
                <a:spcPts val="3694"/>
              </a:lnSpc>
              <a:buFont typeface="Arial"/>
              <a:buChar char="•"/>
              <a:defRPr/>
            </a:pPr>
            <a:r>
              <a:rPr lang="en-US" sz="2400">
                <a:solidFill>
                  <a:schemeClr val="tx1"/>
                </a:solidFill>
                <a:latin typeface="Times New Roman"/>
                <a:ea typeface="Times New Roman"/>
                <a:cs typeface="Times New Roman"/>
              </a:rPr>
              <a:t>Even when insights are found, they are often just published in a paper.</a:t>
            </a:r>
            <a:endParaRPr sz="2400">
              <a:solidFill>
                <a:schemeClr val="tx1"/>
              </a:solidFill>
              <a:latin typeface="Times New Roman"/>
              <a:cs typeface="Times New Roman"/>
            </a:endParaRPr>
          </a:p>
          <a:p>
            <a:pPr marL="531972" lvl="1" indent="-265986" algn="l">
              <a:lnSpc>
                <a:spcPts val="3694"/>
              </a:lnSpc>
              <a:buFont typeface="Arial"/>
              <a:buChar char="•"/>
              <a:defRPr/>
            </a:pPr>
            <a:r>
              <a:rPr lang="en-US" sz="2400">
                <a:solidFill>
                  <a:schemeClr val="tx1"/>
                </a:solidFill>
                <a:latin typeface="Times New Roman"/>
                <a:ea typeface="Times New Roman"/>
                <a:cs typeface="Times New Roman"/>
              </a:rPr>
              <a:t>Gap: There is no "closed-loop" system that translates these complex statistical findings back into simple, actionable, and timely suggestions for the end-user.</a:t>
            </a:r>
            <a:endParaRPr sz="2400">
              <a:solidFill>
                <a:schemeClr val="tx1"/>
              </a:solidFill>
              <a:latin typeface="Times New Roman"/>
              <a:cs typeface="Times New Roman"/>
            </a:endParaRPr>
          </a:p>
        </p:txBody>
      </p:sp>
      <p:sp>
        <p:nvSpPr>
          <p:cNvPr id="1969045271" name="Title 1"/>
          <p:cNvSpPr>
            <a:spLocks noGrp="1"/>
          </p:cNvSpPr>
          <p:nvPr/>
        </p:nvSpPr>
        <p:spPr bwMode="auto">
          <a:xfrm flipH="0" flipV="0">
            <a:off x="0" y="0"/>
            <a:ext cx="18251199" cy="257648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9"/>
              </a:lnSpc>
              <a:defRPr/>
            </a:pPr>
            <a:r>
              <a:rPr lang="en-US" sz="4800" b="1" i="0" u="none" strike="noStrike" cap="none" spc="0">
                <a:solidFill>
                  <a:schemeClr val="bg1"/>
                </a:solidFill>
                <a:latin typeface="Times New Roman"/>
                <a:ea typeface="Times New Roman"/>
                <a:cs typeface="Times New Roman"/>
              </a:rPr>
              <a:t>RESEARCH GAPS</a:t>
            </a:r>
            <a:endParaRPr sz="4800">
              <a:solidFill>
                <a:schemeClr val="bg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4634412" name="TextBox 15"/>
          <p:cNvSpPr txBox="1"/>
          <p:nvPr/>
        </p:nvSpPr>
        <p:spPr bwMode="auto">
          <a:xfrm rot="0" flipH="0" flipV="0">
            <a:off x="411850" y="3127460"/>
            <a:ext cx="16632577" cy="5940657"/>
          </a:xfrm>
          <a:prstGeom prst="rect">
            <a:avLst/>
          </a:prstGeom>
        </p:spPr>
        <p:txBody>
          <a:bodyPr lIns="0" tIns="0" rIns="0" bIns="0" rtlCol="0" anchor="t">
            <a:spAutoFit/>
          </a:bodyPr>
          <a:lstStyle/>
          <a:p>
            <a:pPr marL="366487" indent="-366487" algn="l">
              <a:lnSpc>
                <a:spcPts val="3598"/>
              </a:lnSpc>
              <a:buFont typeface="Arial"/>
              <a:buChar char="•"/>
              <a:defRPr/>
            </a:pPr>
            <a:r>
              <a:rPr lang="en-US" sz="2400">
                <a:solidFill>
                  <a:schemeClr val="tx1"/>
                </a:solidFill>
                <a:latin typeface="Times New Roman"/>
                <a:ea typeface="Times New Roman"/>
                <a:cs typeface="Times New Roman"/>
              </a:rPr>
              <a:t>To design and develop a unified mobile application that securely integrates subjective journal data (text) with objective physiological data (from the Health Connect API).</a:t>
            </a:r>
            <a:endParaRPr sz="2400">
              <a:solidFill>
                <a:schemeClr val="tx1"/>
              </a:solidFill>
              <a:latin typeface="Times New Roman"/>
              <a:cs typeface="Times New Roman"/>
            </a:endParaRPr>
          </a:p>
          <a:p>
            <a:pPr algn="l">
              <a:lnSpc>
                <a:spcPts val="3597"/>
              </a:lnSpc>
              <a:defRPr/>
            </a:pPr>
            <a:endParaRPr sz="2400">
              <a:solidFill>
                <a:schemeClr val="tx1"/>
              </a:solidFill>
              <a:latin typeface="Times New Roman"/>
              <a:cs typeface="Times New Roman"/>
            </a:endParaRPr>
          </a:p>
          <a:p>
            <a:pPr marL="366487" indent="-366487" algn="l">
              <a:lnSpc>
                <a:spcPts val="3597"/>
              </a:lnSpc>
              <a:buFont typeface="Arial"/>
              <a:buChar char="•"/>
              <a:defRPr/>
            </a:pPr>
            <a:r>
              <a:rPr lang="en-US" sz="2400" b="0" i="0" u="none" strike="noStrike" cap="none" spc="0">
                <a:solidFill>
                  <a:schemeClr val="tx1"/>
                </a:solidFill>
                <a:latin typeface="Times New Roman"/>
                <a:ea typeface="Times New Roman"/>
                <a:cs typeface="Times New Roman"/>
              </a:rPr>
              <a:t>To implement and validate an NLP-based sentiment analysis model to accurately quantify the emotional valence (e.g., a "mood score") from the user's unstructured journal entries</a:t>
            </a:r>
            <a:endParaRPr sz="2400" b="0" i="0" u="none" strike="noStrike" cap="none" spc="0">
              <a:solidFill>
                <a:schemeClr val="tx1"/>
              </a:solidFill>
              <a:latin typeface="Times New Roman"/>
              <a:cs typeface="Times New Roman"/>
            </a:endParaRPr>
          </a:p>
          <a:p>
            <a:pPr algn="l">
              <a:lnSpc>
                <a:spcPts val="3597"/>
              </a:lnSpc>
              <a:defRPr/>
            </a:pPr>
            <a:endParaRPr sz="2400" b="0" i="0" u="none" strike="noStrike" cap="none" spc="0">
              <a:solidFill>
                <a:schemeClr val="tx1"/>
              </a:solidFill>
              <a:latin typeface="Times New Roman"/>
              <a:cs typeface="Times New Roman"/>
            </a:endParaRPr>
          </a:p>
          <a:p>
            <a:pPr marL="366487" indent="-366487" algn="l">
              <a:lnSpc>
                <a:spcPts val="3597"/>
              </a:lnSpc>
              <a:buFont typeface="Arial"/>
              <a:buChar char="•"/>
              <a:defRPr/>
            </a:pPr>
            <a:r>
              <a:rPr lang="en-US" sz="2400" b="0" i="0" u="none" strike="noStrike" cap="none" spc="0">
                <a:solidFill>
                  <a:schemeClr val="tx1"/>
                </a:solidFill>
                <a:latin typeface="Times New Roman"/>
                <a:ea typeface="Times New Roman"/>
                <a:cs typeface="Times New Roman"/>
              </a:rPr>
              <a:t>To apply a machine learning correlation model (e.g., Random Forest) to the fused dataset to identify and rank the personalized impact of key physical metrics (e.g., sleep, steps, HRV) on the user's quantified mood.</a:t>
            </a:r>
            <a:endParaRPr sz="2400">
              <a:solidFill>
                <a:schemeClr val="tx1"/>
              </a:solidFill>
              <a:latin typeface="Times New Roman"/>
              <a:cs typeface="Times New Roman"/>
            </a:endParaRPr>
          </a:p>
          <a:p>
            <a:pPr algn="l">
              <a:lnSpc>
                <a:spcPts val="3597"/>
              </a:lnSpc>
              <a:defRPr/>
            </a:pPr>
            <a:endParaRPr sz="2400">
              <a:solidFill>
                <a:schemeClr val="tx1"/>
              </a:solidFill>
              <a:latin typeface="Times New Roman"/>
              <a:cs typeface="Times New Roman"/>
            </a:endParaRPr>
          </a:p>
          <a:p>
            <a:pPr marL="366487" indent="-366487" algn="l">
              <a:lnSpc>
                <a:spcPts val="3597"/>
              </a:lnSpc>
              <a:buFont typeface="Arial"/>
              <a:buChar char="•"/>
              <a:defRPr/>
            </a:pPr>
            <a:r>
              <a:rPr lang="en-US" sz="2400" b="0" i="0" u="none" strike="noStrike" cap="none" spc="0">
                <a:solidFill>
                  <a:schemeClr val="tx1"/>
                </a:solidFill>
                <a:latin typeface="Times New Roman"/>
                <a:ea typeface="Times New Roman"/>
                <a:cs typeface="Times New Roman"/>
              </a:rPr>
              <a:t>To create and evaluate a novel feedback system that presents these personalized insights back to the user in a simple, understandable, and actionable format.</a:t>
            </a:r>
            <a:endParaRPr sz="2400">
              <a:solidFill>
                <a:schemeClr val="tx1"/>
              </a:solidFill>
              <a:latin typeface="Times New Roman"/>
              <a:cs typeface="Times New Roman"/>
            </a:endParaRPr>
          </a:p>
          <a:p>
            <a:pPr algn="l">
              <a:lnSpc>
                <a:spcPts val="3597"/>
              </a:lnSpc>
              <a:defRPr/>
            </a:pPr>
            <a:endParaRPr sz="2400">
              <a:solidFill>
                <a:schemeClr val="tx1"/>
              </a:solidFill>
              <a:latin typeface="Times New Roman"/>
              <a:cs typeface="Times New Roman"/>
            </a:endParaRPr>
          </a:p>
          <a:p>
            <a:pPr algn="l">
              <a:lnSpc>
                <a:spcPts val="3598"/>
              </a:lnSpc>
              <a:defRPr/>
            </a:pPr>
            <a:endParaRPr sz="2400">
              <a:solidFill>
                <a:schemeClr val="tx1"/>
              </a:solidFill>
              <a:latin typeface="Times New Roman"/>
              <a:cs typeface="Times New Roman"/>
            </a:endParaRPr>
          </a:p>
        </p:txBody>
      </p:sp>
      <p:sp>
        <p:nvSpPr>
          <p:cNvPr id="798458739" name="Title 1"/>
          <p:cNvSpPr>
            <a:spLocks noGrp="1"/>
          </p:cNvSpPr>
          <p:nvPr/>
        </p:nvSpPr>
        <p:spPr bwMode="auto">
          <a:xfrm flipH="0" flipV="0">
            <a:off x="-25399" y="-12699"/>
            <a:ext cx="18352799" cy="257648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9"/>
              </a:lnSpc>
              <a:defRPr/>
            </a:pPr>
            <a:r>
              <a:rPr lang="en-US" sz="4800" b="1" i="0" u="none" strike="noStrike" cap="none" spc="0">
                <a:solidFill>
                  <a:schemeClr val="bg1"/>
                </a:solidFill>
                <a:latin typeface="Times New Roman"/>
                <a:ea typeface="Times New Roman"/>
                <a:cs typeface="Times New Roman"/>
              </a:rPr>
              <a:t>RESEARCH OBJECTIVES</a:t>
            </a:r>
            <a:endParaRPr sz="4800">
              <a:solidFill>
                <a:schemeClr val="bg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1389500" name="Freeform 2"/>
          <p:cNvSpPr/>
          <p:nvPr/>
        </p:nvSpPr>
        <p:spPr bwMode="auto">
          <a:xfrm rot="0" flipH="0" flipV="0">
            <a:off x="436541" y="2565399"/>
            <a:ext cx="8832660" cy="6856419"/>
          </a:xfrm>
          <a:custGeom>
            <a:avLst/>
            <a:gdLst/>
            <a:ahLst/>
            <a:cxnLst/>
            <a:rect l="l" t="t" r="r" b="b"/>
            <a:pathLst>
              <a:path w="8832661" h="8556640" fill="norm" stroke="1" extrusionOk="0">
                <a:moveTo>
                  <a:pt x="0" y="0"/>
                </a:moveTo>
                <a:lnTo>
                  <a:pt x="8832660" y="0"/>
                </a:lnTo>
                <a:lnTo>
                  <a:pt x="8832660" y="8556640"/>
                </a:lnTo>
                <a:lnTo>
                  <a:pt x="0" y="8556640"/>
                </a:lnTo>
                <a:lnTo>
                  <a:pt x="0" y="0"/>
                </a:lnTo>
                <a:close/>
              </a:path>
            </a:pathLst>
          </a:custGeom>
          <a:blipFill>
            <a:blip r:embed="rId3"/>
            <a:srcRect l="0" t="0" r="0" b="0"/>
            <a:stretch/>
          </a:blipFill>
        </p:spPr>
      </p:sp>
      <p:sp>
        <p:nvSpPr>
          <p:cNvPr id="1251444616" name="Freeform 3"/>
          <p:cNvSpPr/>
          <p:nvPr/>
        </p:nvSpPr>
        <p:spPr bwMode="auto">
          <a:xfrm rot="0" flipH="0" flipV="0">
            <a:off x="10079419" y="5397499"/>
            <a:ext cx="7847953" cy="4024319"/>
          </a:xfrm>
          <a:custGeom>
            <a:avLst/>
            <a:gdLst/>
            <a:ahLst/>
            <a:cxnLst/>
            <a:rect l="l" t="t" r="r" b="b"/>
            <a:pathLst>
              <a:path w="7847954" h="5071440" fill="norm" stroke="1" extrusionOk="0">
                <a:moveTo>
                  <a:pt x="0" y="0"/>
                </a:moveTo>
                <a:lnTo>
                  <a:pt x="7847954" y="0"/>
                </a:lnTo>
                <a:lnTo>
                  <a:pt x="7847954" y="5071440"/>
                </a:lnTo>
                <a:lnTo>
                  <a:pt x="0" y="5071440"/>
                </a:lnTo>
                <a:lnTo>
                  <a:pt x="0" y="0"/>
                </a:lnTo>
                <a:close/>
              </a:path>
            </a:pathLst>
          </a:custGeom>
          <a:blipFill>
            <a:blip r:embed="rId4"/>
            <a:srcRect l="15084" t="0" r="15471" b="0"/>
            <a:stretch/>
          </a:blipFill>
        </p:spPr>
      </p:sp>
      <p:sp>
        <p:nvSpPr>
          <p:cNvPr id="993150101" name="AutoShape 4"/>
          <p:cNvSpPr/>
          <p:nvPr/>
        </p:nvSpPr>
        <p:spPr bwMode="auto">
          <a:xfrm>
            <a:off x="9269202" y="5892799"/>
            <a:ext cx="1080991" cy="0"/>
          </a:xfrm>
          <a:prstGeom prst="line">
            <a:avLst/>
          </a:prstGeom>
          <a:ln w="38100" cap="flat">
            <a:solidFill>
              <a:srgbClr val="000000"/>
            </a:solidFill>
            <a:prstDash val="solid"/>
            <a:headEnd type="none" w="sm" len="sm"/>
            <a:tailEnd type="arrow" w="med" len="sm"/>
          </a:ln>
        </p:spPr>
      </p:sp>
      <p:sp>
        <p:nvSpPr>
          <p:cNvPr id="1297966399" name="Title 1"/>
          <p:cNvSpPr>
            <a:spLocks noGrp="1"/>
          </p:cNvSpPr>
          <p:nvPr/>
        </p:nvSpPr>
        <p:spPr bwMode="auto">
          <a:xfrm flipH="0" flipV="0">
            <a:off x="-25398" y="-12699"/>
            <a:ext cx="18352798" cy="257648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defRPr/>
            </a:pPr>
            <a:r>
              <a:rPr sz="4800" b="0" i="0" u="none">
                <a:solidFill>
                  <a:schemeClr val="bg1"/>
                </a:solidFill>
                <a:latin typeface="Times New Roman"/>
                <a:ea typeface="Times New Roman"/>
                <a:cs typeface="Times New Roman"/>
              </a:rPr>
              <a:t>PROPOSED APPROACH &amp; SYSTEM ARCHITECTURE</a:t>
            </a:r>
            <a:endParaRPr sz="4800">
              <a:solidFill>
                <a:schemeClr val="bg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1712302" name="TextBox 15"/>
          <p:cNvSpPr txBox="1"/>
          <p:nvPr/>
        </p:nvSpPr>
        <p:spPr bwMode="auto">
          <a:xfrm rot="0" flipH="0" flipV="0">
            <a:off x="589650" y="3343360"/>
            <a:ext cx="16629697" cy="5303371"/>
          </a:xfrm>
          <a:prstGeom prst="rect">
            <a:avLst/>
          </a:prstGeom>
        </p:spPr>
        <p:txBody>
          <a:bodyPr lIns="0" tIns="0" rIns="0" bIns="0" rtlCol="0" anchor="t">
            <a:spAutoFit/>
          </a:bodyPr>
          <a:lstStyle/>
          <a:p>
            <a:pPr marL="366487" indent="-366487" algn="l">
              <a:lnSpc>
                <a:spcPct val="150000"/>
              </a:lnSpc>
              <a:buFont typeface="Arial"/>
              <a:buChar char="•"/>
              <a:defRPr/>
            </a:pPr>
            <a:r>
              <a:rPr lang="en-US" sz="2400">
                <a:solidFill>
                  <a:schemeClr val="tx1"/>
                </a:solidFill>
                <a:latin typeface="Times New Roman"/>
                <a:ea typeface="Times New Roman"/>
                <a:cs typeface="Times New Roman"/>
              </a:rPr>
              <a:t>To design and develop a unified mobile application that securely integrates subjective journal data (text) with objective physiological data (from the Health Connect API).</a:t>
            </a:r>
            <a:endParaRPr sz="2400">
              <a:solidFill>
                <a:schemeClr val="tx1"/>
              </a:solidFill>
              <a:latin typeface="Times New Roman"/>
              <a:cs typeface="Times New Roman"/>
            </a:endParaRPr>
          </a:p>
          <a:p>
            <a:pPr marL="366487" indent="-366487" algn="l">
              <a:lnSpc>
                <a:spcPct val="150000"/>
              </a:lnSpc>
              <a:buFont typeface="Arial"/>
              <a:buChar char="•"/>
              <a:defRPr/>
            </a:pPr>
            <a:r>
              <a:rPr lang="en-US" sz="2400" b="0" i="0" u="none" strike="noStrike" cap="none" spc="0">
                <a:solidFill>
                  <a:schemeClr val="tx1"/>
                </a:solidFill>
                <a:latin typeface="Times New Roman"/>
                <a:ea typeface="Times New Roman"/>
                <a:cs typeface="Times New Roman"/>
              </a:rPr>
              <a:t>To implement and validate an NLP-based sentiment analysis model to accurately quantify the emotional valence (e.g., a "mood score") from the user's unstructured journal entries</a:t>
            </a:r>
            <a:r>
              <a:rPr lang="en-US" sz="2400" b="0" i="0" u="none" strike="noStrike" cap="none" spc="0">
                <a:solidFill>
                  <a:schemeClr val="tx1"/>
                </a:solidFill>
                <a:latin typeface="Times New Roman"/>
                <a:ea typeface="Times New Roman"/>
                <a:cs typeface="Times New Roman"/>
              </a:rPr>
              <a:t>.</a:t>
            </a:r>
            <a:endParaRPr sz="2400">
              <a:solidFill>
                <a:schemeClr val="tx1"/>
              </a:solidFill>
              <a:latin typeface="Times New Roman"/>
              <a:cs typeface="Times New Roman"/>
            </a:endParaRPr>
          </a:p>
          <a:p>
            <a:pPr marL="366487" indent="-366487" algn="l">
              <a:lnSpc>
                <a:spcPct val="150000"/>
              </a:lnSpc>
              <a:buFont typeface="Arial"/>
              <a:buChar char="•"/>
              <a:defRPr/>
            </a:pPr>
            <a:r>
              <a:rPr lang="en-US" sz="2400" b="0" i="0" u="none" strike="noStrike" cap="none" spc="0">
                <a:solidFill>
                  <a:schemeClr val="tx1"/>
                </a:solidFill>
                <a:latin typeface="Times New Roman"/>
                <a:ea typeface="Times New Roman"/>
                <a:cs typeface="Times New Roman"/>
              </a:rPr>
              <a:t>To apply a machine learning correlation model (e.g., Random Forest) to the fused dataset to identify and rank the personalized impact of key physical metrics (e.g., sleep, steps, HRV) on the user's quantified mood.</a:t>
            </a:r>
            <a:endParaRPr sz="2400">
              <a:solidFill>
                <a:schemeClr val="tx1"/>
              </a:solidFill>
              <a:latin typeface="Times New Roman"/>
              <a:cs typeface="Times New Roman"/>
            </a:endParaRPr>
          </a:p>
          <a:p>
            <a:pPr marL="366487" indent="-366487" algn="l">
              <a:lnSpc>
                <a:spcPct val="150000"/>
              </a:lnSpc>
              <a:buFont typeface="Arial"/>
              <a:buChar char="•"/>
              <a:defRPr/>
            </a:pPr>
            <a:r>
              <a:rPr lang="en-US" sz="2400" b="0" i="0" u="none" strike="noStrike" cap="none" spc="0">
                <a:solidFill>
                  <a:schemeClr val="tx1"/>
                </a:solidFill>
                <a:latin typeface="Times New Roman"/>
                <a:ea typeface="Times New Roman"/>
                <a:cs typeface="Times New Roman"/>
              </a:rPr>
              <a:t>To create and evaluate a novel feedback system that presents these personalized insights back to the user in a simple, understandable, and actionable format.</a:t>
            </a:r>
            <a:endParaRPr sz="2550"/>
          </a:p>
          <a:p>
            <a:pPr algn="l">
              <a:lnSpc>
                <a:spcPts val="3597"/>
              </a:lnSpc>
              <a:defRPr/>
            </a:pPr>
            <a:endParaRPr/>
          </a:p>
          <a:p>
            <a:pPr algn="l">
              <a:lnSpc>
                <a:spcPts val="3598"/>
              </a:lnSpc>
              <a:defRPr/>
            </a:pPr>
            <a:endParaRPr/>
          </a:p>
        </p:txBody>
      </p:sp>
      <p:sp>
        <p:nvSpPr>
          <p:cNvPr id="1278083794" name="Title 1"/>
          <p:cNvSpPr>
            <a:spLocks noGrp="1"/>
          </p:cNvSpPr>
          <p:nvPr/>
        </p:nvSpPr>
        <p:spPr bwMode="auto">
          <a:xfrm flipH="0" flipV="0">
            <a:off x="-36799" y="-12699"/>
            <a:ext cx="18427699" cy="257648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9"/>
              </a:lnSpc>
              <a:defRPr/>
            </a:pPr>
            <a:r>
              <a:rPr lang="en-US" sz="4800" b="1" i="0" u="none" strike="noStrike" cap="none" spc="0">
                <a:solidFill>
                  <a:srgbClr val="F0F0F0"/>
                </a:solidFill>
                <a:latin typeface="Times New Roman"/>
                <a:ea typeface="Times New Roman"/>
                <a:cs typeface="Times New Roman"/>
              </a:rPr>
              <a:t>SIGNIFICANCE OF THE SOLUTION</a:t>
            </a:r>
            <a:endParaRPr sz="480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445562" name="Title 1"/>
          <p:cNvSpPr>
            <a:spLocks noGrp="1"/>
          </p:cNvSpPr>
          <p:nvPr/>
        </p:nvSpPr>
        <p:spPr bwMode="auto">
          <a:xfrm flipH="0" flipV="0">
            <a:off x="-36798" y="-12699"/>
            <a:ext cx="18427699" cy="257648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9"/>
              </a:lnSpc>
              <a:defRPr/>
            </a:pPr>
            <a:r>
              <a:rPr lang="en-US" sz="4800" b="1" i="0" u="none" strike="noStrike" cap="none" spc="0">
                <a:solidFill>
                  <a:srgbClr val="F0F0F0"/>
                </a:solidFill>
                <a:latin typeface="Times New Roman"/>
                <a:ea typeface="Times New Roman"/>
                <a:cs typeface="Times New Roman"/>
              </a:rPr>
              <a:t>GUIDE'S APPROVAL</a:t>
            </a:r>
            <a:endParaRPr sz="4800">
              <a:latin typeface="Times New Roman"/>
              <a:cs typeface="Times New Roman"/>
            </a:endParaRPr>
          </a:p>
        </p:txBody>
      </p:sp>
      <p:pic>
        <p:nvPicPr>
          <p:cNvPr id="1764385595" name=""/>
          <p:cNvPicPr>
            <a:picLocks noChangeAspect="1"/>
          </p:cNvPicPr>
          <p:nvPr/>
        </p:nvPicPr>
        <p:blipFill>
          <a:blip r:embed="rId3"/>
          <a:stretch/>
        </p:blipFill>
        <p:spPr bwMode="auto">
          <a:xfrm flipH="0" flipV="0">
            <a:off x="-36797" y="2563780"/>
            <a:ext cx="18351497" cy="77994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aphicFrame>
        <p:nvGraphicFramePr>
          <p:cNvPr id="1837233435" name="Object 4"/>
          <p:cNvGraphicFramePr>
            <a:graphicFrameLocks xmlns:a="http://schemas.openxmlformats.org/drawingml/2006/main" noChangeAspect="1"/>
          </p:cNvGraphicFramePr>
          <p:nvPr/>
        </p:nvGraphicFramePr>
        <p:xfrm flipH="0" flipV="0">
          <a:off x="-1014699" y="927099"/>
          <a:ext cx="20078699" cy="10629900"/>
        </p:xfrm>
        <a:graphic>
          <a:graphicData uri="http://schemas.openxmlformats.org/presentationml/2006/ole">
            <p:oleObj name="oleObj" r:id="rId4" imgW="19469100" imgH="7467600" progId="Excel.Sheet.12">
              <p:embed/>
              <p:pic>
                <p:nvPicPr>
                  <p:cNvPr id="1837233435" name="Object 4"/>
                  <p:cNvPicPr/>
                  <p:nvPr/>
                </p:nvPicPr>
                <p:blipFill>
                  <a:blip r:embed="rId3"/>
                  <a:stretch/>
                </p:blipFill>
                <p:spPr bwMode="auto">
                  <a:xfrm flipH="0" flipV="0">
                    <a:off x="-1014699" y="927099"/>
                    <a:ext cx="20078699" cy="10629900"/>
                  </a:xfrm>
                  <a:prstGeom prst="rect">
                    <a:avLst/>
                  </a:prstGeom>
                </p:spPr>
              </p:pic>
            </p:oleObj>
          </a:graphicData>
        </a:graphic>
      </p:graphicFrame>
      <p:sp>
        <p:nvSpPr>
          <p:cNvPr id="1410137960" name="Title 1"/>
          <p:cNvSpPr>
            <a:spLocks noGrp="1"/>
          </p:cNvSpPr>
          <p:nvPr/>
        </p:nvSpPr>
        <p:spPr bwMode="auto">
          <a:xfrm flipH="0" flipV="0">
            <a:off x="0" y="0"/>
            <a:ext cx="18301999" cy="2576480"/>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9"/>
              </a:lnSpc>
              <a:defRPr/>
            </a:pPr>
            <a:r>
              <a:rPr lang="en-US" sz="4800" b="1" i="0" u="none" strike="noStrike" cap="none" spc="0">
                <a:solidFill>
                  <a:srgbClr val="F0F0F0"/>
                </a:solidFill>
                <a:latin typeface="Times New Roman"/>
                <a:ea typeface="Times New Roman"/>
                <a:cs typeface="Times New Roman"/>
              </a:rPr>
              <a:t>PROJECT PLAN &amp; TIMELINE</a:t>
            </a:r>
            <a:endParaRPr sz="4800">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1401535" name="Title 1"/>
          <p:cNvSpPr>
            <a:spLocks noGrp="1"/>
          </p:cNvSpPr>
          <p:nvPr/>
        </p:nvSpPr>
        <p:spPr bwMode="auto">
          <a:xfrm flipH="0" flipV="0">
            <a:off x="0" y="0"/>
            <a:ext cx="18301998" cy="2576479"/>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8"/>
              </a:lnSpc>
              <a:defRPr/>
            </a:pPr>
            <a:r>
              <a:rPr lang="en-US" sz="4800" b="1" i="0" u="none" strike="noStrike" cap="none" spc="0">
                <a:solidFill>
                  <a:srgbClr val="F0F0F0"/>
                </a:solidFill>
                <a:latin typeface="Times New Roman"/>
                <a:ea typeface="Times New Roman"/>
                <a:cs typeface="Times New Roman"/>
              </a:rPr>
              <a:t>REFERENCES</a:t>
            </a:r>
            <a:endParaRPr sz="4800">
              <a:latin typeface="Times New Roman"/>
              <a:cs typeface="Times New Roman"/>
            </a:endParaRPr>
          </a:p>
        </p:txBody>
      </p:sp>
      <p:sp>
        <p:nvSpPr>
          <p:cNvPr id="2143136634" name="TextBox 15"/>
          <p:cNvSpPr txBox="1"/>
          <p:nvPr/>
        </p:nvSpPr>
        <p:spPr bwMode="auto">
          <a:xfrm rot="0" flipH="0" flipV="0">
            <a:off x="589649" y="3343359"/>
            <a:ext cx="16631496" cy="6218280"/>
          </a:xfrm>
          <a:prstGeom prst="rect">
            <a:avLst/>
          </a:prstGeom>
        </p:spPr>
        <p:txBody>
          <a:bodyPr lIns="0" tIns="0" rIns="0" bIns="0" rtlCol="0" anchor="t">
            <a:spAutoFit/>
          </a:bodyPr>
          <a:lstStyle/>
          <a:p>
            <a:pPr marL="349965" indent="-349965">
              <a:buAutoNum type="arabicPeriod"/>
              <a:defRPr/>
            </a:pPr>
            <a:r>
              <a:rPr sz="2400" b="0" i="0" u="none">
                <a:solidFill>
                  <a:srgbClr val="000000"/>
                </a:solidFill>
                <a:latin typeface="Times New Roman"/>
                <a:ea typeface="Times New Roman"/>
                <a:cs typeface="Times New Roman"/>
              </a:rPr>
              <a:t>Schuch, F. B. et al. (2018). "The relationship between physical activity and mental health: a meta-analysis." </a:t>
            </a:r>
            <a:r>
              <a:rPr sz="2400" b="0" i="1" u="none">
                <a:solidFill>
                  <a:srgbClr val="000000"/>
                </a:solidFill>
                <a:latin typeface="Times New Roman"/>
                <a:ea typeface="Times New Roman"/>
                <a:cs typeface="Times New Roman"/>
              </a:rPr>
              <a:t>Journal of Psychiatric Research</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He, L. et al. (2020). "Wearable sensors for monitoring mental health: A systematic review." </a:t>
            </a:r>
            <a:r>
              <a:rPr sz="2400" b="0" i="1" u="none">
                <a:solidFill>
                  <a:srgbClr val="000000"/>
                </a:solidFill>
                <a:latin typeface="Times New Roman"/>
                <a:ea typeface="Times New Roman"/>
                <a:cs typeface="Times New Roman"/>
              </a:rPr>
              <a:t>IEEE Transactions on Biomedical Engineering</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Czeisler, C. A. (2015). "Sleep, Health, and Wellness: A Review of the National Sleep Foundation's key findings." </a:t>
            </a:r>
            <a:r>
              <a:rPr sz="2400" b="0" i="1" u="none">
                <a:solidFill>
                  <a:srgbClr val="000000"/>
                </a:solidFill>
                <a:latin typeface="Times New Roman"/>
                <a:ea typeface="Times New Roman"/>
                <a:cs typeface="Times New Roman"/>
              </a:rPr>
              <a:t>Sleep Health</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Wang, R. et al. (2018). "Passive sensing of daily routines and social interactions to predict mood in bipolar disorder." </a:t>
            </a:r>
            <a:r>
              <a:rPr sz="2400" b="0" i="1" u="none">
                <a:solidFill>
                  <a:srgbClr val="000000"/>
                </a:solidFill>
                <a:latin typeface="Times New Roman"/>
                <a:ea typeface="Times New Roman"/>
                <a:cs typeface="Times New Roman"/>
              </a:rPr>
              <a:t>Proc. ACM on Interactive, Mobile, Wearable and Ubiquitous Technologies (IMWUT)</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Kim, H. G. et al. (2018). "Stress and Heart Rate Variability: A Meta-Analysis and Review of the Literature." </a:t>
            </a:r>
            <a:r>
              <a:rPr sz="2400" b="0" i="1" u="none">
                <a:solidFill>
                  <a:srgbClr val="000000"/>
                </a:solidFill>
                <a:latin typeface="Times New Roman"/>
                <a:ea typeface="Times New Roman"/>
                <a:cs typeface="Times New Roman"/>
              </a:rPr>
              <a:t>Psychiatry Investigation</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de Zambotti, M. et al. (2021). "The effect of wearables on sleep in healthy individuals: a randomized crossover trial and validation study." </a:t>
            </a:r>
            <a:r>
              <a:rPr sz="2400" b="0" i="1" u="none">
                <a:solidFill>
                  <a:srgbClr val="000000"/>
                </a:solidFill>
                <a:latin typeface="Times New Roman"/>
                <a:ea typeface="Times New Roman"/>
                <a:cs typeface="Times New Roman"/>
              </a:rPr>
              <a:t>JMIR Mhealth Uhealth</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Zhang, Y. et al. (2023). "Passive Sensing for Mental Health Monitoring Using Machine Learning With Wearables and Smartphones: Scoping Review." </a:t>
            </a:r>
            <a:r>
              <a:rPr sz="2400" b="0" i="1" u="none">
                <a:solidFill>
                  <a:srgbClr val="000000"/>
                </a:solidFill>
                <a:latin typeface="Times New Roman"/>
                <a:ea typeface="Times New Roman"/>
                <a:cs typeface="Times New Roman"/>
              </a:rPr>
              <a:t>JMIR Mhealth Uhealth</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Verkuil, B. et al. (2016). "Exploring the relationship between resting heart rate and mood in daily life." </a:t>
            </a:r>
            <a:r>
              <a:rPr sz="2400" b="0" i="1" u="none">
                <a:solidFill>
                  <a:srgbClr val="000000"/>
                </a:solidFill>
                <a:latin typeface="Times New Roman"/>
                <a:ea typeface="Times New Roman"/>
                <a:cs typeface="Times New Roman"/>
              </a:rPr>
              <a:t>Motivation and Emotion</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E-N, L. et al. (2024). "Detection and monitoring of stress using wearables: a systematic review." </a:t>
            </a:r>
            <a:r>
              <a:rPr sz="2400" b="0" i="1" u="none">
                <a:solidFill>
                  <a:srgbClr val="000000"/>
                </a:solidFill>
                <a:latin typeface="Times New Roman"/>
                <a:ea typeface="Times New Roman"/>
                <a:cs typeface="Times New Roman"/>
              </a:rPr>
              <a:t>Frontiers in Computer Science</a:t>
            </a:r>
            <a:r>
              <a:rPr sz="2400" b="0" i="0" u="none">
                <a:solidFill>
                  <a:srgbClr val="000000"/>
                </a:solidFill>
                <a:latin typeface="Times New Roman"/>
                <a:ea typeface="Times New Roman"/>
                <a:cs typeface="Times New Roman"/>
              </a:rPr>
              <a:t>.</a:t>
            </a:r>
            <a:endParaRPr sz="2400"/>
          </a:p>
          <a:p>
            <a:pPr marL="349965" indent="-349965">
              <a:buAutoNum type="arabicPeriod"/>
              <a:defRPr/>
            </a:pPr>
            <a:r>
              <a:rPr sz="2400" b="0" i="0" u="none">
                <a:solidFill>
                  <a:srgbClr val="000000"/>
                </a:solidFill>
                <a:latin typeface="Times New Roman"/>
                <a:ea typeface="Times New Roman"/>
                <a:cs typeface="Times New Roman"/>
              </a:rPr>
              <a:t>Hutto, C. J., &amp; Gilbert, E. (2014). "VADER: A Parsimonious Rule-based Model for Sentiment Analysis of Social Media Text." </a:t>
            </a:r>
            <a:r>
              <a:rPr sz="2400" b="0" i="1" u="none">
                <a:solidFill>
                  <a:srgbClr val="000000"/>
                </a:solidFill>
                <a:latin typeface="Times New Roman"/>
                <a:ea typeface="Times New Roman"/>
                <a:cs typeface="Times New Roman"/>
              </a:rPr>
              <a:t>Proc. Eighth Int. AAAI Conf. on Weblogs and Social Media (ICWSM '14)</a:t>
            </a:r>
            <a:r>
              <a:rPr sz="2400" b="0" i="0" u="none">
                <a:solidFill>
                  <a:srgbClr val="000000"/>
                </a:solidFill>
                <a:latin typeface="Times New Roman"/>
                <a:ea typeface="Times New Roman"/>
                <a:cs typeface="Times New Roman"/>
              </a:rPr>
              <a:t>.</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6004889" name="Title 1"/>
          <p:cNvSpPr>
            <a:spLocks noGrp="1"/>
          </p:cNvSpPr>
          <p:nvPr/>
        </p:nvSpPr>
        <p:spPr bwMode="auto">
          <a:xfrm flipH="0" flipV="0">
            <a:off x="0" y="0"/>
            <a:ext cx="18301998" cy="2576479"/>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8"/>
              </a:lnSpc>
              <a:defRPr/>
            </a:pPr>
            <a:r>
              <a:rPr lang="en-US" sz="4800" b="1" i="0" u="none" strike="noStrike" cap="none" spc="0">
                <a:solidFill>
                  <a:srgbClr val="F0F0F0"/>
                </a:solidFill>
                <a:latin typeface="Times New Roman"/>
                <a:ea typeface="Times New Roman"/>
                <a:cs typeface="Times New Roman"/>
              </a:rPr>
              <a:t>REFERENCES </a:t>
            </a:r>
            <a:endParaRPr sz="4800">
              <a:latin typeface="Times New Roman"/>
              <a:cs typeface="Times New Roman"/>
            </a:endParaRPr>
          </a:p>
        </p:txBody>
      </p:sp>
      <p:sp>
        <p:nvSpPr>
          <p:cNvPr id="2102127486" name="TextBox 15"/>
          <p:cNvSpPr txBox="1"/>
          <p:nvPr/>
        </p:nvSpPr>
        <p:spPr bwMode="auto">
          <a:xfrm rot="0" flipH="0" flipV="0">
            <a:off x="589649" y="3343359"/>
            <a:ext cx="16635815" cy="5486760"/>
          </a:xfrm>
          <a:prstGeom prst="rect">
            <a:avLst/>
          </a:prstGeom>
        </p:spPr>
        <p:txBody>
          <a:bodyPr lIns="0" tIns="0" rIns="0" bIns="0" rtlCol="0" anchor="t">
            <a:spAutoFit/>
          </a:bodyPr>
          <a:lstStyle/>
          <a:p>
            <a:pPr marL="349965" marR="0" indent="-349965" algn="r" defTabSz="914400" rtl="0">
              <a:lnSpc>
                <a:spcPct val="100000"/>
              </a:lnSpc>
              <a:spcBef>
                <a:spcPts val="0"/>
              </a:spcBef>
              <a:spcAft>
                <a:spcPts val="0"/>
              </a:spcAft>
              <a:buAutoNum type="arabicPeriod" startAt="11"/>
              <a:defRPr/>
            </a:pPr>
            <a:r>
              <a:rPr sz="2400" b="0" i="0" u="none">
                <a:solidFill>
                  <a:srgbClr val="000000"/>
                </a:solidFill>
                <a:latin typeface="Times New Roman"/>
                <a:ea typeface="Times New Roman"/>
                <a:cs typeface="Times New Roman"/>
              </a:rPr>
              <a:t>Wu, S. et al. (2020). "Deep learning for language in health." </a:t>
            </a:r>
            <a:r>
              <a:rPr sz="2400" b="0" i="1" u="none">
                <a:solidFill>
                  <a:srgbClr val="000000"/>
                </a:solidFill>
                <a:latin typeface="Times New Roman"/>
                <a:ea typeface="Times New Roman"/>
                <a:cs typeface="Times New Roman"/>
              </a:rPr>
              <a:t>Nature Medicine</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Gkotsis, G. et al. (2017). "Mental health and social media: A computational approach to understanding the user's 'voice'." </a:t>
            </a:r>
            <a:r>
              <a:rPr sz="2400" b="0" i="1" u="none">
                <a:solidFill>
                  <a:srgbClr val="000000"/>
                </a:solidFill>
                <a:latin typeface="Times New Roman"/>
                <a:ea typeface="Times New Roman"/>
                <a:cs typeface="Times New Roman"/>
              </a:rPr>
              <a:t>JMIR Mental Health</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Krafft, P. M., &amp; El-Nasr, M. S. (2018). "Journaling for mental health: A review of the benefits and the role of technology." </a:t>
            </a:r>
            <a:r>
              <a:rPr sz="2400" b="0" i="1" u="none">
                <a:solidFill>
                  <a:srgbClr val="000000"/>
                </a:solidFill>
                <a:latin typeface="Times New Roman"/>
                <a:ea typeface="Times New Roman"/>
                <a:cs typeface="Times New Roman"/>
              </a:rPr>
              <a:t>ResearchGate</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B, R. S. et al. (2025). "EMO Diary: Daily Diary with Sentiment Analysis." </a:t>
            </a:r>
            <a:r>
              <a:rPr sz="2400" b="0" i="1" u="none">
                <a:solidFill>
                  <a:srgbClr val="000000"/>
                </a:solidFill>
                <a:latin typeface="Times New Roman"/>
                <a:ea typeface="Times New Roman"/>
                <a:cs typeface="Times New Roman"/>
              </a:rPr>
              <a:t>International Journal of Scientific Research and Engineering Trends (IJSRET)</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Leitner, A. M. et al. (2023). "Natural language processing for mental health interventions: a systematic review." </a:t>
            </a:r>
            <a:r>
              <a:rPr sz="2400" b="0" i="1" u="none">
                <a:solidFill>
                  <a:srgbClr val="000000"/>
                </a:solidFill>
                <a:latin typeface="Times New Roman"/>
                <a:ea typeface="Times New Roman"/>
                <a:cs typeface="Times New Roman"/>
              </a:rPr>
              <a:t>JMIR Mental Health</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Fulmer, R. et al. (2018). "Effectiveness of an AI-based NLP intervention for depression and anxiety." </a:t>
            </a:r>
            <a:r>
              <a:rPr sz="2400" b="0" i="1" u="none">
                <a:solidFill>
                  <a:srgbClr val="000000"/>
                </a:solidFill>
                <a:latin typeface="Times New Roman"/>
                <a:ea typeface="Times New Roman"/>
                <a:cs typeface="Times New Roman"/>
              </a:rPr>
              <a:t>JMIR Mhealth Uhealth</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Isreal, O. et al. (2025). "Sentiment Analysis for Mental Health: Challenges and Opportunities." </a:t>
            </a:r>
            <a:r>
              <a:rPr sz="2400" b="0" i="1" u="none">
                <a:solidFill>
                  <a:srgbClr val="000000"/>
                </a:solidFill>
                <a:latin typeface="Times New Roman"/>
                <a:ea typeface="Times New Roman"/>
                <a:cs typeface="Times New Roman"/>
              </a:rPr>
              <a:t>ResearchGate</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Alghowinem, S. et al. (2018). "A Multi-Modal Approach to Depression Detection using Speech, Activity, and Text." </a:t>
            </a:r>
            <a:r>
              <a:rPr sz="2400" b="0" i="1" u="none">
                <a:solidFill>
                  <a:srgbClr val="000000"/>
                </a:solidFill>
                <a:latin typeface="Times New Roman"/>
                <a:ea typeface="Times New Roman"/>
                <a:cs typeface="Times New Roman"/>
              </a:rPr>
              <a:t>Proc. Int. Conf. on Multimodal Interaction (ICMI '18)</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Du, Y. et al. (2019). "Cross-modal Correlation Learning for Multi-modal Health Data." </a:t>
            </a:r>
            <a:r>
              <a:rPr sz="2400" b="0" i="1" u="none">
                <a:solidFill>
                  <a:srgbClr val="000000"/>
                </a:solidFill>
                <a:latin typeface="Times New Roman"/>
                <a:ea typeface="Times New Roman"/>
                <a:cs typeface="Times New Roman"/>
              </a:rPr>
              <a:t>ResearchGate</a:t>
            </a:r>
            <a:r>
              <a:rPr sz="2400" b="0" i="0" u="none">
                <a:solidFill>
                  <a:srgbClr val="000000"/>
                </a:solidFill>
                <a:latin typeface="Times New Roman"/>
                <a:ea typeface="Times New Roman"/>
                <a:cs typeface="Times New Roman"/>
              </a:rPr>
              <a:t>.</a:t>
            </a:r>
            <a:endParaRPr sz="2400"/>
          </a:p>
          <a:p>
            <a:pPr marL="349965" indent="-349965">
              <a:buAutoNum type="arabicPeriod" startAt="11"/>
              <a:defRPr/>
            </a:pPr>
            <a:r>
              <a:rPr sz="2400" b="0" i="0" u="none">
                <a:solidFill>
                  <a:srgbClr val="000000"/>
                </a:solidFill>
                <a:latin typeface="Times New Roman"/>
                <a:ea typeface="Times New Roman"/>
                <a:cs typeface="Times New Roman"/>
              </a:rPr>
              <a:t>Torous, J. et al. (2017). "Digital Phenotyping for Mental Health: A review." </a:t>
            </a:r>
            <a:r>
              <a:rPr sz="2400" b="0" i="1" u="none">
                <a:solidFill>
                  <a:srgbClr val="000000"/>
                </a:solidFill>
                <a:latin typeface="Times New Roman"/>
                <a:ea typeface="Times New Roman"/>
                <a:cs typeface="Times New Roman"/>
              </a:rPr>
              <a:t>JMIR Mhealth Uhealth</a:t>
            </a:r>
            <a:r>
              <a:rPr sz="2400" b="0" i="0" u="none">
                <a:solidFill>
                  <a:srgbClr val="000000"/>
                </a:solidFill>
                <a:latin typeface="Times New Roman"/>
                <a:ea typeface="Times New Roman"/>
                <a:cs typeface="Times New Roman"/>
              </a:rPr>
              <a:t>.</a:t>
            </a: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7040029" name="Title 1"/>
          <p:cNvSpPr>
            <a:spLocks noGrp="1"/>
          </p:cNvSpPr>
          <p:nvPr/>
        </p:nvSpPr>
        <p:spPr bwMode="auto">
          <a:xfrm flipH="0" flipV="0">
            <a:off x="0" y="0"/>
            <a:ext cx="18301998" cy="2576479"/>
          </a:xfrm>
          <a:prstGeom prst="rect">
            <a:avLst/>
          </a:prstGeom>
          <a:solidFill>
            <a:schemeClr val="tx2">
              <a:lumMod val="60000"/>
              <a:lumOff val="40000"/>
            </a:schemeClr>
          </a:solidFill>
        </p:spPr>
        <p:txBody>
          <a:bodyPr vert="horz" lIns="91440" tIns="45720" rIns="91440" bIns="45720" rtlCol="0" anchor="ctr">
            <a:normAutofit/>
          </a:bodyPr>
          <a:lstStyle>
            <a:lvl1pPr algn="ctr" defTabSz="914400" rtl="0">
              <a:spcBef>
                <a:spcPts val="0"/>
              </a:spcBef>
              <a:buNone/>
              <a:defRPr sz="4400">
                <a:solidFill>
                  <a:schemeClr val="tx1"/>
                </a:solidFill>
                <a:latin typeface="+mj-lt"/>
                <a:ea typeface="+mj-ea"/>
                <a:cs typeface="+mj-cs"/>
              </a:defRPr>
            </a:lvl1pPr>
          </a:lstStyle>
          <a:p>
            <a:pPr algn="ctr">
              <a:lnSpc>
                <a:spcPts val="3858"/>
              </a:lnSpc>
              <a:defRPr/>
            </a:pPr>
            <a:r>
              <a:rPr lang="en-US" sz="4800" b="1" i="0" u="none" strike="noStrike" cap="none" spc="0">
                <a:solidFill>
                  <a:srgbClr val="F0F0F0"/>
                </a:solidFill>
                <a:latin typeface="Times New Roman"/>
                <a:ea typeface="Times New Roman"/>
                <a:cs typeface="Times New Roman"/>
              </a:rPr>
              <a:t>REFERENCES </a:t>
            </a:r>
            <a:endParaRPr sz="4800">
              <a:latin typeface="Times New Roman"/>
              <a:cs typeface="Times New Roman"/>
            </a:endParaRPr>
          </a:p>
        </p:txBody>
      </p:sp>
      <p:sp>
        <p:nvSpPr>
          <p:cNvPr id="1042653195" name="TextBox 15"/>
          <p:cNvSpPr txBox="1"/>
          <p:nvPr/>
        </p:nvSpPr>
        <p:spPr bwMode="auto">
          <a:xfrm rot="0" flipH="0" flipV="0">
            <a:off x="589649" y="3343359"/>
            <a:ext cx="16637614" cy="5852520"/>
          </a:xfrm>
          <a:prstGeom prst="rect">
            <a:avLst/>
          </a:prstGeom>
        </p:spPr>
        <p:txBody>
          <a:bodyPr lIns="0" tIns="0" rIns="0" bIns="0" rtlCol="0" anchor="t">
            <a:spAutoFit/>
          </a:bodyPr>
          <a:lstStyle/>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Wang, R. et al. (2014). "StudentLife: Assessing Mental Health, Academic Performance and Behavioral Trends of College Students using Smartphones." </a:t>
            </a:r>
            <a:r>
              <a:rPr sz="2400" b="0" i="1" u="none" strike="noStrike" cap="none" spc="0">
                <a:solidFill>
                  <a:srgbClr val="000000"/>
                </a:solidFill>
                <a:latin typeface="Times New Roman"/>
                <a:ea typeface="Times New Roman"/>
                <a:cs typeface="Times New Roman"/>
              </a:rPr>
              <a:t>Proc. ACM Int. Joint Conf. on Pervasive and Ubiquitous Computing (UbiComp '14)</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C. J. et al. (2024). "Multimodal Machine Learning in Mental Health: A Survey of Data, Algorithms, and Challenges." </a:t>
            </a:r>
            <a:r>
              <a:rPr sz="2400" b="0" i="1" u="none" strike="noStrike" cap="none" spc="0">
                <a:solidFill>
                  <a:srgbClr val="000000"/>
                </a:solidFill>
                <a:latin typeface="Times New Roman"/>
                <a:ea typeface="Times New Roman"/>
                <a:cs typeface="Times New Roman"/>
              </a:rPr>
              <a:t>arXiv preprint arXiv:2407.16804</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L. H. et al. (2025). "Fusing Wearable Biosensors with Artificial Intelligence for Mental Health Monitoring: A Systematic Review." </a:t>
            </a:r>
            <a:r>
              <a:rPr sz="2400" b="0" i="1" u="none" strike="noStrike" cap="none" spc="0">
                <a:solidFill>
                  <a:srgbClr val="000000"/>
                </a:solidFill>
                <a:latin typeface="Times New Roman"/>
                <a:ea typeface="Times New Roman"/>
                <a:cs typeface="Times New Roman"/>
              </a:rPr>
              <a:t>ResearchGate</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B. N. et al. (2025). "Harnessing Digital Phenotyping for Early Self-Detection of Psychological Distress." </a:t>
            </a:r>
            <a:r>
              <a:rPr sz="2400" b="0" i="1" u="none" strike="noStrike" cap="none" spc="0">
                <a:solidFill>
                  <a:srgbClr val="000000"/>
                </a:solidFill>
                <a:latin typeface="Times New Roman"/>
                <a:ea typeface="Times New Roman"/>
                <a:cs typeface="Times New Roman"/>
              </a:rPr>
              <a:t>ResearchGate</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S. K. et al. (2018). "A review of physiological and behavioral monitoring with digital sensors for neuropsychiatric illnesses." </a:t>
            </a:r>
            <a:r>
              <a:rPr sz="2400" b="0" i="1" u="none" strike="noStrike" cap="none" spc="0">
                <a:solidFill>
                  <a:srgbClr val="000000"/>
                </a:solidFill>
                <a:latin typeface="Times New Roman"/>
                <a:ea typeface="Times New Roman"/>
                <a:cs typeface="Times New Roman"/>
              </a:rPr>
              <a:t>PubMed Central (PMC)</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S. B. et al. (2024). "Multimodal Data Fusion for Depression Detection Approach." </a:t>
            </a:r>
            <a:r>
              <a:rPr sz="2400" b="0" i="1" u="none" strike="noStrike" cap="none" spc="0">
                <a:solidFill>
                  <a:srgbClr val="000000"/>
                </a:solidFill>
                <a:latin typeface="Times New Roman"/>
                <a:ea typeface="Times New Roman"/>
                <a:cs typeface="Times New Roman"/>
              </a:rPr>
              <a:t>MDPI Algorithms</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B. T. et al. (2024). "A Comprehensive Survey on Wearable Computing for Mental and Physical Health Monitoring." </a:t>
            </a:r>
            <a:r>
              <a:rPr sz="2400" b="0" i="1" u="none" strike="noStrike" cap="none" spc="0">
                <a:solidFill>
                  <a:srgbClr val="000000"/>
                </a:solidFill>
                <a:latin typeface="Times New Roman"/>
                <a:ea typeface="Times New Roman"/>
                <a:cs typeface="Times New Roman"/>
              </a:rPr>
              <a:t>MDPI Sensors</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C. A. G. et al. (2025). "Understanding User Perceptions of Personalized Feedback in Digital Health Tools." </a:t>
            </a:r>
            <a:r>
              <a:rPr sz="2400" b="0" i="1" u="none" strike="noStrike" cap="none" spc="0">
                <a:solidFill>
                  <a:srgbClr val="000000"/>
                </a:solidFill>
                <a:latin typeface="Times New Roman"/>
                <a:ea typeface="Times New Roman"/>
                <a:cs typeface="Times New Roman"/>
              </a:rPr>
              <a:t>ResearchGate</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M. C. et al. (2019). "n-of-1-path: a path-analysis approach for finding personalized (n-of-1) health effects from time-series data." </a:t>
            </a:r>
            <a:r>
              <a:rPr sz="2400" b="0" i="1" u="none" strike="noStrike" cap="none" spc="0">
                <a:solidFill>
                  <a:srgbClr val="000000"/>
                </a:solidFill>
                <a:latin typeface="Times New Roman"/>
                <a:ea typeface="Times New Roman"/>
                <a:cs typeface="Times New Roman"/>
              </a:rPr>
              <a:t>JMIR Mhealth Uhealth</a:t>
            </a:r>
            <a:r>
              <a:rPr sz="2400" b="0" i="0" u="none" strike="noStrike" cap="none" spc="0">
                <a:solidFill>
                  <a:srgbClr val="000000"/>
                </a:solidFill>
                <a:latin typeface="Times New Roman"/>
                <a:ea typeface="Times New Roman"/>
                <a:cs typeface="Times New Roman"/>
              </a:rPr>
              <a:t>.</a:t>
            </a:r>
            <a:endParaRPr sz="2400" strike="noStrike" cap="none" spc="0"/>
          </a:p>
          <a:p>
            <a:pPr marL="349965" marR="0" indent="-349965" algn="l" defTabSz="914400" rtl="0">
              <a:lnSpc>
                <a:spcPct val="100000"/>
              </a:lnSpc>
              <a:spcBef>
                <a:spcPts val="0"/>
              </a:spcBef>
              <a:spcAft>
                <a:spcPts val="0"/>
              </a:spcAft>
              <a:buAutoNum type="arabicPeriod" startAt="21"/>
              <a:defRPr/>
            </a:pPr>
            <a:r>
              <a:rPr sz="2400" b="0" i="0" u="none" strike="noStrike" cap="none" spc="0">
                <a:solidFill>
                  <a:srgbClr val="000000"/>
                </a:solidFill>
                <a:latin typeface="Times New Roman"/>
                <a:ea typeface="Times New Roman"/>
                <a:cs typeface="Times New Roman"/>
              </a:rPr>
              <a:t>Rabbi, M. et al. (2015). "MyBehavior: A System for Long-Term Personalized Health Coaching." </a:t>
            </a:r>
            <a:r>
              <a:rPr sz="2400" b="0" i="1" u="none" strike="noStrike" cap="none" spc="0">
                <a:solidFill>
                  <a:srgbClr val="000000"/>
                </a:solidFill>
                <a:latin typeface="Times New Roman"/>
                <a:ea typeface="Times New Roman"/>
                <a:cs typeface="Times New Roman"/>
              </a:rPr>
              <a:t>Proc. ACM Int. Joint Conf. on Pervasive and Ubiquitous Computing (UbiComp '15)</a:t>
            </a:r>
            <a:r>
              <a:rPr sz="2400" b="0" i="0" u="none" strike="noStrike" cap="none" spc="0">
                <a:solidFill>
                  <a:srgbClr val="000000"/>
                </a:solidFill>
                <a:latin typeface="Times New Roman"/>
                <a:ea typeface="Times New Roman"/>
                <a:cs typeface="Times New Roman"/>
              </a:rPr>
              <a:t>.</a:t>
            </a:r>
            <a:endParaRPr sz="2400" strike="noStrike" cap="none" spc="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506245" name="TextBox 3"/>
          <p:cNvSpPr txBox="1"/>
          <p:nvPr/>
        </p:nvSpPr>
        <p:spPr bwMode="auto">
          <a:xfrm rot="0">
            <a:off x="3229852" y="4607329"/>
            <a:ext cx="11829013" cy="916156"/>
          </a:xfrm>
          <a:prstGeom prst="rect">
            <a:avLst/>
          </a:prstGeom>
        </p:spPr>
        <p:txBody>
          <a:bodyPr lIns="0" tIns="0" rIns="0" bIns="0" rtlCol="0" anchor="t">
            <a:spAutoFit/>
          </a:bodyPr>
          <a:lstStyle/>
          <a:p>
            <a:pPr algn="ctr">
              <a:lnSpc>
                <a:spcPts val="7211"/>
              </a:lnSpc>
              <a:defRPr/>
            </a:pPr>
            <a:r>
              <a:rPr lang="en-US" sz="6550" b="1">
                <a:solidFill>
                  <a:schemeClr val="tx1"/>
                </a:solidFill>
                <a:latin typeface="Times New Roman"/>
                <a:ea typeface="Times New Roman"/>
                <a:cs typeface="Times New Roman"/>
              </a:rPr>
              <a:t>THANK YOU</a:t>
            </a:r>
            <a:endParaRPr>
              <a:solidFill>
                <a:schemeClr val="tx1"/>
              </a:solidFill>
              <a:latin typeface="Times New Roman"/>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push dir="l"/>
      </p:transition>
    </mc:Choice>
    <mc:Fallback>
      <p:transition spd="med" advClick="1">
        <p:push dir="l"/>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ONLYOFFICE/9.0.4.50</Application>
  <PresentationFormat>On-screen Show (4:3)</PresentationFormat>
  <Paragraphs>0</Paragraphs>
  <Slides>18</Slides>
  <Notes>18</Notes>
  <HiddenSlides>0</HiddenSlides>
  <MMClips>2</MMClips>
  <ScaleCrop>0</ScaleCrop>
  <HeadingPairs>
    <vt:vector size="4" baseType="variant">
      <vt:variant>
        <vt:lpstr>Theme</vt:lpstr>
      </vt:variant>
      <vt:variant>
        <vt:i4>1</vt:i4>
      </vt:variant>
      <vt:variant>
        <vt:lpstr>Slide Titles</vt:lpstr>
      </vt:variant>
      <vt:variant>
        <vt:i4>18</vt:i4>
      </vt:variant>
    </vt:vector>
  </HeadingPairs>
  <TitlesOfParts>
    <vt:vector size="1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AI-Powered System for Correlating Physical Activity and Subjective Mental Well-being</dc:title>
  <dc:identifier>DAG3DDa4I9A</dc:identifier>
  <cp:lastModifiedBy/>
  <cp:revision>5</cp:revision>
  <dcterms:created xsi:type="dcterms:W3CDTF">2006-08-16T00:00:00Z</dcterms:created>
  <dcterms:modified xsi:type="dcterms:W3CDTF">2025-10-29T15:48:25Z</dcterms:modified>
</cp:coreProperties>
</file>